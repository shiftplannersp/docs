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2"/>
    <p:restoredTop sz="94610"/>
  </p:normalViewPr>
  <p:slideViewPr>
    <p:cSldViewPr snapToGrid="0" snapToObjects="1">
      <p:cViewPr varScale="1">
        <p:scale>
          <a:sx n="160" d="100"/>
          <a:sy n="160" d="100"/>
        </p:scale>
        <p:origin x="5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3091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Begrüßung und kurze Vorstellung des Teams. Jede Person nennt ihren Namen und ihre Rolle, wenn wir zur Teamfolie kommen. Ziel heute: Idee, Team und Vorgehen vorstellen und Ihr Feedback einholen, bevor die Kundengespräche beginnen.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Kurzer Überblick über die sechs Teile und wer sie präsentiert. Wichtig: Alle vier Teammitglieder sind eingebunden, jede Person stellt ihren Verantwortungsbereich vor.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In kleinen Betrieben und Filialen entsteht der Schichtplan meist manuell. Das kostet Zeit, die Arbeitszeitregeln müssen von Hand geprüft werden, und Mitarbeitende empfinden die Verteilung oft als unfair, weil nicht nachvollziehbar ist, wessen Wünsche berücksichtigt wurden. Ausgangspunkt ist meine eigene Erfahrung aus Filialen großer Einzelhandelsketten. Wichtig: Das ist bisher eine Annahme. Ob das Problem verbreitet ist, prüfen wir mit den Hypothesen H1 und H2.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Unsere Nische sind kleine Betriebe und Filialen großer Unternehmen mit 5 bis 30 Mitarbeitenden. Die primäre Zielgruppe sind die Planenden, also Inhaber:innen sowie Filial- und Schichtleitungen, denn sie erstellen den Plan und entscheiden über den Einsatz einer Software. Die sekundäre Zielgruppe sind die Mitarbeitenden, die ihre Verfügbarkeiten eintragen und nach dem Plan arbeiten.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Unser Wertversprechen: Die Führungskraft baut den Plan nicht mehr selbst, sondern prüft einen fertigen, regelkonformen Entwurf. Der Ablauf folgt einem festen Monatsrhythmus: In Woche 1 erfasst die Führungskraft den Bedarf, in Woche 2 tragen die Mitarbeitenden ihre Verfügbarkeiten mit Priorität 1 bis 3 ein, zu Beginn von Woche 3 erstellt ShiftPlanner den Entwurf, und danach prüft, korrigiert und veröffentlicht die Führungskraft den Plan.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Das MVP konzentriert sich auf den Kern: automatischer Entwurf, Prüfung der wichtigsten Arbeitszeitregeln, Vertragsstunden, Urlaube und Feiertage in Schleswig-Holstein. Unbesetzbare Schichten werden markiert, damit die Führungskraft manuell nachsteuern kann. Die Fairness-Historie speichert alle veröffentlichten Pläne und gleicht die Verteilung über die Zeit aus. Bewusst ausgeschlossen sind Krankmeldungen, Schichttausch, kurzfristige Ausfälle und eine Bedarfsprognose. Feedback zu diesen Themen sammeln wir trotzdem, als Grundlage für spätere Erweiterungen.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Unsere Idee beruht auf sieben Annahmen. Für jede haben wir vorab festgelegt, bei wem wir sie prüfen und ab wann sie als bestätigt gilt. So vermeiden wir, Ergebnisse im Nachhinein schönzurechnen. Wird eine Hypothese widerlegt, passen wir Produkt und Backlog 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Wir sprechen drei Gruppen an. Planende über Kontakte aus Filialen im Einzelhandel und persönlich bei kleinen Betrieben in der Flensburger Innenstadt. Mitarbeitende über unsere Online-Umfrage, Kommiliton:innen mit Nebenjob und unsere privaten Netzwerke. Expert:innen aus Personalwesen, Arbeitsrecht und Betriebsrat, denn bei Filialen großer Unternehmen hat der Betriebsrat ein Mitbestimmungsrecht bei der Lage der Arbeitszeit nach Paragraf 87 Absatz 1 Nummer 2 Betriebsverfassungsgesetz. In den Interviews fragen wir nach tatsächlichem Verhalten statt nach Meinungen zu unserer Idee, nach dem Ansatz von Fitzpatrick. Wir fragen doppelt so viele Personen an, wie wir brauchen, und haben kleine Betriebe als Plan B, falls Filialleitungen großer Ketten nicht sprechen dürfen.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Feedback holen wir nicht nur einmal ein, sondern in jedem Sprint, abgestimmt auf die jeweilige Präsentation: zuerst Problem verstehen, dann Lösung mit Mockups validieren, dann Funktionen am Zwischenstand prüfen und schließlich Nutzertests mit der System Usability Scale. Jede Rückmeldung bekommt eine ID im Feedback-Log und wird mit Anforderung, Ticket und Umsetzung verknüpft. Zum Stand heute: Die Umfrage für Mitarbeitende ist fertig und die Kontaktliste steht. Feedback haben wir noch keines erhoben, die Erhebung startet in Sprint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danach sagt jede Person einen Satz zu ihrer Rolle. Wir sind vier Personen für fünf Verantwortlichkeiten, deshalb übernehme ich Anforderungen und Management als Product Owner. Beide Rollen arbeiten nach außen und verbinden Kundenfeedback direkt mit den Prioritäten im Backlog. Die Arbeitsspitzen liegen zeitversetzt: Anforderungen vor allem bis P2, der Management-Bericht zum Ende. Die Implementierung bleibt allein, weil sie am zeitintensivsten ist, und die Qualitätssicherung bleibt unabhängig von der Implementierung. Verantwortlich heißt koordinieren, alle programmieren mit.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Mahdi. Wir entscheiden auf drei Ebenen. Innerhalb einer Rolle entscheidet die verantwortliche Person nach kurzer Abstimmung. Rollenübergreifende Fragen, etwa zu Umfang, Zeitplan oder Technik, entscheiden wir per Mehrheit im wöchentlichen Treffen. Bei Stimmengleichheit entscheidet Asif bei Produkt- und Prioritätsfragen und ich bei technischen Fragen. Jede wichtige Entscheidung halten wir mit Datum, Alternativen und Begründung in einem Entscheidungslog im Repository fest.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Mahdi. Wir kombinieren drei Bausteine: Scrum als Rahmen mit Sprints und festen Terminen, Praktiken aus Extreme Programming für die Code-Qualität und die Lean-Startup-Schleife für die Validierung mit echten Personen. Dazu kommen bewusst planbasierte Elemente, nämlich die festen Meilensteine P1 bis P7 und die Pflichtdokumente. Ein Wasserfallmodell passt nicht, weil unsere Anforderungen auf Hypothesen beruhen und sich durch Feedback ändern und weil schon zu P3 ein lauffähiger Prototyp gefordert ist. Boehm und Turner nennen kleine Teams, sich ändernde Anforderungen und geringe Kritikalität als Faktoren für agiles Vorgehen, und alle drei treffen auf uns zu. Petersen und Wohlin zeigen in Fallstudien, dass inkrementelles Vorgehen mit agilen Praktiken Vorteile bringt, gezielte Planung aber ergänzend nötig bleibt.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Mahdi. Unsere Sprints dauern zwei Wochen und enden jeweils mit einer Präsentation. Jede Präsentation ist damit gleichzeitig unser Sprint Review mit Feedback der Lehrenden. Sprint 0 läuft bis heute, Sprint 1 bis P2 am 14. Oktober. Der letzte Sprint dauert nur eine Woche und dient der Stabilisierung und Abgabe.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Mahdi. Aus Scrum übernehmen wir Sprint Planning, Stand-ups, Retrospektiven, ein priorisiertes Backlog und eine Definition of Done. Stand-ups machen wir zweimal pro Woche statt täglich, weil das neben dem Studium realistisch ist. Die Moderation rotiert, damit Product Owner und Scrum Master nicht dieselbe Person sind. Das ist eine bewusste Anpassung von Scrum. Aus XP setzen wir Pair Programming gezielt beim Planungsalgorithmus und in der Einarbeitung ein, Test-first beim Regelmodul, Continuous Integration, einen gemeinsamen Coding-Standard und Code-Reviews per Pull Request. Die Lean-Startup-Schleife sorgt dafür, dass wir in jedem Sprint Hypothesen mit echten Personen prüfen und die Erkenntnisse ins Backlog übernehmen.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Bennet. Für jede Aktivität haben wir Werkzeuge festgelegt, fast alles im GitHub-Ökosystem. Anforderungen führen wir als GitHub Issues mit einer User-Story-Vorlage und als Dokumente im Repository. Den Entwurf erstellen wir mit draw.io und versionieren die Diagramme im Repository. Implementiert wird mit Python, Django 5.2 LTS und Google OR-Tools für den Planungsalgorithmus. Getestet wird mit pytest und coverage.py, automatisch bei jedem Push über GitHub Actions. Für das Management nutzen wir GitHub Projects mit Meilensteinen, Aufwandsfeldern und Burn-up-Diagramm.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Bennet. Wir haben im Studium Python und C# gelernt, und der Kurs rät ausdrücklich von neuen Sprachen ab. Wir haben uns für Python mit Django entschieden. Django bringt Login, Rollen, Admin-Oberfläche, Formulare und Datenbankanbindung mit, die Modellklassen bilden das ER-Diagramm fast direkt ab, und OR-Tools ist für Python am besten dokumentiert. C# mit ASP.NET Core wäre ebenfalls möglich, bedeutet aber mehr Grundgerüst und aufwendigeres Hosting. Die Lernkurve planen wir ehrlich ein: Alle arbeiten in Sprint 0 das Django-Tutorial durch, bis P3 testen wir OR-Tools in einem Spike, und als Rückfalloption haben wir einen einfachen Greedy-Algorithmus.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Bennet. Hier wechsle ich zur Live-Demo von Repository und Board. Das Board hat die Spalten Backlog, Sprint-Backlog, In Arbeit, Review und Erledigt. Jedes Ticket hat die Felder Aktivität, Priorität, Story Points, Stunden und Sprint und ist einem Meilenstein P1 bis P7 zugeordnet. Aus den Feldern Stunden und Aktivität entsteht die Aufwandsstatistik je Person und Aktivität. In jeder Präsentation zeigen wir Burn-up, Commits je Person und Aufwand je Aktivität.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Bennet. Links sehen Sie, was wir in Sprint 0 erreicht haben, in der Mitte, was noch in Arbeit ist, und rechts die Ziele für Sprint 1 bis P2. Die Umfrage für Mitarbeitende haben wir aus Sprint 1 vorgezogen. Alles, was in Sprint 0 offen bleibt, übernehmen wir sichtbar in Sprint 1. Das ist genau die Planungsanpassung, die unser Vorgehen vorsieht.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Anil. Jede Änderung durchläuft denselben Weg: Ticket, eigener Branch, Pull Request, Review durch eine andere Person, grüne CI und erst dann Merge. Ein Ticket gilt erst als erledigt, wenn die Definition of Done erfüllt ist. Über das Semester prüfen wir zuerst die Anforderungen per Inspektion auf Testbarkeit, dann folgen Unit- und Komponententests mit pytest, Akzeptanztests aus den Akzeptanzkriterien und eine Messung der Statement- und Branch-Coverage. Gefundene Defekte erfassen wir als Issues mit dem Label bug.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Anil. Die größten Risiken sind zu wenige Gesprächspartner:innen, die Lernkurve bei Django und OR-Tools und ein wachsender Planungsumfang. Für jedes Risiko haben wir eine Gegenmaßnahme festgelegt. W steht für Wahrscheinlichkeit, A für Auswirkung. Wir überprüfen die Risikoliste in jeder Retrospektive.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Diese Folie wird nicht vorgetragen, sie dient als Nachweis der Quellen.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IN"/>
          </a:p>
        </p:txBody>
      </p:sp>
      <p:sp>
        <p:nvSpPr>
          <p:cNvPr id="3" name="Notes Placeholder 2"/>
          <p:cNvSpPr>
            <a:spLocks noGrp="1"/>
          </p:cNvSpPr>
          <p:nvPr>
            <p:ph type="body" idx="1"/>
          </p:nvPr>
        </p:nvSpPr>
        <p:spPr/>
        <p:txBody>
          <a:bodyPr/>
          <a:lstStyle/>
          <a:p>
            <a:r>
              <a:rPr lang="en-US" dirty="0"/>
              <a:t>Sprecher: Asif. Dank und Überleitung zu Fragen. Die offenen Fragen von der vorherigen Folie gern direkt aufgreifen.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5.png"/><Relationship Id="rId4" Type="http://schemas.openxmlformats.org/officeDocument/2006/relationships/image" Target="../media/image10.png"/><Relationship Id="rId9" Type="http://schemas.openxmlformats.org/officeDocument/2006/relationships/image" Target="../media/image4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A4E"/>
        </a:solidFill>
        <a:effectLst/>
      </p:bgPr>
    </p:bg>
    <p:spTree>
      <p:nvGrpSpPr>
        <p:cNvPr id="1" name=""/>
        <p:cNvGrpSpPr/>
        <p:nvPr/>
      </p:nvGrpSpPr>
      <p:grpSpPr>
        <a:xfrm>
          <a:off x="0" y="0"/>
          <a:ext cx="0" cy="0"/>
          <a:chOff x="0" y="0"/>
          <a:chExt cx="0" cy="0"/>
        </a:xfrm>
      </p:grpSpPr>
      <p:sp>
        <p:nvSpPr>
          <p:cNvPr id="2" name="Text 0"/>
          <p:cNvSpPr txBox="1"/>
          <p:nvPr/>
        </p:nvSpPr>
        <p:spPr>
          <a:xfrm>
            <a:off x="640080" y="685800"/>
            <a:ext cx="7315200" cy="274320"/>
          </a:xfrm>
          <a:prstGeom prst="rect">
            <a:avLst/>
          </a:prstGeom>
          <a:noFill/>
          <a:ln/>
        </p:spPr>
        <p:txBody>
          <a:bodyPr wrap="square" lIns="0" tIns="0" rIns="0" bIns="0" rtlCol="0" anchor="t"/>
          <a:lstStyle/>
          <a:p>
            <a:pPr marL="0" indent="0">
              <a:buNone/>
            </a:pPr>
            <a:r>
              <a:rPr lang="en-US" sz="1200" b="1" kern="0" spc="200" dirty="0">
                <a:solidFill>
                  <a:srgbClr val="C9C3FF"/>
                </a:solidFill>
                <a:latin typeface="Calibri" pitchFamily="34" charset="0"/>
                <a:ea typeface="Calibri" pitchFamily="34" charset="-122"/>
                <a:cs typeface="Calibri" pitchFamily="34" charset="-120"/>
              </a:rPr>
              <a:t>SOFTWARE-PROJEKT WS 2026/27  ·  PRÄSENTATION 1: IDEE &amp; TEAM</a:t>
            </a:r>
            <a:endParaRPr lang="en-US" sz="1200" dirty="0"/>
          </a:p>
        </p:txBody>
      </p:sp>
      <p:sp>
        <p:nvSpPr>
          <p:cNvPr id="3" name="Text 1"/>
          <p:cNvSpPr txBox="1"/>
          <p:nvPr/>
        </p:nvSpPr>
        <p:spPr>
          <a:xfrm>
            <a:off x="640080" y="1188720"/>
            <a:ext cx="6766560" cy="100584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ShiftPlanner</a:t>
            </a:r>
            <a:endParaRPr lang="en-US" sz="6000" dirty="0"/>
          </a:p>
        </p:txBody>
      </p:sp>
      <p:sp>
        <p:nvSpPr>
          <p:cNvPr id="4" name="Text 2"/>
          <p:cNvSpPr txBox="1"/>
          <p:nvPr/>
        </p:nvSpPr>
        <p:spPr>
          <a:xfrm>
            <a:off x="640080" y="2240280"/>
            <a:ext cx="6583680" cy="822960"/>
          </a:xfrm>
          <a:prstGeom prst="rect">
            <a:avLst/>
          </a:prstGeom>
          <a:noFill/>
          <a:ln/>
        </p:spPr>
        <p:txBody>
          <a:bodyPr wrap="square" lIns="0" tIns="0" rIns="0" bIns="0" rtlCol="0" anchor="t"/>
          <a:lstStyle/>
          <a:p>
            <a:pPr marL="0" indent="0">
              <a:buNone/>
            </a:pPr>
            <a:r>
              <a:rPr lang="en-US" sz="2400" dirty="0">
                <a:solidFill>
                  <a:srgbClr val="E6E3FF"/>
                </a:solidFill>
                <a:latin typeface="Calibri" pitchFamily="34" charset="0"/>
                <a:ea typeface="Calibri" pitchFamily="34" charset="-122"/>
                <a:cs typeface="Calibri" pitchFamily="34" charset="-120"/>
              </a:rPr>
              <a:t>Faire, erklärbare Schichtplanung für kleine Betriebe</a:t>
            </a:r>
            <a:endParaRPr lang="en-US" sz="2400" dirty="0"/>
          </a:p>
        </p:txBody>
      </p:sp>
      <p:sp>
        <p:nvSpPr>
          <p:cNvPr id="5" name="Shape 3"/>
          <p:cNvSpPr/>
          <p:nvPr/>
        </p:nvSpPr>
        <p:spPr>
          <a:xfrm>
            <a:off x="658368" y="3511296"/>
            <a:ext cx="182880" cy="182880"/>
          </a:xfrm>
          <a:prstGeom prst="ellipse">
            <a:avLst/>
          </a:prstGeom>
          <a:solidFill>
            <a:srgbClr val="E8524F"/>
          </a:solidFill>
          <a:ln w="12700">
            <a:solidFill>
              <a:srgbClr val="E8524F"/>
            </a:solidFill>
            <a:prstDash val="solid"/>
          </a:ln>
        </p:spPr>
        <p:txBody>
          <a:bodyPr/>
          <a:lstStyle/>
          <a:p>
            <a:endParaRPr lang="de-IN"/>
          </a:p>
        </p:txBody>
      </p:sp>
      <p:sp>
        <p:nvSpPr>
          <p:cNvPr id="6" name="Text 4"/>
          <p:cNvSpPr txBox="1"/>
          <p:nvPr/>
        </p:nvSpPr>
        <p:spPr>
          <a:xfrm>
            <a:off x="987552" y="3429000"/>
            <a:ext cx="64008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Muhammed Asif Shahul Hameed</a:t>
            </a:r>
            <a:r>
              <a:rPr lang="en-US" sz="1500" dirty="0">
                <a:solidFill>
                  <a:srgbClr val="C9C3FF"/>
                </a:solidFill>
                <a:latin typeface="Calibri" pitchFamily="34" charset="0"/>
                <a:ea typeface="Calibri" pitchFamily="34" charset="-122"/>
                <a:cs typeface="Calibri" pitchFamily="34" charset="-120"/>
              </a:rPr>
              <a:t>   Anforderungen &amp; Management</a:t>
            </a:r>
            <a:endParaRPr lang="en-US" sz="1500" dirty="0"/>
          </a:p>
        </p:txBody>
      </p:sp>
      <p:sp>
        <p:nvSpPr>
          <p:cNvPr id="7" name="Shape 5"/>
          <p:cNvSpPr/>
          <p:nvPr/>
        </p:nvSpPr>
        <p:spPr>
          <a:xfrm>
            <a:off x="658368" y="3968496"/>
            <a:ext cx="182880" cy="182880"/>
          </a:xfrm>
          <a:prstGeom prst="ellipse">
            <a:avLst/>
          </a:prstGeom>
          <a:solidFill>
            <a:srgbClr val="6C4FF0"/>
          </a:solidFill>
          <a:ln w="12700">
            <a:solidFill>
              <a:srgbClr val="6C4FF0"/>
            </a:solidFill>
            <a:prstDash val="solid"/>
          </a:ln>
        </p:spPr>
        <p:txBody>
          <a:bodyPr/>
          <a:lstStyle/>
          <a:p>
            <a:endParaRPr lang="de-IN"/>
          </a:p>
        </p:txBody>
      </p:sp>
      <p:sp>
        <p:nvSpPr>
          <p:cNvPr id="8" name="Text 6"/>
          <p:cNvSpPr txBox="1"/>
          <p:nvPr/>
        </p:nvSpPr>
        <p:spPr>
          <a:xfrm>
            <a:off x="987552" y="3886200"/>
            <a:ext cx="64008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Mahdi Fazeli</a:t>
            </a:r>
            <a:r>
              <a:rPr lang="en-US" sz="1500" dirty="0">
                <a:solidFill>
                  <a:srgbClr val="C9C3FF"/>
                </a:solidFill>
                <a:latin typeface="Calibri" pitchFamily="34" charset="0"/>
                <a:ea typeface="Calibri" pitchFamily="34" charset="-122"/>
                <a:cs typeface="Calibri" pitchFamily="34" charset="-120"/>
              </a:rPr>
              <a:t>   Architektur &amp; Entwurf</a:t>
            </a:r>
            <a:endParaRPr lang="en-US" sz="1500" dirty="0"/>
          </a:p>
        </p:txBody>
      </p:sp>
      <p:sp>
        <p:nvSpPr>
          <p:cNvPr id="9" name="Shape 7"/>
          <p:cNvSpPr/>
          <p:nvPr/>
        </p:nvSpPr>
        <p:spPr>
          <a:xfrm>
            <a:off x="658368" y="4425696"/>
            <a:ext cx="182880" cy="182880"/>
          </a:xfrm>
          <a:prstGeom prst="ellipse">
            <a:avLst/>
          </a:prstGeom>
          <a:solidFill>
            <a:srgbClr val="12A596"/>
          </a:solidFill>
          <a:ln w="12700">
            <a:solidFill>
              <a:srgbClr val="12A596"/>
            </a:solidFill>
            <a:prstDash val="solid"/>
          </a:ln>
        </p:spPr>
        <p:txBody>
          <a:bodyPr/>
          <a:lstStyle/>
          <a:p>
            <a:endParaRPr lang="de-IN"/>
          </a:p>
        </p:txBody>
      </p:sp>
      <p:sp>
        <p:nvSpPr>
          <p:cNvPr id="10" name="Text 8"/>
          <p:cNvSpPr txBox="1"/>
          <p:nvPr/>
        </p:nvSpPr>
        <p:spPr>
          <a:xfrm>
            <a:off x="987552" y="4343400"/>
            <a:ext cx="64008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Bennet Schalow</a:t>
            </a:r>
            <a:r>
              <a:rPr lang="en-US" sz="1500" dirty="0">
                <a:solidFill>
                  <a:srgbClr val="C9C3FF"/>
                </a:solidFill>
                <a:latin typeface="Calibri" pitchFamily="34" charset="0"/>
                <a:ea typeface="Calibri" pitchFamily="34" charset="-122"/>
                <a:cs typeface="Calibri" pitchFamily="34" charset="-120"/>
              </a:rPr>
              <a:t>   Implementierung</a:t>
            </a:r>
            <a:endParaRPr lang="en-US" sz="1500" dirty="0"/>
          </a:p>
        </p:txBody>
      </p:sp>
      <p:sp>
        <p:nvSpPr>
          <p:cNvPr id="11" name="Shape 9"/>
          <p:cNvSpPr/>
          <p:nvPr/>
        </p:nvSpPr>
        <p:spPr>
          <a:xfrm>
            <a:off x="658368" y="4882896"/>
            <a:ext cx="182880" cy="182880"/>
          </a:xfrm>
          <a:prstGeom prst="ellipse">
            <a:avLst/>
          </a:prstGeom>
          <a:solidFill>
            <a:srgbClr val="F2A92A"/>
          </a:solidFill>
          <a:ln w="12700">
            <a:solidFill>
              <a:srgbClr val="F2A92A"/>
            </a:solidFill>
            <a:prstDash val="solid"/>
          </a:ln>
        </p:spPr>
        <p:txBody>
          <a:bodyPr/>
          <a:lstStyle/>
          <a:p>
            <a:endParaRPr lang="de-IN"/>
          </a:p>
        </p:txBody>
      </p:sp>
      <p:sp>
        <p:nvSpPr>
          <p:cNvPr id="12" name="Text 10"/>
          <p:cNvSpPr txBox="1"/>
          <p:nvPr/>
        </p:nvSpPr>
        <p:spPr>
          <a:xfrm>
            <a:off x="987552" y="4800600"/>
            <a:ext cx="640080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Anil Duth</a:t>
            </a:r>
            <a:r>
              <a:rPr lang="en-US" sz="1500" dirty="0">
                <a:solidFill>
                  <a:srgbClr val="C9C3FF"/>
                </a:solidFill>
                <a:latin typeface="Calibri" pitchFamily="34" charset="0"/>
                <a:ea typeface="Calibri" pitchFamily="34" charset="-122"/>
                <a:cs typeface="Calibri" pitchFamily="34" charset="-120"/>
              </a:rPr>
              <a:t>   Qualitätssicherung</a:t>
            </a:r>
            <a:endParaRPr lang="en-US" sz="1500" dirty="0"/>
          </a:p>
        </p:txBody>
      </p:sp>
      <p:sp>
        <p:nvSpPr>
          <p:cNvPr id="13" name="Text 11"/>
          <p:cNvSpPr txBox="1"/>
          <p:nvPr/>
        </p:nvSpPr>
        <p:spPr>
          <a:xfrm>
            <a:off x="640080" y="5989320"/>
            <a:ext cx="6400800" cy="274320"/>
          </a:xfrm>
          <a:prstGeom prst="rect">
            <a:avLst/>
          </a:prstGeom>
          <a:noFill/>
          <a:ln/>
        </p:spPr>
        <p:txBody>
          <a:bodyPr wrap="square" lIns="0" tIns="0" rIns="0" bIns="0" rtlCol="0" anchor="t"/>
          <a:lstStyle/>
          <a:p>
            <a:pPr marL="0" indent="0">
              <a:buNone/>
            </a:pPr>
            <a:r>
              <a:rPr lang="en-US" sz="1200" dirty="0">
                <a:solidFill>
                  <a:srgbClr val="C9C3FF"/>
                </a:solidFill>
                <a:latin typeface="Calibri" pitchFamily="34" charset="0"/>
                <a:ea typeface="Calibri" pitchFamily="34" charset="-122"/>
                <a:cs typeface="Calibri" pitchFamily="34" charset="-120"/>
              </a:rPr>
              <a:t>Kai Petersen  ·  Hochschule Flensburg  ·  30.09.2026</a:t>
            </a:r>
            <a:endParaRPr lang="en-US" sz="1200" dirty="0"/>
          </a:p>
        </p:txBody>
      </p:sp>
      <p:sp>
        <p:nvSpPr>
          <p:cNvPr id="14" name="Text 12"/>
          <p:cNvSpPr txBox="1"/>
          <p:nvPr/>
        </p:nvSpPr>
        <p:spPr>
          <a:xfrm>
            <a:off x="7726680"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Mo</a:t>
            </a:r>
            <a:endParaRPr lang="en-US" sz="1100" dirty="0"/>
          </a:p>
        </p:txBody>
      </p:sp>
      <p:sp>
        <p:nvSpPr>
          <p:cNvPr id="15" name="Text 13"/>
          <p:cNvSpPr txBox="1"/>
          <p:nvPr/>
        </p:nvSpPr>
        <p:spPr>
          <a:xfrm>
            <a:off x="8302752"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Di</a:t>
            </a:r>
            <a:endParaRPr lang="en-US" sz="1100" dirty="0"/>
          </a:p>
        </p:txBody>
      </p:sp>
      <p:sp>
        <p:nvSpPr>
          <p:cNvPr id="16" name="Text 14"/>
          <p:cNvSpPr txBox="1"/>
          <p:nvPr/>
        </p:nvSpPr>
        <p:spPr>
          <a:xfrm>
            <a:off x="8878824"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Mi</a:t>
            </a:r>
            <a:endParaRPr lang="en-US" sz="1100" dirty="0"/>
          </a:p>
        </p:txBody>
      </p:sp>
      <p:sp>
        <p:nvSpPr>
          <p:cNvPr id="17" name="Text 15"/>
          <p:cNvSpPr txBox="1"/>
          <p:nvPr/>
        </p:nvSpPr>
        <p:spPr>
          <a:xfrm>
            <a:off x="9454896"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Do</a:t>
            </a:r>
            <a:endParaRPr lang="en-US" sz="1100" dirty="0"/>
          </a:p>
        </p:txBody>
      </p:sp>
      <p:sp>
        <p:nvSpPr>
          <p:cNvPr id="18" name="Text 16"/>
          <p:cNvSpPr txBox="1"/>
          <p:nvPr/>
        </p:nvSpPr>
        <p:spPr>
          <a:xfrm>
            <a:off x="10030968"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Fr</a:t>
            </a:r>
            <a:endParaRPr lang="en-US" sz="1100" dirty="0"/>
          </a:p>
        </p:txBody>
      </p:sp>
      <p:sp>
        <p:nvSpPr>
          <p:cNvPr id="19" name="Text 17"/>
          <p:cNvSpPr txBox="1"/>
          <p:nvPr/>
        </p:nvSpPr>
        <p:spPr>
          <a:xfrm>
            <a:off x="10607040"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Sa</a:t>
            </a:r>
            <a:endParaRPr lang="en-US" sz="1100" dirty="0"/>
          </a:p>
        </p:txBody>
      </p:sp>
      <p:sp>
        <p:nvSpPr>
          <p:cNvPr id="20" name="Text 18"/>
          <p:cNvSpPr txBox="1"/>
          <p:nvPr/>
        </p:nvSpPr>
        <p:spPr>
          <a:xfrm>
            <a:off x="11183112"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So</a:t>
            </a:r>
            <a:endParaRPr lang="en-US" sz="1100" dirty="0"/>
          </a:p>
        </p:txBody>
      </p:sp>
      <p:sp>
        <p:nvSpPr>
          <p:cNvPr id="21" name="Shape 19"/>
          <p:cNvSpPr/>
          <p:nvPr/>
        </p:nvSpPr>
        <p:spPr>
          <a:xfrm>
            <a:off x="7726680" y="1920240"/>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22" name="Shape 20"/>
          <p:cNvSpPr/>
          <p:nvPr/>
        </p:nvSpPr>
        <p:spPr>
          <a:xfrm>
            <a:off x="8302752" y="1920240"/>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23" name="Shape 21"/>
          <p:cNvSpPr/>
          <p:nvPr/>
        </p:nvSpPr>
        <p:spPr>
          <a:xfrm>
            <a:off x="8878824" y="1920240"/>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24" name="Shape 22"/>
          <p:cNvSpPr/>
          <p:nvPr/>
        </p:nvSpPr>
        <p:spPr>
          <a:xfrm>
            <a:off x="9454896" y="1920240"/>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25" name="Shape 23"/>
          <p:cNvSpPr/>
          <p:nvPr/>
        </p:nvSpPr>
        <p:spPr>
          <a:xfrm>
            <a:off x="10030968" y="1920240"/>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26" name="Shape 24"/>
          <p:cNvSpPr/>
          <p:nvPr/>
        </p:nvSpPr>
        <p:spPr>
          <a:xfrm>
            <a:off x="10607040" y="1920240"/>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27" name="Shape 25"/>
          <p:cNvSpPr/>
          <p:nvPr/>
        </p:nvSpPr>
        <p:spPr>
          <a:xfrm>
            <a:off x="11183112" y="1920240"/>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28" name="Shape 26"/>
          <p:cNvSpPr/>
          <p:nvPr/>
        </p:nvSpPr>
        <p:spPr>
          <a:xfrm>
            <a:off x="7726680" y="2496312"/>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29" name="Shape 27"/>
          <p:cNvSpPr/>
          <p:nvPr/>
        </p:nvSpPr>
        <p:spPr>
          <a:xfrm>
            <a:off x="8302752" y="2496312"/>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30" name="Shape 28"/>
          <p:cNvSpPr/>
          <p:nvPr/>
        </p:nvSpPr>
        <p:spPr>
          <a:xfrm>
            <a:off x="8878824" y="2496312"/>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31" name="Shape 29"/>
          <p:cNvSpPr/>
          <p:nvPr/>
        </p:nvSpPr>
        <p:spPr>
          <a:xfrm>
            <a:off x="9454896" y="2496312"/>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32" name="Shape 30"/>
          <p:cNvSpPr/>
          <p:nvPr/>
        </p:nvSpPr>
        <p:spPr>
          <a:xfrm>
            <a:off x="10030968" y="2496312"/>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33" name="Shape 31"/>
          <p:cNvSpPr/>
          <p:nvPr/>
        </p:nvSpPr>
        <p:spPr>
          <a:xfrm>
            <a:off x="10607040" y="2496312"/>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34" name="Shape 32"/>
          <p:cNvSpPr/>
          <p:nvPr/>
        </p:nvSpPr>
        <p:spPr>
          <a:xfrm>
            <a:off x="11183112" y="2496312"/>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35" name="Shape 33"/>
          <p:cNvSpPr/>
          <p:nvPr/>
        </p:nvSpPr>
        <p:spPr>
          <a:xfrm>
            <a:off x="7726680" y="3072384"/>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36" name="Shape 34"/>
          <p:cNvSpPr/>
          <p:nvPr/>
        </p:nvSpPr>
        <p:spPr>
          <a:xfrm>
            <a:off x="8302752" y="3072384"/>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37" name="Shape 35"/>
          <p:cNvSpPr/>
          <p:nvPr/>
        </p:nvSpPr>
        <p:spPr>
          <a:xfrm>
            <a:off x="8878824" y="3072384"/>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38" name="Shape 36"/>
          <p:cNvSpPr/>
          <p:nvPr/>
        </p:nvSpPr>
        <p:spPr>
          <a:xfrm>
            <a:off x="9454896" y="3072384"/>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39" name="Shape 37"/>
          <p:cNvSpPr/>
          <p:nvPr/>
        </p:nvSpPr>
        <p:spPr>
          <a:xfrm>
            <a:off x="10030968" y="3072384"/>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40" name="Shape 38"/>
          <p:cNvSpPr/>
          <p:nvPr/>
        </p:nvSpPr>
        <p:spPr>
          <a:xfrm>
            <a:off x="10607040" y="3072384"/>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41" name="Shape 39"/>
          <p:cNvSpPr/>
          <p:nvPr/>
        </p:nvSpPr>
        <p:spPr>
          <a:xfrm>
            <a:off x="11183112" y="3072384"/>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42" name="Shape 40"/>
          <p:cNvSpPr/>
          <p:nvPr/>
        </p:nvSpPr>
        <p:spPr>
          <a:xfrm>
            <a:off x="7726680" y="3648456"/>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43" name="Shape 41"/>
          <p:cNvSpPr/>
          <p:nvPr/>
        </p:nvSpPr>
        <p:spPr>
          <a:xfrm>
            <a:off x="8302752" y="3648456"/>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44" name="Shape 42"/>
          <p:cNvSpPr/>
          <p:nvPr/>
        </p:nvSpPr>
        <p:spPr>
          <a:xfrm>
            <a:off x="8878824" y="3648456"/>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45" name="Shape 43"/>
          <p:cNvSpPr/>
          <p:nvPr/>
        </p:nvSpPr>
        <p:spPr>
          <a:xfrm>
            <a:off x="9454896" y="3648456"/>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46" name="Shape 44"/>
          <p:cNvSpPr/>
          <p:nvPr/>
        </p:nvSpPr>
        <p:spPr>
          <a:xfrm>
            <a:off x="10030968" y="3648456"/>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47" name="Shape 45"/>
          <p:cNvSpPr/>
          <p:nvPr/>
        </p:nvSpPr>
        <p:spPr>
          <a:xfrm>
            <a:off x="10607040" y="3648456"/>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48" name="Shape 46"/>
          <p:cNvSpPr/>
          <p:nvPr/>
        </p:nvSpPr>
        <p:spPr>
          <a:xfrm>
            <a:off x="11183112" y="3648456"/>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49" name="Shape 47"/>
          <p:cNvSpPr/>
          <p:nvPr/>
        </p:nvSpPr>
        <p:spPr>
          <a:xfrm>
            <a:off x="7726680" y="4224528"/>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50" name="Shape 48"/>
          <p:cNvSpPr/>
          <p:nvPr/>
        </p:nvSpPr>
        <p:spPr>
          <a:xfrm>
            <a:off x="8302752" y="4224528"/>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51" name="Shape 49"/>
          <p:cNvSpPr/>
          <p:nvPr/>
        </p:nvSpPr>
        <p:spPr>
          <a:xfrm>
            <a:off x="8878824" y="4224528"/>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52" name="Shape 50"/>
          <p:cNvSpPr/>
          <p:nvPr/>
        </p:nvSpPr>
        <p:spPr>
          <a:xfrm>
            <a:off x="9454896" y="4224528"/>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53" name="Shape 51"/>
          <p:cNvSpPr/>
          <p:nvPr/>
        </p:nvSpPr>
        <p:spPr>
          <a:xfrm>
            <a:off x="10030968" y="4224528"/>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54" name="Shape 52"/>
          <p:cNvSpPr/>
          <p:nvPr/>
        </p:nvSpPr>
        <p:spPr>
          <a:xfrm>
            <a:off x="10607040" y="4224528"/>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55" name="Shape 53"/>
          <p:cNvSpPr/>
          <p:nvPr/>
        </p:nvSpPr>
        <p:spPr>
          <a:xfrm>
            <a:off x="11183112" y="4224528"/>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Was wir heute zeigen</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2</a:t>
            </a:r>
            <a:endParaRPr lang="en-US" sz="900" dirty="0"/>
          </a:p>
        </p:txBody>
      </p:sp>
      <p:sp>
        <p:nvSpPr>
          <p:cNvPr id="9" name="Shape 6"/>
          <p:cNvSpPr/>
          <p:nvPr/>
        </p:nvSpPr>
        <p:spPr>
          <a:xfrm>
            <a:off x="548640" y="1463040"/>
            <a:ext cx="11091672" cy="777240"/>
          </a:xfrm>
          <a:prstGeom prst="roundRect">
            <a:avLst>
              <a:gd name="adj" fmla="val 14118"/>
            </a:avLst>
          </a:prstGeom>
          <a:solidFill>
            <a:srgbClr val="EEEAFF"/>
          </a:solidFill>
          <a:ln w="9525">
            <a:solidFill>
              <a:srgbClr val="EEEAFF"/>
            </a:solidFill>
            <a:prstDash val="solid"/>
          </a:ln>
        </p:spPr>
        <p:txBody>
          <a:bodyPr/>
          <a:lstStyle/>
          <a:p>
            <a:endParaRPr lang="de-IN"/>
          </a:p>
        </p:txBody>
      </p:sp>
      <p:sp>
        <p:nvSpPr>
          <p:cNvPr id="10" name="Shape 7"/>
          <p:cNvSpPr/>
          <p:nvPr/>
        </p:nvSpPr>
        <p:spPr>
          <a:xfrm>
            <a:off x="777240" y="1600200"/>
            <a:ext cx="502920" cy="502920"/>
          </a:xfrm>
          <a:prstGeom prst="ellipse">
            <a:avLst/>
          </a:prstGeom>
          <a:solidFill>
            <a:srgbClr val="6C4FF0"/>
          </a:solidFill>
          <a:ln w="12700">
            <a:solidFill>
              <a:srgbClr val="6C4FF0"/>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907999" y="1730959"/>
            <a:ext cx="241402" cy="241402"/>
          </a:xfrm>
          <a:prstGeom prst="rect">
            <a:avLst/>
          </a:prstGeom>
        </p:spPr>
      </p:pic>
      <p:sp>
        <p:nvSpPr>
          <p:cNvPr id="12" name="Text 8"/>
          <p:cNvSpPr txBox="1"/>
          <p:nvPr/>
        </p:nvSpPr>
        <p:spPr>
          <a:xfrm>
            <a:off x="1463040" y="1463040"/>
            <a:ext cx="9966960" cy="777240"/>
          </a:xfrm>
          <a:prstGeom prst="rect">
            <a:avLst/>
          </a:prstGeom>
          <a:noFill/>
          <a:ln/>
        </p:spPr>
        <p:txBody>
          <a:bodyPr wrap="square" lIns="0" tIns="0" rIns="0" bIns="0" rtlCol="0" anchor="ctr"/>
          <a:lstStyle/>
          <a:p>
            <a:pPr marL="0" indent="0">
              <a:buNone/>
            </a:pPr>
            <a:r>
              <a:rPr lang="en-US" sz="1500" b="1" dirty="0">
                <a:solidFill>
                  <a:srgbClr val="24204A"/>
                </a:solidFill>
                <a:latin typeface="Calibri" pitchFamily="34" charset="0"/>
                <a:ea typeface="Calibri" pitchFamily="34" charset="-122"/>
                <a:cs typeface="Calibri" pitchFamily="34" charset="-120"/>
              </a:rPr>
              <a:t>Ziel dieser Präsentation: </a:t>
            </a:r>
            <a:r>
              <a:rPr lang="en-US" sz="1500" dirty="0">
                <a:solidFill>
                  <a:srgbClr val="24204A"/>
                </a:solidFill>
                <a:latin typeface="Calibri" pitchFamily="34" charset="0"/>
                <a:ea typeface="Calibri" pitchFamily="34" charset="-122"/>
                <a:cs typeface="Calibri" pitchFamily="34" charset="-120"/>
              </a:rPr>
              <a:t>Produktidee, Team und Vorgehen vorstellen und Ihr Feedback einholen, bevor die Kundengespräche in Sprint 1 beginnen.</a:t>
            </a:r>
            <a:endParaRPr lang="en-US" sz="1500" dirty="0"/>
          </a:p>
        </p:txBody>
      </p:sp>
      <p:sp>
        <p:nvSpPr>
          <p:cNvPr id="13" name="Shape 9"/>
          <p:cNvSpPr/>
          <p:nvPr/>
        </p:nvSpPr>
        <p:spPr>
          <a:xfrm>
            <a:off x="548640" y="2514600"/>
            <a:ext cx="5408676" cy="1005840"/>
          </a:xfrm>
          <a:prstGeom prst="roundRect">
            <a:avLst>
              <a:gd name="adj" fmla="val 1090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4" name="Shape 10"/>
          <p:cNvSpPr/>
          <p:nvPr/>
        </p:nvSpPr>
        <p:spPr>
          <a:xfrm>
            <a:off x="777240" y="2743200"/>
            <a:ext cx="548640" cy="548640"/>
          </a:xfrm>
          <a:prstGeom prst="ellipse">
            <a:avLst/>
          </a:prstGeom>
          <a:solidFill>
            <a:srgbClr val="E8524F"/>
          </a:solidFill>
          <a:ln w="12700">
            <a:solidFill>
              <a:srgbClr val="E8524F"/>
            </a:solidFill>
            <a:prstDash val="solid"/>
          </a:ln>
        </p:spPr>
        <p:txBody>
          <a:bodyPr/>
          <a:lstStyle/>
          <a:p>
            <a:endParaRPr lang="de-IN"/>
          </a:p>
        </p:txBody>
      </p:sp>
      <p:sp>
        <p:nvSpPr>
          <p:cNvPr id="15" name="Text 11"/>
          <p:cNvSpPr txBox="1"/>
          <p:nvPr/>
        </p:nvSpPr>
        <p:spPr>
          <a:xfrm>
            <a:off x="777240" y="2743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6" name="Text 12"/>
          <p:cNvSpPr txBox="1"/>
          <p:nvPr/>
        </p:nvSpPr>
        <p:spPr>
          <a:xfrm>
            <a:off x="1554480" y="2679192"/>
            <a:ext cx="4219956" cy="411480"/>
          </a:xfrm>
          <a:prstGeom prst="rect">
            <a:avLst/>
          </a:prstGeom>
          <a:noFill/>
          <a:ln/>
        </p:spPr>
        <p:txBody>
          <a:bodyPr wrap="square" lIns="0" tIns="0" rIns="0" bIns="0" rtlCol="0" anchor="ctr"/>
          <a:lstStyle/>
          <a:p>
            <a:pPr marL="0" indent="0">
              <a:buNone/>
            </a:pPr>
            <a:r>
              <a:rPr lang="en-US" sz="1700" b="1" dirty="0">
                <a:solidFill>
                  <a:srgbClr val="1F1A4E"/>
                </a:solidFill>
                <a:latin typeface="Calibri" pitchFamily="34" charset="0"/>
                <a:ea typeface="Calibri" pitchFamily="34" charset="-122"/>
                <a:cs typeface="Calibri" pitchFamily="34" charset="-120"/>
              </a:rPr>
              <a:t>Problem, Zielgruppe &amp; Lösung</a:t>
            </a:r>
            <a:endParaRPr lang="en-US" sz="1700" dirty="0"/>
          </a:p>
        </p:txBody>
      </p:sp>
      <p:sp>
        <p:nvSpPr>
          <p:cNvPr id="17" name="Text 13"/>
          <p:cNvSpPr txBox="1"/>
          <p:nvPr/>
        </p:nvSpPr>
        <p:spPr>
          <a:xfrm>
            <a:off x="1554480" y="3081528"/>
            <a:ext cx="2743200" cy="274320"/>
          </a:xfrm>
          <a:prstGeom prst="rect">
            <a:avLst/>
          </a:prstGeom>
          <a:noFill/>
          <a:ln/>
        </p:spPr>
        <p:txBody>
          <a:bodyPr wrap="square" lIns="0" tIns="0" rIns="0" bIns="0" rtlCol="0" anchor="t"/>
          <a:lstStyle/>
          <a:p>
            <a:pPr marL="0" indent="0">
              <a:buNone/>
            </a:pPr>
            <a:r>
              <a:rPr lang="en-US" sz="1300" dirty="0">
                <a:solidFill>
                  <a:srgbClr val="6B6890"/>
                </a:solidFill>
                <a:latin typeface="Calibri" pitchFamily="34" charset="0"/>
                <a:ea typeface="Calibri" pitchFamily="34" charset="-122"/>
                <a:cs typeface="Calibri" pitchFamily="34" charset="-120"/>
              </a:rPr>
              <a:t>Asif</a:t>
            </a:r>
            <a:endParaRPr lang="en-US" sz="1300" dirty="0"/>
          </a:p>
        </p:txBody>
      </p:sp>
      <p:sp>
        <p:nvSpPr>
          <p:cNvPr id="18" name="Shape 14"/>
          <p:cNvSpPr/>
          <p:nvPr/>
        </p:nvSpPr>
        <p:spPr>
          <a:xfrm>
            <a:off x="6231636" y="2514600"/>
            <a:ext cx="5408676" cy="1005840"/>
          </a:xfrm>
          <a:prstGeom prst="roundRect">
            <a:avLst>
              <a:gd name="adj" fmla="val 1090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9" name="Shape 15"/>
          <p:cNvSpPr/>
          <p:nvPr/>
        </p:nvSpPr>
        <p:spPr>
          <a:xfrm>
            <a:off x="6460236" y="2743200"/>
            <a:ext cx="548640" cy="548640"/>
          </a:xfrm>
          <a:prstGeom prst="ellipse">
            <a:avLst/>
          </a:prstGeom>
          <a:solidFill>
            <a:srgbClr val="E8524F"/>
          </a:solidFill>
          <a:ln w="12700">
            <a:solidFill>
              <a:srgbClr val="E8524F"/>
            </a:solidFill>
            <a:prstDash val="solid"/>
          </a:ln>
        </p:spPr>
        <p:txBody>
          <a:bodyPr/>
          <a:lstStyle/>
          <a:p>
            <a:endParaRPr lang="de-IN"/>
          </a:p>
        </p:txBody>
      </p:sp>
      <p:sp>
        <p:nvSpPr>
          <p:cNvPr id="20" name="Text 16"/>
          <p:cNvSpPr txBox="1"/>
          <p:nvPr/>
        </p:nvSpPr>
        <p:spPr>
          <a:xfrm>
            <a:off x="6460236" y="2743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Text 17"/>
          <p:cNvSpPr txBox="1"/>
          <p:nvPr/>
        </p:nvSpPr>
        <p:spPr>
          <a:xfrm>
            <a:off x="7237476" y="2679192"/>
            <a:ext cx="4219956" cy="411480"/>
          </a:xfrm>
          <a:prstGeom prst="rect">
            <a:avLst/>
          </a:prstGeom>
          <a:noFill/>
          <a:ln/>
        </p:spPr>
        <p:txBody>
          <a:bodyPr wrap="square" lIns="0" tIns="0" rIns="0" bIns="0" rtlCol="0" anchor="ctr"/>
          <a:lstStyle/>
          <a:p>
            <a:pPr marL="0" indent="0">
              <a:buNone/>
            </a:pPr>
            <a:r>
              <a:rPr lang="en-US" sz="1700" b="1" dirty="0">
                <a:solidFill>
                  <a:srgbClr val="1F1A4E"/>
                </a:solidFill>
                <a:latin typeface="Calibri" pitchFamily="34" charset="0"/>
                <a:ea typeface="Calibri" pitchFamily="34" charset="-122"/>
                <a:cs typeface="Calibri" pitchFamily="34" charset="-120"/>
              </a:rPr>
              <a:t>Hypothesen &amp; Kundenansprache</a:t>
            </a:r>
            <a:endParaRPr lang="en-US" sz="1700" dirty="0"/>
          </a:p>
        </p:txBody>
      </p:sp>
      <p:sp>
        <p:nvSpPr>
          <p:cNvPr id="22" name="Text 18"/>
          <p:cNvSpPr txBox="1"/>
          <p:nvPr/>
        </p:nvSpPr>
        <p:spPr>
          <a:xfrm>
            <a:off x="7237476" y="3081528"/>
            <a:ext cx="2743200" cy="274320"/>
          </a:xfrm>
          <a:prstGeom prst="rect">
            <a:avLst/>
          </a:prstGeom>
          <a:noFill/>
          <a:ln/>
        </p:spPr>
        <p:txBody>
          <a:bodyPr wrap="square" lIns="0" tIns="0" rIns="0" bIns="0" rtlCol="0" anchor="t"/>
          <a:lstStyle/>
          <a:p>
            <a:pPr marL="0" indent="0">
              <a:buNone/>
            </a:pPr>
            <a:r>
              <a:rPr lang="en-US" sz="1300" dirty="0">
                <a:solidFill>
                  <a:srgbClr val="6B6890"/>
                </a:solidFill>
                <a:latin typeface="Calibri" pitchFamily="34" charset="0"/>
                <a:ea typeface="Calibri" pitchFamily="34" charset="-122"/>
                <a:cs typeface="Calibri" pitchFamily="34" charset="-120"/>
              </a:rPr>
              <a:t>Asif</a:t>
            </a:r>
            <a:endParaRPr lang="en-US" sz="1300" dirty="0"/>
          </a:p>
        </p:txBody>
      </p:sp>
      <p:sp>
        <p:nvSpPr>
          <p:cNvPr id="23" name="Shape 19"/>
          <p:cNvSpPr/>
          <p:nvPr/>
        </p:nvSpPr>
        <p:spPr>
          <a:xfrm>
            <a:off x="548640" y="3749040"/>
            <a:ext cx="5408676" cy="1005840"/>
          </a:xfrm>
          <a:prstGeom prst="roundRect">
            <a:avLst>
              <a:gd name="adj" fmla="val 1090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4" name="Shape 20"/>
          <p:cNvSpPr/>
          <p:nvPr/>
        </p:nvSpPr>
        <p:spPr>
          <a:xfrm>
            <a:off x="777240" y="3977640"/>
            <a:ext cx="548640" cy="548640"/>
          </a:xfrm>
          <a:prstGeom prst="ellipse">
            <a:avLst/>
          </a:prstGeom>
          <a:solidFill>
            <a:srgbClr val="E8524F"/>
          </a:solidFill>
          <a:ln w="12700">
            <a:solidFill>
              <a:srgbClr val="E8524F"/>
            </a:solidFill>
            <a:prstDash val="solid"/>
          </a:ln>
        </p:spPr>
        <p:txBody>
          <a:bodyPr/>
          <a:lstStyle/>
          <a:p>
            <a:endParaRPr lang="de-IN"/>
          </a:p>
        </p:txBody>
      </p:sp>
      <p:sp>
        <p:nvSpPr>
          <p:cNvPr id="25" name="Text 21"/>
          <p:cNvSpPr txBox="1"/>
          <p:nvPr/>
        </p:nvSpPr>
        <p:spPr>
          <a:xfrm>
            <a:off x="777240"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6" name="Text 22"/>
          <p:cNvSpPr txBox="1"/>
          <p:nvPr/>
        </p:nvSpPr>
        <p:spPr>
          <a:xfrm>
            <a:off x="1554480" y="3913632"/>
            <a:ext cx="4219956" cy="411480"/>
          </a:xfrm>
          <a:prstGeom prst="rect">
            <a:avLst/>
          </a:prstGeom>
          <a:noFill/>
          <a:ln/>
        </p:spPr>
        <p:txBody>
          <a:bodyPr wrap="square" lIns="0" tIns="0" rIns="0" bIns="0" rtlCol="0" anchor="ctr"/>
          <a:lstStyle/>
          <a:p>
            <a:pPr marL="0" indent="0">
              <a:buNone/>
            </a:pPr>
            <a:r>
              <a:rPr lang="en-US" sz="1700" b="1" dirty="0">
                <a:solidFill>
                  <a:srgbClr val="1F1A4E"/>
                </a:solidFill>
                <a:latin typeface="Calibri" pitchFamily="34" charset="0"/>
                <a:ea typeface="Calibri" pitchFamily="34" charset="-122"/>
                <a:cs typeface="Calibri" pitchFamily="34" charset="-120"/>
              </a:rPr>
              <a:t>Team &amp; Rollen</a:t>
            </a:r>
            <a:endParaRPr lang="en-US" sz="1700" dirty="0"/>
          </a:p>
        </p:txBody>
      </p:sp>
      <p:sp>
        <p:nvSpPr>
          <p:cNvPr id="27" name="Text 23"/>
          <p:cNvSpPr txBox="1"/>
          <p:nvPr/>
        </p:nvSpPr>
        <p:spPr>
          <a:xfrm>
            <a:off x="1554480" y="4315968"/>
            <a:ext cx="2743200" cy="274320"/>
          </a:xfrm>
          <a:prstGeom prst="rect">
            <a:avLst/>
          </a:prstGeom>
          <a:noFill/>
          <a:ln/>
        </p:spPr>
        <p:txBody>
          <a:bodyPr wrap="square" lIns="0" tIns="0" rIns="0" bIns="0" rtlCol="0" anchor="t"/>
          <a:lstStyle/>
          <a:p>
            <a:pPr marL="0" indent="0">
              <a:buNone/>
            </a:pPr>
            <a:r>
              <a:rPr lang="en-US" sz="1300" dirty="0">
                <a:solidFill>
                  <a:srgbClr val="6B6890"/>
                </a:solidFill>
                <a:latin typeface="Calibri" pitchFamily="34" charset="0"/>
                <a:ea typeface="Calibri" pitchFamily="34" charset="-122"/>
                <a:cs typeface="Calibri" pitchFamily="34" charset="-120"/>
              </a:rPr>
              <a:t>Asif</a:t>
            </a:r>
            <a:endParaRPr lang="en-US" sz="1300" dirty="0"/>
          </a:p>
        </p:txBody>
      </p:sp>
      <p:sp>
        <p:nvSpPr>
          <p:cNvPr id="28" name="Shape 24"/>
          <p:cNvSpPr/>
          <p:nvPr/>
        </p:nvSpPr>
        <p:spPr>
          <a:xfrm>
            <a:off x="6231636" y="3749040"/>
            <a:ext cx="5408676" cy="1005840"/>
          </a:xfrm>
          <a:prstGeom prst="roundRect">
            <a:avLst>
              <a:gd name="adj" fmla="val 1090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9" name="Shape 25"/>
          <p:cNvSpPr/>
          <p:nvPr/>
        </p:nvSpPr>
        <p:spPr>
          <a:xfrm>
            <a:off x="6460236" y="3977640"/>
            <a:ext cx="548640" cy="548640"/>
          </a:xfrm>
          <a:prstGeom prst="ellipse">
            <a:avLst/>
          </a:prstGeom>
          <a:solidFill>
            <a:srgbClr val="6C4FF0"/>
          </a:solidFill>
          <a:ln w="12700">
            <a:solidFill>
              <a:srgbClr val="6C4FF0"/>
            </a:solidFill>
            <a:prstDash val="solid"/>
          </a:ln>
        </p:spPr>
        <p:txBody>
          <a:bodyPr/>
          <a:lstStyle/>
          <a:p>
            <a:endParaRPr lang="de-IN"/>
          </a:p>
        </p:txBody>
      </p:sp>
      <p:sp>
        <p:nvSpPr>
          <p:cNvPr id="30" name="Text 26"/>
          <p:cNvSpPr txBox="1"/>
          <p:nvPr/>
        </p:nvSpPr>
        <p:spPr>
          <a:xfrm>
            <a:off x="6460236" y="3977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1" name="Text 27"/>
          <p:cNvSpPr txBox="1"/>
          <p:nvPr/>
        </p:nvSpPr>
        <p:spPr>
          <a:xfrm>
            <a:off x="7237476" y="3913632"/>
            <a:ext cx="4219956" cy="411480"/>
          </a:xfrm>
          <a:prstGeom prst="rect">
            <a:avLst/>
          </a:prstGeom>
          <a:noFill/>
          <a:ln/>
        </p:spPr>
        <p:txBody>
          <a:bodyPr wrap="square" lIns="0" tIns="0" rIns="0" bIns="0" rtlCol="0" anchor="ctr"/>
          <a:lstStyle/>
          <a:p>
            <a:pPr marL="0" indent="0">
              <a:buNone/>
            </a:pPr>
            <a:r>
              <a:rPr lang="en-US" sz="1700" b="1" dirty="0">
                <a:solidFill>
                  <a:srgbClr val="1F1A4E"/>
                </a:solidFill>
                <a:latin typeface="Calibri" pitchFamily="34" charset="0"/>
                <a:ea typeface="Calibri" pitchFamily="34" charset="-122"/>
                <a:cs typeface="Calibri" pitchFamily="34" charset="-120"/>
              </a:rPr>
              <a:t>Vorgehen &amp; Praktiken</a:t>
            </a:r>
            <a:endParaRPr lang="en-US" sz="1700" dirty="0"/>
          </a:p>
        </p:txBody>
      </p:sp>
      <p:sp>
        <p:nvSpPr>
          <p:cNvPr id="32" name="Text 28"/>
          <p:cNvSpPr txBox="1"/>
          <p:nvPr/>
        </p:nvSpPr>
        <p:spPr>
          <a:xfrm>
            <a:off x="7237476" y="4315968"/>
            <a:ext cx="2743200" cy="274320"/>
          </a:xfrm>
          <a:prstGeom prst="rect">
            <a:avLst/>
          </a:prstGeom>
          <a:noFill/>
          <a:ln/>
        </p:spPr>
        <p:txBody>
          <a:bodyPr wrap="square" lIns="0" tIns="0" rIns="0" bIns="0" rtlCol="0" anchor="t"/>
          <a:lstStyle/>
          <a:p>
            <a:pPr marL="0" indent="0">
              <a:buNone/>
            </a:pPr>
            <a:r>
              <a:rPr lang="en-US" sz="1300" dirty="0">
                <a:solidFill>
                  <a:srgbClr val="6B6890"/>
                </a:solidFill>
                <a:latin typeface="Calibri" pitchFamily="34" charset="0"/>
                <a:ea typeface="Calibri" pitchFamily="34" charset="-122"/>
                <a:cs typeface="Calibri" pitchFamily="34" charset="-120"/>
              </a:rPr>
              <a:t>Mahdi</a:t>
            </a:r>
            <a:endParaRPr lang="en-US" sz="1300" dirty="0"/>
          </a:p>
        </p:txBody>
      </p:sp>
      <p:sp>
        <p:nvSpPr>
          <p:cNvPr id="33" name="Shape 29"/>
          <p:cNvSpPr/>
          <p:nvPr/>
        </p:nvSpPr>
        <p:spPr>
          <a:xfrm>
            <a:off x="548640" y="4983480"/>
            <a:ext cx="5408676" cy="1005840"/>
          </a:xfrm>
          <a:prstGeom prst="roundRect">
            <a:avLst>
              <a:gd name="adj" fmla="val 1090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34" name="Shape 30"/>
          <p:cNvSpPr/>
          <p:nvPr/>
        </p:nvSpPr>
        <p:spPr>
          <a:xfrm>
            <a:off x="777240" y="5212080"/>
            <a:ext cx="548640" cy="548640"/>
          </a:xfrm>
          <a:prstGeom prst="ellipse">
            <a:avLst/>
          </a:prstGeom>
          <a:solidFill>
            <a:srgbClr val="0E8F82"/>
          </a:solidFill>
          <a:ln w="12700">
            <a:solidFill>
              <a:srgbClr val="0E8F82"/>
            </a:solidFill>
            <a:prstDash val="solid"/>
          </a:ln>
        </p:spPr>
        <p:txBody>
          <a:bodyPr/>
          <a:lstStyle/>
          <a:p>
            <a:endParaRPr lang="de-IN"/>
          </a:p>
        </p:txBody>
      </p:sp>
      <p:sp>
        <p:nvSpPr>
          <p:cNvPr id="35" name="Text 31"/>
          <p:cNvSpPr txBox="1"/>
          <p:nvPr/>
        </p:nvSpPr>
        <p:spPr>
          <a:xfrm>
            <a:off x="777240" y="52120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6" name="Text 32"/>
          <p:cNvSpPr txBox="1"/>
          <p:nvPr/>
        </p:nvSpPr>
        <p:spPr>
          <a:xfrm>
            <a:off x="1554480" y="5148072"/>
            <a:ext cx="4219956" cy="411480"/>
          </a:xfrm>
          <a:prstGeom prst="rect">
            <a:avLst/>
          </a:prstGeom>
          <a:noFill/>
          <a:ln/>
        </p:spPr>
        <p:txBody>
          <a:bodyPr wrap="square" lIns="0" tIns="0" rIns="0" bIns="0" rtlCol="0" anchor="ctr"/>
          <a:lstStyle/>
          <a:p>
            <a:pPr marL="0" indent="0">
              <a:buNone/>
            </a:pPr>
            <a:r>
              <a:rPr lang="en-US" sz="1700" b="1" dirty="0">
                <a:solidFill>
                  <a:srgbClr val="1F1A4E"/>
                </a:solidFill>
                <a:latin typeface="Calibri" pitchFamily="34" charset="0"/>
                <a:ea typeface="Calibri" pitchFamily="34" charset="-122"/>
                <a:cs typeface="Calibri" pitchFamily="34" charset="-120"/>
              </a:rPr>
              <a:t>Werkzeuge, Tracking &amp; Projektstand</a:t>
            </a:r>
            <a:endParaRPr lang="en-US" sz="1700" dirty="0"/>
          </a:p>
        </p:txBody>
      </p:sp>
      <p:sp>
        <p:nvSpPr>
          <p:cNvPr id="37" name="Text 33"/>
          <p:cNvSpPr txBox="1"/>
          <p:nvPr/>
        </p:nvSpPr>
        <p:spPr>
          <a:xfrm>
            <a:off x="1554480" y="5550408"/>
            <a:ext cx="2743200" cy="274320"/>
          </a:xfrm>
          <a:prstGeom prst="rect">
            <a:avLst/>
          </a:prstGeom>
          <a:noFill/>
          <a:ln/>
        </p:spPr>
        <p:txBody>
          <a:bodyPr wrap="square" lIns="0" tIns="0" rIns="0" bIns="0" rtlCol="0" anchor="t"/>
          <a:lstStyle/>
          <a:p>
            <a:pPr marL="0" indent="0">
              <a:buNone/>
            </a:pPr>
            <a:r>
              <a:rPr lang="en-US" sz="1300" dirty="0">
                <a:solidFill>
                  <a:srgbClr val="6B6890"/>
                </a:solidFill>
                <a:latin typeface="Calibri" pitchFamily="34" charset="0"/>
                <a:ea typeface="Calibri" pitchFamily="34" charset="-122"/>
                <a:cs typeface="Calibri" pitchFamily="34" charset="-120"/>
              </a:rPr>
              <a:t>Bennet</a:t>
            </a:r>
            <a:endParaRPr lang="en-US" sz="1300" dirty="0"/>
          </a:p>
        </p:txBody>
      </p:sp>
      <p:sp>
        <p:nvSpPr>
          <p:cNvPr id="38" name="Shape 34"/>
          <p:cNvSpPr/>
          <p:nvPr/>
        </p:nvSpPr>
        <p:spPr>
          <a:xfrm>
            <a:off x="6231636" y="4983480"/>
            <a:ext cx="5408676" cy="1005840"/>
          </a:xfrm>
          <a:prstGeom prst="roundRect">
            <a:avLst>
              <a:gd name="adj" fmla="val 1090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39" name="Shape 35"/>
          <p:cNvSpPr/>
          <p:nvPr/>
        </p:nvSpPr>
        <p:spPr>
          <a:xfrm>
            <a:off x="6460236" y="5212080"/>
            <a:ext cx="548640" cy="548640"/>
          </a:xfrm>
          <a:prstGeom prst="ellipse">
            <a:avLst/>
          </a:prstGeom>
          <a:solidFill>
            <a:srgbClr val="E89A0C"/>
          </a:solidFill>
          <a:ln w="12700">
            <a:solidFill>
              <a:srgbClr val="E89A0C"/>
            </a:solidFill>
            <a:prstDash val="solid"/>
          </a:ln>
        </p:spPr>
        <p:txBody>
          <a:bodyPr/>
          <a:lstStyle/>
          <a:p>
            <a:endParaRPr lang="de-IN"/>
          </a:p>
        </p:txBody>
      </p:sp>
      <p:sp>
        <p:nvSpPr>
          <p:cNvPr id="40" name="Text 36"/>
          <p:cNvSpPr txBox="1"/>
          <p:nvPr/>
        </p:nvSpPr>
        <p:spPr>
          <a:xfrm>
            <a:off x="6460236" y="5212080"/>
            <a:ext cx="548640" cy="548640"/>
          </a:xfrm>
          <a:prstGeom prst="rect">
            <a:avLst/>
          </a:prstGeom>
          <a:noFill/>
          <a:ln/>
        </p:spPr>
        <p:txBody>
          <a:bodyPr wrap="square" lIns="0" tIns="0" rIns="0" bIns="0" rtlCol="0" anchor="ctr"/>
          <a:lstStyle/>
          <a:p>
            <a:pPr marL="0" indent="0" algn="ctr">
              <a:buNone/>
            </a:pPr>
            <a:r>
              <a:rPr lang="en-US" sz="2000" b="1" dirty="0">
                <a:solidFill>
                  <a:srgbClr val="1F1A4E"/>
                </a:solidFill>
                <a:latin typeface="Calibri" pitchFamily="34" charset="0"/>
                <a:ea typeface="Calibri" pitchFamily="34" charset="-122"/>
                <a:cs typeface="Calibri" pitchFamily="34" charset="-120"/>
              </a:rPr>
              <a:t>6</a:t>
            </a:r>
            <a:endParaRPr lang="en-US" sz="2000" dirty="0"/>
          </a:p>
        </p:txBody>
      </p:sp>
      <p:sp>
        <p:nvSpPr>
          <p:cNvPr id="41" name="Text 37"/>
          <p:cNvSpPr txBox="1"/>
          <p:nvPr/>
        </p:nvSpPr>
        <p:spPr>
          <a:xfrm>
            <a:off x="7237476" y="5148072"/>
            <a:ext cx="4219956" cy="411480"/>
          </a:xfrm>
          <a:prstGeom prst="rect">
            <a:avLst/>
          </a:prstGeom>
          <a:noFill/>
          <a:ln/>
        </p:spPr>
        <p:txBody>
          <a:bodyPr wrap="square" lIns="0" tIns="0" rIns="0" bIns="0" rtlCol="0" anchor="ctr"/>
          <a:lstStyle/>
          <a:p>
            <a:pPr marL="0" indent="0">
              <a:buNone/>
            </a:pPr>
            <a:r>
              <a:rPr lang="en-US" sz="1700" b="1" dirty="0">
                <a:solidFill>
                  <a:srgbClr val="1F1A4E"/>
                </a:solidFill>
                <a:latin typeface="Calibri" pitchFamily="34" charset="0"/>
                <a:ea typeface="Calibri" pitchFamily="34" charset="-122"/>
                <a:cs typeface="Calibri" pitchFamily="34" charset="-120"/>
              </a:rPr>
              <a:t>Qualität, Risiken &amp; offene Fragen</a:t>
            </a:r>
            <a:endParaRPr lang="en-US" sz="1700" dirty="0"/>
          </a:p>
        </p:txBody>
      </p:sp>
      <p:sp>
        <p:nvSpPr>
          <p:cNvPr id="42" name="Text 38"/>
          <p:cNvSpPr txBox="1"/>
          <p:nvPr/>
        </p:nvSpPr>
        <p:spPr>
          <a:xfrm>
            <a:off x="7237476" y="5550408"/>
            <a:ext cx="2743200" cy="274320"/>
          </a:xfrm>
          <a:prstGeom prst="rect">
            <a:avLst/>
          </a:prstGeom>
          <a:noFill/>
          <a:ln/>
        </p:spPr>
        <p:txBody>
          <a:bodyPr wrap="square" lIns="0" tIns="0" rIns="0" bIns="0" rtlCol="0" anchor="t"/>
          <a:lstStyle/>
          <a:p>
            <a:pPr marL="0" indent="0">
              <a:buNone/>
            </a:pPr>
            <a:r>
              <a:rPr lang="en-US" sz="1300" dirty="0">
                <a:solidFill>
                  <a:srgbClr val="6B6890"/>
                </a:solidFill>
                <a:latin typeface="Calibri" pitchFamily="34" charset="0"/>
                <a:ea typeface="Calibri" pitchFamily="34" charset="-122"/>
                <a:cs typeface="Calibri" pitchFamily="34" charset="-120"/>
              </a:rPr>
              <a:t>Anil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1 · PROBLEM</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Schichtplanung kostet Zeit – und Vertrauen</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3</a:t>
            </a:r>
            <a:endParaRPr lang="en-US" sz="900" dirty="0"/>
          </a:p>
        </p:txBody>
      </p:sp>
      <p:sp>
        <p:nvSpPr>
          <p:cNvPr id="9" name="Shape 6"/>
          <p:cNvSpPr/>
          <p:nvPr/>
        </p:nvSpPr>
        <p:spPr>
          <a:xfrm>
            <a:off x="548640" y="1600200"/>
            <a:ext cx="3514039" cy="2926080"/>
          </a:xfrm>
          <a:prstGeom prst="roundRect">
            <a:avLst>
              <a:gd name="adj" fmla="val 375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0" name="Shape 7"/>
          <p:cNvSpPr/>
          <p:nvPr/>
        </p:nvSpPr>
        <p:spPr>
          <a:xfrm>
            <a:off x="868680" y="1920240"/>
            <a:ext cx="777240" cy="777240"/>
          </a:xfrm>
          <a:prstGeom prst="ellipse">
            <a:avLst/>
          </a:prstGeom>
          <a:solidFill>
            <a:srgbClr val="E8524F"/>
          </a:solidFill>
          <a:ln w="12700">
            <a:solidFill>
              <a:srgbClr val="E8524F"/>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1070762" y="2122322"/>
            <a:ext cx="373075" cy="373075"/>
          </a:xfrm>
          <a:prstGeom prst="rect">
            <a:avLst/>
          </a:prstGeom>
        </p:spPr>
      </p:pic>
      <p:sp>
        <p:nvSpPr>
          <p:cNvPr id="12" name="Text 8"/>
          <p:cNvSpPr txBox="1"/>
          <p:nvPr/>
        </p:nvSpPr>
        <p:spPr>
          <a:xfrm>
            <a:off x="868680" y="2880360"/>
            <a:ext cx="2873959"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Hoher Zeitaufwand</a:t>
            </a:r>
            <a:endParaRPr lang="en-US" sz="1900" dirty="0"/>
          </a:p>
        </p:txBody>
      </p:sp>
      <p:sp>
        <p:nvSpPr>
          <p:cNvPr id="13" name="Text 9"/>
          <p:cNvSpPr txBox="1"/>
          <p:nvPr/>
        </p:nvSpPr>
        <p:spPr>
          <a:xfrm>
            <a:off x="868680" y="3337560"/>
            <a:ext cx="2873959" cy="1097280"/>
          </a:xfrm>
          <a:prstGeom prst="rect">
            <a:avLst/>
          </a:prstGeom>
          <a:noFill/>
          <a:ln/>
        </p:spPr>
        <p:txBody>
          <a:bodyPr wrap="square" lIns="0" tIns="0" rIns="0" bIns="0" rtlCol="0" anchor="t"/>
          <a:lstStyle/>
          <a:p>
            <a:pPr marL="0" indent="0">
              <a:buNone/>
            </a:pPr>
            <a:r>
              <a:rPr lang="en-US" sz="1500" dirty="0">
                <a:solidFill>
                  <a:srgbClr val="24204A"/>
                </a:solidFill>
                <a:latin typeface="Calibri" pitchFamily="34" charset="0"/>
                <a:ea typeface="Calibri" pitchFamily="34" charset="-122"/>
                <a:cs typeface="Calibri" pitchFamily="34" charset="-120"/>
              </a:rPr>
              <a:t>Pläne entstehen manuell in Excel, auf Papier oder per Messenger – jeden Monat aufs Neue.</a:t>
            </a:r>
            <a:endParaRPr lang="en-US" sz="1500" dirty="0"/>
          </a:p>
        </p:txBody>
      </p:sp>
      <p:sp>
        <p:nvSpPr>
          <p:cNvPr id="14" name="Shape 10"/>
          <p:cNvSpPr/>
          <p:nvPr/>
        </p:nvSpPr>
        <p:spPr>
          <a:xfrm>
            <a:off x="4336999" y="1600200"/>
            <a:ext cx="3514039" cy="2926080"/>
          </a:xfrm>
          <a:prstGeom prst="roundRect">
            <a:avLst>
              <a:gd name="adj" fmla="val 375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5" name="Shape 11"/>
          <p:cNvSpPr/>
          <p:nvPr/>
        </p:nvSpPr>
        <p:spPr>
          <a:xfrm>
            <a:off x="4657039" y="1920240"/>
            <a:ext cx="777240" cy="777240"/>
          </a:xfrm>
          <a:prstGeom prst="ellipse">
            <a:avLst/>
          </a:prstGeom>
          <a:solidFill>
            <a:srgbClr val="6C4FF0"/>
          </a:solidFill>
          <a:ln w="12700">
            <a:solidFill>
              <a:srgbClr val="6C4FF0"/>
            </a:solidFill>
            <a:prstDash val="solid"/>
          </a:ln>
        </p:spPr>
        <p:txBody>
          <a:bodyPr/>
          <a:lstStyle/>
          <a:p>
            <a:endParaRPr lang="de-IN"/>
          </a:p>
        </p:txBody>
      </p:sp>
      <p:pic>
        <p:nvPicPr>
          <p:cNvPr id="16" name="Image 1" descr="preencoded.png"/>
          <p:cNvPicPr>
            <a:picLocks noChangeAspect="1"/>
          </p:cNvPicPr>
          <p:nvPr/>
        </p:nvPicPr>
        <p:blipFill>
          <a:blip r:embed="rId4"/>
          <a:stretch>
            <a:fillRect/>
          </a:stretch>
        </p:blipFill>
        <p:spPr>
          <a:xfrm>
            <a:off x="4859122" y="2122322"/>
            <a:ext cx="373075" cy="373075"/>
          </a:xfrm>
          <a:prstGeom prst="rect">
            <a:avLst/>
          </a:prstGeom>
        </p:spPr>
      </p:pic>
      <p:sp>
        <p:nvSpPr>
          <p:cNvPr id="17" name="Text 12"/>
          <p:cNvSpPr txBox="1"/>
          <p:nvPr/>
        </p:nvSpPr>
        <p:spPr>
          <a:xfrm>
            <a:off x="4657039" y="2880360"/>
            <a:ext cx="2873959"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Regeln von Hand prüfen</a:t>
            </a:r>
            <a:endParaRPr lang="en-US" sz="1900" dirty="0"/>
          </a:p>
        </p:txBody>
      </p:sp>
      <p:sp>
        <p:nvSpPr>
          <p:cNvPr id="18" name="Text 13"/>
          <p:cNvSpPr txBox="1"/>
          <p:nvPr/>
        </p:nvSpPr>
        <p:spPr>
          <a:xfrm>
            <a:off x="4657039" y="3337560"/>
            <a:ext cx="2873959" cy="1097280"/>
          </a:xfrm>
          <a:prstGeom prst="rect">
            <a:avLst/>
          </a:prstGeom>
          <a:noFill/>
          <a:ln/>
        </p:spPr>
        <p:txBody>
          <a:bodyPr wrap="square" lIns="0" tIns="0" rIns="0" bIns="0" rtlCol="0" anchor="t"/>
          <a:lstStyle/>
          <a:p>
            <a:pPr marL="0" indent="0">
              <a:buNone/>
            </a:pPr>
            <a:r>
              <a:rPr lang="en-US" sz="1500" dirty="0">
                <a:solidFill>
                  <a:srgbClr val="24204A"/>
                </a:solidFill>
                <a:latin typeface="Calibri" pitchFamily="34" charset="0"/>
                <a:ea typeface="Calibri" pitchFamily="34" charset="-122"/>
                <a:cs typeface="Calibri" pitchFamily="34" charset="-120"/>
              </a:rPr>
              <a:t>Höchstarbeitszeiten, Ruhezeiten und Vertragsstunden müssen die Planenden selbst im Blick behalten.</a:t>
            </a:r>
            <a:endParaRPr lang="en-US" sz="1500" dirty="0"/>
          </a:p>
        </p:txBody>
      </p:sp>
      <p:sp>
        <p:nvSpPr>
          <p:cNvPr id="19" name="Shape 14"/>
          <p:cNvSpPr/>
          <p:nvPr/>
        </p:nvSpPr>
        <p:spPr>
          <a:xfrm>
            <a:off x="8125358" y="1600200"/>
            <a:ext cx="3514039" cy="2926080"/>
          </a:xfrm>
          <a:prstGeom prst="roundRect">
            <a:avLst>
              <a:gd name="adj" fmla="val 375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0" name="Shape 15"/>
          <p:cNvSpPr/>
          <p:nvPr/>
        </p:nvSpPr>
        <p:spPr>
          <a:xfrm>
            <a:off x="8445398" y="1920240"/>
            <a:ext cx="777240" cy="777240"/>
          </a:xfrm>
          <a:prstGeom prst="ellipse">
            <a:avLst/>
          </a:prstGeom>
          <a:solidFill>
            <a:srgbClr val="0E8F82"/>
          </a:solidFill>
          <a:ln w="12700">
            <a:solidFill>
              <a:srgbClr val="0E8F82"/>
            </a:solidFill>
            <a:prstDash val="solid"/>
          </a:ln>
        </p:spPr>
        <p:txBody>
          <a:bodyPr/>
          <a:lstStyle/>
          <a:p>
            <a:endParaRPr lang="de-IN"/>
          </a:p>
        </p:txBody>
      </p:sp>
      <p:pic>
        <p:nvPicPr>
          <p:cNvPr id="21" name="Image 2" descr="preencoded.png"/>
          <p:cNvPicPr>
            <a:picLocks noChangeAspect="1"/>
          </p:cNvPicPr>
          <p:nvPr/>
        </p:nvPicPr>
        <p:blipFill>
          <a:blip r:embed="rId5"/>
          <a:stretch>
            <a:fillRect/>
          </a:stretch>
        </p:blipFill>
        <p:spPr>
          <a:xfrm>
            <a:off x="8647481" y="2122322"/>
            <a:ext cx="373075" cy="373075"/>
          </a:xfrm>
          <a:prstGeom prst="rect">
            <a:avLst/>
          </a:prstGeom>
        </p:spPr>
      </p:pic>
      <p:sp>
        <p:nvSpPr>
          <p:cNvPr id="22" name="Text 16"/>
          <p:cNvSpPr txBox="1"/>
          <p:nvPr/>
        </p:nvSpPr>
        <p:spPr>
          <a:xfrm>
            <a:off x="8445398" y="2880360"/>
            <a:ext cx="2873959"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Gefühlte Unfairness</a:t>
            </a:r>
            <a:endParaRPr lang="en-US" sz="1900" dirty="0"/>
          </a:p>
        </p:txBody>
      </p:sp>
      <p:sp>
        <p:nvSpPr>
          <p:cNvPr id="23" name="Text 17"/>
          <p:cNvSpPr txBox="1"/>
          <p:nvPr/>
        </p:nvSpPr>
        <p:spPr>
          <a:xfrm>
            <a:off x="8445398" y="3337560"/>
            <a:ext cx="2873959" cy="1097280"/>
          </a:xfrm>
          <a:prstGeom prst="rect">
            <a:avLst/>
          </a:prstGeom>
          <a:noFill/>
          <a:ln/>
        </p:spPr>
        <p:txBody>
          <a:bodyPr wrap="square" lIns="0" tIns="0" rIns="0" bIns="0" rtlCol="0" anchor="t"/>
          <a:lstStyle/>
          <a:p>
            <a:pPr marL="0" indent="0">
              <a:buNone/>
            </a:pPr>
            <a:r>
              <a:rPr lang="en-US" sz="1500" dirty="0">
                <a:solidFill>
                  <a:srgbClr val="24204A"/>
                </a:solidFill>
                <a:latin typeface="Calibri" pitchFamily="34" charset="0"/>
                <a:ea typeface="Calibri" pitchFamily="34" charset="-122"/>
                <a:cs typeface="Calibri" pitchFamily="34" charset="-120"/>
              </a:rPr>
              <a:t>Mitarbeitende sehen nicht, wessen Wünsche berücksichtigt wurden. Die Verteilung wirkt willkürlich.</a:t>
            </a:r>
            <a:endParaRPr lang="en-US" sz="1500" dirty="0"/>
          </a:p>
        </p:txBody>
      </p:sp>
      <p:sp>
        <p:nvSpPr>
          <p:cNvPr id="24" name="Shape 18"/>
          <p:cNvSpPr/>
          <p:nvPr/>
        </p:nvSpPr>
        <p:spPr>
          <a:xfrm>
            <a:off x="548640" y="4846320"/>
            <a:ext cx="11091672" cy="1188720"/>
          </a:xfrm>
          <a:prstGeom prst="roundRect">
            <a:avLst>
              <a:gd name="adj" fmla="val 9231"/>
            </a:avLst>
          </a:prstGeom>
          <a:solidFill>
            <a:srgbClr val="FDF1D8"/>
          </a:solidFill>
          <a:ln w="9525">
            <a:solidFill>
              <a:srgbClr val="FDF1D8"/>
            </a:solidFill>
            <a:prstDash val="solid"/>
          </a:ln>
        </p:spPr>
        <p:txBody>
          <a:bodyPr/>
          <a:lstStyle/>
          <a:p>
            <a:endParaRPr lang="de-IN"/>
          </a:p>
        </p:txBody>
      </p:sp>
      <p:sp>
        <p:nvSpPr>
          <p:cNvPr id="25" name="Shape 19"/>
          <p:cNvSpPr/>
          <p:nvPr/>
        </p:nvSpPr>
        <p:spPr>
          <a:xfrm>
            <a:off x="822960" y="5120640"/>
            <a:ext cx="640080" cy="640080"/>
          </a:xfrm>
          <a:prstGeom prst="ellipse">
            <a:avLst/>
          </a:prstGeom>
          <a:solidFill>
            <a:srgbClr val="E89A0C"/>
          </a:solidFill>
          <a:ln w="12700">
            <a:solidFill>
              <a:srgbClr val="E89A0C"/>
            </a:solidFill>
            <a:prstDash val="solid"/>
          </a:ln>
        </p:spPr>
        <p:txBody>
          <a:bodyPr/>
          <a:lstStyle/>
          <a:p>
            <a:endParaRPr lang="de-IN"/>
          </a:p>
        </p:txBody>
      </p:sp>
      <p:pic>
        <p:nvPicPr>
          <p:cNvPr id="26" name="Image 3" descr="preencoded.png"/>
          <p:cNvPicPr>
            <a:picLocks noChangeAspect="1"/>
          </p:cNvPicPr>
          <p:nvPr/>
        </p:nvPicPr>
        <p:blipFill>
          <a:blip r:embed="rId6"/>
          <a:stretch>
            <a:fillRect/>
          </a:stretch>
        </p:blipFill>
        <p:spPr>
          <a:xfrm>
            <a:off x="989381" y="5287061"/>
            <a:ext cx="307238" cy="307238"/>
          </a:xfrm>
          <a:prstGeom prst="rect">
            <a:avLst/>
          </a:prstGeom>
        </p:spPr>
      </p:pic>
      <p:sp>
        <p:nvSpPr>
          <p:cNvPr id="27" name="Text 20"/>
          <p:cNvSpPr txBox="1"/>
          <p:nvPr/>
        </p:nvSpPr>
        <p:spPr>
          <a:xfrm>
            <a:off x="1691640" y="4846320"/>
            <a:ext cx="9692640" cy="1188720"/>
          </a:xfrm>
          <a:prstGeom prst="rect">
            <a:avLst/>
          </a:prstGeom>
          <a:noFill/>
          <a:ln/>
        </p:spPr>
        <p:txBody>
          <a:bodyPr wrap="square" lIns="0" tIns="0" rIns="0" bIns="0" rtlCol="0" anchor="ctr"/>
          <a:lstStyle/>
          <a:p>
            <a:pPr marL="0" indent="0">
              <a:buNone/>
            </a:pPr>
            <a:r>
              <a:rPr lang="en-US" sz="1500" b="1" dirty="0">
                <a:solidFill>
                  <a:srgbClr val="24204A"/>
                </a:solidFill>
                <a:latin typeface="Calibri" pitchFamily="34" charset="0"/>
                <a:ea typeface="Calibri" pitchFamily="34" charset="-122"/>
                <a:cs typeface="Calibri" pitchFamily="34" charset="-120"/>
              </a:rPr>
              <a:t>Ausgangspunkt: </a:t>
            </a:r>
            <a:r>
              <a:rPr lang="en-US" sz="1500" dirty="0">
                <a:solidFill>
                  <a:srgbClr val="24204A"/>
                </a:solidFill>
                <a:latin typeface="Calibri" pitchFamily="34" charset="0"/>
                <a:ea typeface="Calibri" pitchFamily="34" charset="-122"/>
                <a:cs typeface="Calibri" pitchFamily="34" charset="-120"/>
              </a:rPr>
              <a:t>eigene Erfahrung im Team aus Filialen großer Einzelhandelsketten, in denen Schichtpläne manuell entstehen. Ob das Problem verbreitet ist, prüfen wir mit realen Personen (H1, H2).</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1 · ZIELGRUPPE</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Für wen wir ShiftPlanner bauen</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4</a:t>
            </a:r>
            <a:endParaRPr lang="en-US" sz="900" dirty="0"/>
          </a:p>
        </p:txBody>
      </p:sp>
      <p:sp>
        <p:nvSpPr>
          <p:cNvPr id="9" name="Shape 6"/>
          <p:cNvSpPr/>
          <p:nvPr/>
        </p:nvSpPr>
        <p:spPr>
          <a:xfrm>
            <a:off x="548640" y="1600200"/>
            <a:ext cx="4023360" cy="4434840"/>
          </a:xfrm>
          <a:prstGeom prst="roundRect">
            <a:avLst>
              <a:gd name="adj" fmla="val 3409"/>
            </a:avLst>
          </a:prstGeom>
          <a:solidFill>
            <a:srgbClr val="1F1A4E"/>
          </a:solidFill>
          <a:ln w="12700">
            <a:solidFill>
              <a:srgbClr val="1F1A4E"/>
            </a:solidFill>
            <a:prstDash val="solid"/>
          </a:ln>
        </p:spPr>
        <p:txBody>
          <a:bodyPr/>
          <a:lstStyle/>
          <a:p>
            <a:endParaRPr lang="de-IN"/>
          </a:p>
        </p:txBody>
      </p:sp>
      <p:sp>
        <p:nvSpPr>
          <p:cNvPr id="10" name="Text 7"/>
          <p:cNvSpPr txBox="1"/>
          <p:nvPr/>
        </p:nvSpPr>
        <p:spPr>
          <a:xfrm>
            <a:off x="868680" y="2011680"/>
            <a:ext cx="3474720" cy="1097280"/>
          </a:xfrm>
          <a:prstGeom prst="rect">
            <a:avLst/>
          </a:prstGeom>
          <a:noFill/>
          <a:ln/>
        </p:spPr>
        <p:txBody>
          <a:bodyPr wrap="square" lIns="0" tIns="0" rIns="0" bIns="0"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5–30</a:t>
            </a:r>
            <a:endParaRPr lang="en-US" sz="7200" dirty="0"/>
          </a:p>
        </p:txBody>
      </p:sp>
      <p:sp>
        <p:nvSpPr>
          <p:cNvPr id="11" name="Text 8"/>
          <p:cNvSpPr txBox="1"/>
          <p:nvPr/>
        </p:nvSpPr>
        <p:spPr>
          <a:xfrm>
            <a:off x="868680" y="3154680"/>
            <a:ext cx="3474720" cy="731520"/>
          </a:xfrm>
          <a:prstGeom prst="rect">
            <a:avLst/>
          </a:prstGeom>
          <a:noFill/>
          <a:ln/>
        </p:spPr>
        <p:txBody>
          <a:bodyPr wrap="square" lIns="0" tIns="0" rIns="0" bIns="0" rtlCol="0" anchor="t"/>
          <a:lstStyle/>
          <a:p>
            <a:pPr marL="0" indent="0">
              <a:buNone/>
            </a:pPr>
            <a:r>
              <a:rPr lang="en-US" sz="1800" dirty="0">
                <a:solidFill>
                  <a:srgbClr val="E6E3FF"/>
                </a:solidFill>
                <a:latin typeface="Calibri" pitchFamily="34" charset="0"/>
                <a:ea typeface="Calibri" pitchFamily="34" charset="-122"/>
                <a:cs typeface="Calibri" pitchFamily="34" charset="-120"/>
              </a:rPr>
              <a:t>Mitarbeitende pro Betrieb oder Filiale</a:t>
            </a:r>
            <a:endParaRPr lang="en-US" sz="1800" dirty="0"/>
          </a:p>
        </p:txBody>
      </p:sp>
      <p:sp>
        <p:nvSpPr>
          <p:cNvPr id="12" name="Text 9"/>
          <p:cNvSpPr txBox="1"/>
          <p:nvPr/>
        </p:nvSpPr>
        <p:spPr>
          <a:xfrm>
            <a:off x="868680" y="4114800"/>
            <a:ext cx="3474720" cy="274320"/>
          </a:xfrm>
          <a:prstGeom prst="rect">
            <a:avLst/>
          </a:prstGeom>
          <a:noFill/>
          <a:ln/>
        </p:spPr>
        <p:txBody>
          <a:bodyPr wrap="square" lIns="0" tIns="0" rIns="0" bIns="0" rtlCol="0" anchor="t"/>
          <a:lstStyle/>
          <a:p>
            <a:pPr marL="0" indent="0">
              <a:buNone/>
            </a:pPr>
            <a:r>
              <a:rPr lang="en-US" sz="1300" b="1" dirty="0">
                <a:solidFill>
                  <a:srgbClr val="C9C3FF"/>
                </a:solidFill>
                <a:latin typeface="Calibri" pitchFamily="34" charset="0"/>
                <a:ea typeface="Calibri" pitchFamily="34" charset="-122"/>
                <a:cs typeface="Calibri" pitchFamily="34" charset="-120"/>
              </a:rPr>
              <a:t>Typische Branchen</a:t>
            </a:r>
            <a:endParaRPr lang="en-US" sz="1300" dirty="0"/>
          </a:p>
        </p:txBody>
      </p:sp>
      <p:sp>
        <p:nvSpPr>
          <p:cNvPr id="13" name="Text 10"/>
          <p:cNvSpPr txBox="1"/>
          <p:nvPr/>
        </p:nvSpPr>
        <p:spPr>
          <a:xfrm>
            <a:off x="868680" y="4434840"/>
            <a:ext cx="338328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Einzelhandel · Gastronomie · Bäckereien · Fitnessstudios</a:t>
            </a:r>
            <a:endParaRPr lang="en-US" sz="1500" dirty="0"/>
          </a:p>
        </p:txBody>
      </p:sp>
      <p:sp>
        <p:nvSpPr>
          <p:cNvPr id="14" name="Shape 11"/>
          <p:cNvSpPr/>
          <p:nvPr/>
        </p:nvSpPr>
        <p:spPr>
          <a:xfrm>
            <a:off x="4892040" y="1600200"/>
            <a:ext cx="6748272" cy="2148840"/>
          </a:xfrm>
          <a:prstGeom prst="roundRect">
            <a:avLst>
              <a:gd name="adj" fmla="val 5106"/>
            </a:avLst>
          </a:prstGeom>
          <a:solidFill>
            <a:srgbClr val="FDE9E8"/>
          </a:solidFill>
          <a:ln w="9525">
            <a:solidFill>
              <a:srgbClr val="FDE9E8"/>
            </a:solidFill>
            <a:prstDash val="solid"/>
          </a:ln>
        </p:spPr>
        <p:txBody>
          <a:bodyPr/>
          <a:lstStyle/>
          <a:p>
            <a:endParaRPr lang="de-IN"/>
          </a:p>
        </p:txBody>
      </p:sp>
      <p:sp>
        <p:nvSpPr>
          <p:cNvPr id="15" name="Shape 12"/>
          <p:cNvSpPr/>
          <p:nvPr/>
        </p:nvSpPr>
        <p:spPr>
          <a:xfrm>
            <a:off x="5212080" y="1965960"/>
            <a:ext cx="822960" cy="822960"/>
          </a:xfrm>
          <a:prstGeom prst="ellipse">
            <a:avLst/>
          </a:prstGeom>
          <a:solidFill>
            <a:srgbClr val="E8524F"/>
          </a:solidFill>
          <a:ln w="12700">
            <a:solidFill>
              <a:srgbClr val="E8524F"/>
            </a:solidFill>
            <a:prstDash val="solid"/>
          </a:ln>
        </p:spPr>
        <p:txBody>
          <a:bodyPr/>
          <a:lstStyle/>
          <a:p>
            <a:endParaRPr lang="de-IN"/>
          </a:p>
        </p:txBody>
      </p:sp>
      <p:pic>
        <p:nvPicPr>
          <p:cNvPr id="16" name="Image 0" descr="preencoded.png"/>
          <p:cNvPicPr>
            <a:picLocks noChangeAspect="1"/>
          </p:cNvPicPr>
          <p:nvPr/>
        </p:nvPicPr>
        <p:blipFill>
          <a:blip r:embed="rId3"/>
          <a:stretch>
            <a:fillRect/>
          </a:stretch>
        </p:blipFill>
        <p:spPr>
          <a:xfrm>
            <a:off x="5426050" y="2179930"/>
            <a:ext cx="395021" cy="395021"/>
          </a:xfrm>
          <a:prstGeom prst="rect">
            <a:avLst/>
          </a:prstGeom>
        </p:spPr>
      </p:pic>
      <p:sp>
        <p:nvSpPr>
          <p:cNvPr id="17" name="Text 13"/>
          <p:cNvSpPr txBox="1"/>
          <p:nvPr/>
        </p:nvSpPr>
        <p:spPr>
          <a:xfrm>
            <a:off x="6309360" y="1920240"/>
            <a:ext cx="5056632" cy="411480"/>
          </a:xfrm>
          <a:prstGeom prst="rect">
            <a:avLst/>
          </a:prstGeom>
          <a:noFill/>
          <a:ln/>
        </p:spPr>
        <p:txBody>
          <a:bodyPr wrap="square" lIns="0" tIns="0" rIns="0" bIns="0" rtlCol="0" anchor="t"/>
          <a:lstStyle/>
          <a:p>
            <a:pPr marL="0" indent="0">
              <a:buNone/>
            </a:pPr>
            <a:r>
              <a:rPr lang="en-US" sz="2000" b="1" dirty="0">
                <a:solidFill>
                  <a:srgbClr val="1F1A4E"/>
                </a:solidFill>
                <a:latin typeface="Calibri" pitchFamily="34" charset="0"/>
                <a:ea typeface="Calibri" pitchFamily="34" charset="-122"/>
                <a:cs typeface="Calibri" pitchFamily="34" charset="-120"/>
              </a:rPr>
              <a:t>Primär: Planende</a:t>
            </a:r>
            <a:endParaRPr lang="en-US" sz="2000" dirty="0"/>
          </a:p>
        </p:txBody>
      </p:sp>
      <p:sp>
        <p:nvSpPr>
          <p:cNvPr id="18" name="Text 14"/>
          <p:cNvSpPr txBox="1"/>
          <p:nvPr/>
        </p:nvSpPr>
        <p:spPr>
          <a:xfrm>
            <a:off x="6309360" y="2423160"/>
            <a:ext cx="5056632" cy="1188720"/>
          </a:xfrm>
          <a:prstGeom prst="rect">
            <a:avLst/>
          </a:prstGeom>
          <a:noFill/>
          <a:ln/>
        </p:spPr>
        <p:txBody>
          <a:bodyPr wrap="square" lIns="0" tIns="0" rIns="0" bIns="0" rtlCol="0" anchor="t"/>
          <a:lstStyle/>
          <a:p>
            <a:pPr marL="0" indent="0">
              <a:buNone/>
            </a:pPr>
            <a:r>
              <a:rPr lang="en-US" sz="1500" dirty="0">
                <a:solidFill>
                  <a:srgbClr val="24204A"/>
                </a:solidFill>
                <a:latin typeface="Calibri" pitchFamily="34" charset="0"/>
                <a:ea typeface="Calibri" pitchFamily="34" charset="-122"/>
                <a:cs typeface="Calibri" pitchFamily="34" charset="-120"/>
              </a:rPr>
              <a:t>Inhaber:innen kleiner Betriebe sowie Filial- und Schichtleitungen </a:t>
            </a:r>
            <a:r>
              <a:rPr lang="en-US" sz="1500" dirty="0" err="1">
                <a:solidFill>
                  <a:srgbClr val="24204A"/>
                </a:solidFill>
                <a:latin typeface="Calibri" pitchFamily="34" charset="0"/>
                <a:ea typeface="Calibri" pitchFamily="34" charset="-122"/>
                <a:cs typeface="Calibri" pitchFamily="34" charset="-120"/>
              </a:rPr>
              <a:t>mittlere</a:t>
            </a:r>
            <a:r>
              <a:rPr lang="en-US" sz="1500" dirty="0">
                <a:solidFill>
                  <a:srgbClr val="24204A"/>
                </a:solidFill>
                <a:latin typeface="Calibri" pitchFamily="34" charset="0"/>
                <a:ea typeface="Calibri" pitchFamily="34" charset="-122"/>
                <a:cs typeface="Calibri" pitchFamily="34" charset="-120"/>
              </a:rPr>
              <a:t> Unternehmen. Sie erstellen den Plan und entscheiden über den Einsatz der Software.</a:t>
            </a:r>
            <a:endParaRPr lang="en-US" sz="1500" dirty="0"/>
          </a:p>
        </p:txBody>
      </p:sp>
      <p:sp>
        <p:nvSpPr>
          <p:cNvPr id="19" name="Shape 15"/>
          <p:cNvSpPr/>
          <p:nvPr/>
        </p:nvSpPr>
        <p:spPr>
          <a:xfrm>
            <a:off x="4892040" y="3886200"/>
            <a:ext cx="6748272" cy="2148840"/>
          </a:xfrm>
          <a:prstGeom prst="roundRect">
            <a:avLst>
              <a:gd name="adj" fmla="val 5106"/>
            </a:avLst>
          </a:prstGeom>
          <a:solidFill>
            <a:srgbClr val="DDF3F0"/>
          </a:solidFill>
          <a:ln w="9525">
            <a:solidFill>
              <a:srgbClr val="DDF3F0"/>
            </a:solidFill>
            <a:prstDash val="solid"/>
          </a:ln>
        </p:spPr>
        <p:txBody>
          <a:bodyPr/>
          <a:lstStyle/>
          <a:p>
            <a:endParaRPr lang="de-IN"/>
          </a:p>
        </p:txBody>
      </p:sp>
      <p:sp>
        <p:nvSpPr>
          <p:cNvPr id="20" name="Shape 16"/>
          <p:cNvSpPr/>
          <p:nvPr/>
        </p:nvSpPr>
        <p:spPr>
          <a:xfrm>
            <a:off x="5212080" y="4251960"/>
            <a:ext cx="822960" cy="822960"/>
          </a:xfrm>
          <a:prstGeom prst="ellipse">
            <a:avLst/>
          </a:prstGeom>
          <a:solidFill>
            <a:srgbClr val="0E8F82"/>
          </a:solidFill>
          <a:ln w="12700">
            <a:solidFill>
              <a:srgbClr val="0E8F82"/>
            </a:solidFill>
            <a:prstDash val="solid"/>
          </a:ln>
        </p:spPr>
        <p:txBody>
          <a:bodyPr/>
          <a:lstStyle/>
          <a:p>
            <a:endParaRPr lang="de-IN"/>
          </a:p>
        </p:txBody>
      </p:sp>
      <p:pic>
        <p:nvPicPr>
          <p:cNvPr id="21" name="Image 1" descr="preencoded.png"/>
          <p:cNvPicPr>
            <a:picLocks noChangeAspect="1"/>
          </p:cNvPicPr>
          <p:nvPr/>
        </p:nvPicPr>
        <p:blipFill>
          <a:blip r:embed="rId4"/>
          <a:stretch>
            <a:fillRect/>
          </a:stretch>
        </p:blipFill>
        <p:spPr>
          <a:xfrm>
            <a:off x="5426050" y="4465930"/>
            <a:ext cx="395021" cy="395021"/>
          </a:xfrm>
          <a:prstGeom prst="rect">
            <a:avLst/>
          </a:prstGeom>
        </p:spPr>
      </p:pic>
      <p:sp>
        <p:nvSpPr>
          <p:cNvPr id="22" name="Text 17"/>
          <p:cNvSpPr txBox="1"/>
          <p:nvPr/>
        </p:nvSpPr>
        <p:spPr>
          <a:xfrm>
            <a:off x="6309360" y="4206240"/>
            <a:ext cx="5056632" cy="411480"/>
          </a:xfrm>
          <a:prstGeom prst="rect">
            <a:avLst/>
          </a:prstGeom>
          <a:noFill/>
          <a:ln/>
        </p:spPr>
        <p:txBody>
          <a:bodyPr wrap="square" lIns="0" tIns="0" rIns="0" bIns="0" rtlCol="0" anchor="t"/>
          <a:lstStyle/>
          <a:p>
            <a:pPr marL="0" indent="0">
              <a:buNone/>
            </a:pPr>
            <a:r>
              <a:rPr lang="en-US" sz="2000" b="1" dirty="0">
                <a:solidFill>
                  <a:srgbClr val="1F1A4E"/>
                </a:solidFill>
                <a:latin typeface="Calibri" pitchFamily="34" charset="0"/>
                <a:ea typeface="Calibri" pitchFamily="34" charset="-122"/>
                <a:cs typeface="Calibri" pitchFamily="34" charset="-120"/>
              </a:rPr>
              <a:t>Sekundär: Mitarbeitende</a:t>
            </a:r>
            <a:endParaRPr lang="en-US" sz="2000" dirty="0"/>
          </a:p>
        </p:txBody>
      </p:sp>
      <p:sp>
        <p:nvSpPr>
          <p:cNvPr id="23" name="Text 18"/>
          <p:cNvSpPr txBox="1"/>
          <p:nvPr/>
        </p:nvSpPr>
        <p:spPr>
          <a:xfrm>
            <a:off x="6309360" y="4709160"/>
            <a:ext cx="5056632" cy="1188720"/>
          </a:xfrm>
          <a:prstGeom prst="rect">
            <a:avLst/>
          </a:prstGeom>
          <a:noFill/>
          <a:ln/>
        </p:spPr>
        <p:txBody>
          <a:bodyPr wrap="square" lIns="0" tIns="0" rIns="0" bIns="0" rtlCol="0" anchor="t"/>
          <a:lstStyle/>
          <a:p>
            <a:pPr marL="0" indent="0">
              <a:buNone/>
            </a:pPr>
            <a:r>
              <a:rPr lang="en-US" sz="1500" dirty="0">
                <a:solidFill>
                  <a:srgbClr val="24204A"/>
                </a:solidFill>
                <a:latin typeface="Calibri" pitchFamily="34" charset="0"/>
                <a:ea typeface="Calibri" pitchFamily="34" charset="-122"/>
                <a:cs typeface="Calibri" pitchFamily="34" charset="-120"/>
              </a:rPr>
              <a:t>Beschäftigte in Vollzeit, Teilzeit, als Studierende oder im Minijob. Sie tragen ihre Verfügbarkeiten ein und arbeiten nach dem Plan.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1 · WERTVERSPRECHEN &amp; LÖSUNG</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Vom Planbauen zum Planprüfen</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5</a:t>
            </a:r>
            <a:endParaRPr lang="en-US" sz="900" dirty="0"/>
          </a:p>
        </p:txBody>
      </p:sp>
      <p:sp>
        <p:nvSpPr>
          <p:cNvPr id="9" name="Shape 6"/>
          <p:cNvSpPr/>
          <p:nvPr/>
        </p:nvSpPr>
        <p:spPr>
          <a:xfrm>
            <a:off x="548640" y="1508760"/>
            <a:ext cx="11091672" cy="1143000"/>
          </a:xfrm>
          <a:prstGeom prst="roundRect">
            <a:avLst>
              <a:gd name="adj" fmla="val 9600"/>
            </a:avLst>
          </a:prstGeom>
          <a:solidFill>
            <a:srgbClr val="EEEAFF"/>
          </a:solidFill>
          <a:ln w="9525">
            <a:solidFill>
              <a:srgbClr val="EEEAFF"/>
            </a:solidFill>
            <a:prstDash val="solid"/>
          </a:ln>
        </p:spPr>
        <p:txBody>
          <a:bodyPr/>
          <a:lstStyle/>
          <a:p>
            <a:endParaRPr lang="de-IN"/>
          </a:p>
        </p:txBody>
      </p:sp>
      <p:sp>
        <p:nvSpPr>
          <p:cNvPr id="10" name="Shape 7"/>
          <p:cNvSpPr/>
          <p:nvPr/>
        </p:nvSpPr>
        <p:spPr>
          <a:xfrm>
            <a:off x="822960" y="1737360"/>
            <a:ext cx="685800" cy="685800"/>
          </a:xfrm>
          <a:prstGeom prst="ellipse">
            <a:avLst/>
          </a:prstGeom>
          <a:solidFill>
            <a:srgbClr val="6C4FF0"/>
          </a:solidFill>
          <a:ln w="12700">
            <a:solidFill>
              <a:srgbClr val="6C4FF0"/>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1001268" y="1915668"/>
            <a:ext cx="329184" cy="329184"/>
          </a:xfrm>
          <a:prstGeom prst="rect">
            <a:avLst/>
          </a:prstGeom>
        </p:spPr>
      </p:pic>
      <p:sp>
        <p:nvSpPr>
          <p:cNvPr id="12" name="Text 8"/>
          <p:cNvSpPr txBox="1"/>
          <p:nvPr/>
        </p:nvSpPr>
        <p:spPr>
          <a:xfrm>
            <a:off x="1737360" y="1508760"/>
            <a:ext cx="9692640" cy="1143000"/>
          </a:xfrm>
          <a:prstGeom prst="rect">
            <a:avLst/>
          </a:prstGeom>
          <a:noFill/>
          <a:ln/>
        </p:spPr>
        <p:txBody>
          <a:bodyPr wrap="square" lIns="0" tIns="0" rIns="0" bIns="0" rtlCol="0" anchor="ctr"/>
          <a:lstStyle/>
          <a:p>
            <a:pPr marL="0" indent="0">
              <a:buNone/>
            </a:pPr>
            <a:r>
              <a:rPr lang="en-US" sz="1700" b="1" dirty="0">
                <a:solidFill>
                  <a:srgbClr val="1F1A4E"/>
                </a:solidFill>
                <a:latin typeface="Calibri" pitchFamily="34" charset="0"/>
                <a:ea typeface="Calibri" pitchFamily="34" charset="-122"/>
                <a:cs typeface="Calibri" pitchFamily="34" charset="-120"/>
              </a:rPr>
              <a:t>ShiftPlanner erstellt aus Personalbedarf und priorisierten Verfügbarkeiten einen regelkonformen Planentwurf. Die Führungskraft prüft und veröffentlicht ihn nur noch – fair und nachvollziehbar für alle.</a:t>
            </a:r>
            <a:endParaRPr lang="en-US" sz="1700" dirty="0"/>
          </a:p>
        </p:txBody>
      </p:sp>
      <p:sp>
        <p:nvSpPr>
          <p:cNvPr id="13" name="Shape 9"/>
          <p:cNvSpPr/>
          <p:nvPr/>
        </p:nvSpPr>
        <p:spPr>
          <a:xfrm>
            <a:off x="548640" y="2971800"/>
            <a:ext cx="2496312" cy="3063240"/>
          </a:xfrm>
          <a:prstGeom prst="roundRect">
            <a:avLst>
              <a:gd name="adj" fmla="val 439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4" name="Shape 10"/>
          <p:cNvSpPr/>
          <p:nvPr/>
        </p:nvSpPr>
        <p:spPr>
          <a:xfrm>
            <a:off x="822960" y="3246120"/>
            <a:ext cx="685800" cy="685800"/>
          </a:xfrm>
          <a:prstGeom prst="ellipse">
            <a:avLst/>
          </a:prstGeom>
          <a:solidFill>
            <a:srgbClr val="E8524F"/>
          </a:solidFill>
          <a:ln w="12700">
            <a:solidFill>
              <a:srgbClr val="E8524F"/>
            </a:solidFill>
            <a:prstDash val="solid"/>
          </a:ln>
        </p:spPr>
        <p:txBody>
          <a:bodyPr/>
          <a:lstStyle/>
          <a:p>
            <a:endParaRPr lang="de-IN"/>
          </a:p>
        </p:txBody>
      </p:sp>
      <p:pic>
        <p:nvPicPr>
          <p:cNvPr id="15" name="Image 1" descr="preencoded.png"/>
          <p:cNvPicPr>
            <a:picLocks noChangeAspect="1"/>
          </p:cNvPicPr>
          <p:nvPr/>
        </p:nvPicPr>
        <p:blipFill>
          <a:blip r:embed="rId4"/>
          <a:stretch>
            <a:fillRect/>
          </a:stretch>
        </p:blipFill>
        <p:spPr>
          <a:xfrm>
            <a:off x="1001268" y="3424428"/>
            <a:ext cx="329184" cy="329184"/>
          </a:xfrm>
          <a:prstGeom prst="rect">
            <a:avLst/>
          </a:prstGeom>
        </p:spPr>
      </p:pic>
      <p:sp>
        <p:nvSpPr>
          <p:cNvPr id="16" name="Text 11"/>
          <p:cNvSpPr txBox="1"/>
          <p:nvPr/>
        </p:nvSpPr>
        <p:spPr>
          <a:xfrm>
            <a:off x="822960" y="4069080"/>
            <a:ext cx="2039112" cy="274320"/>
          </a:xfrm>
          <a:prstGeom prst="rect">
            <a:avLst/>
          </a:prstGeom>
          <a:noFill/>
          <a:ln/>
        </p:spPr>
        <p:txBody>
          <a:bodyPr wrap="square" lIns="0" tIns="0" rIns="0" bIns="0" rtlCol="0" anchor="t"/>
          <a:lstStyle/>
          <a:p>
            <a:pPr marL="0" indent="0">
              <a:buNone/>
            </a:pPr>
            <a:r>
              <a:rPr lang="en-US" sz="1100" b="1" kern="0" spc="100" dirty="0">
                <a:solidFill>
                  <a:srgbClr val="E8524F"/>
                </a:solidFill>
                <a:latin typeface="Calibri" pitchFamily="34" charset="0"/>
                <a:ea typeface="Calibri" pitchFamily="34" charset="-122"/>
                <a:cs typeface="Calibri" pitchFamily="34" charset="-120"/>
              </a:rPr>
              <a:t>WOCHE 1</a:t>
            </a:r>
            <a:endParaRPr lang="en-US" sz="1100" dirty="0"/>
          </a:p>
        </p:txBody>
      </p:sp>
      <p:sp>
        <p:nvSpPr>
          <p:cNvPr id="17" name="Text 12"/>
          <p:cNvSpPr txBox="1"/>
          <p:nvPr/>
        </p:nvSpPr>
        <p:spPr>
          <a:xfrm>
            <a:off x="822960" y="4343400"/>
            <a:ext cx="2039112"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Bedarf</a:t>
            </a:r>
            <a:endParaRPr lang="en-US" sz="1900" dirty="0"/>
          </a:p>
        </p:txBody>
      </p:sp>
      <p:sp>
        <p:nvSpPr>
          <p:cNvPr id="18" name="Text 13"/>
          <p:cNvSpPr txBox="1"/>
          <p:nvPr/>
        </p:nvSpPr>
        <p:spPr>
          <a:xfrm>
            <a:off x="822960" y="4800600"/>
            <a:ext cx="2039112" cy="114300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Führungskraft legt Schichtvorlagen, Besetzung, Qualifikationen und Urlaube fest.</a:t>
            </a:r>
            <a:endParaRPr lang="en-US" sz="1350" dirty="0"/>
          </a:p>
        </p:txBody>
      </p:sp>
      <p:pic>
        <p:nvPicPr>
          <p:cNvPr id="19" name="Image 2" descr="preencoded.png"/>
          <p:cNvPicPr>
            <a:picLocks noChangeAspect="1"/>
          </p:cNvPicPr>
          <p:nvPr/>
        </p:nvPicPr>
        <p:blipFill>
          <a:blip r:embed="rId5"/>
          <a:stretch>
            <a:fillRect/>
          </a:stretch>
        </p:blipFill>
        <p:spPr>
          <a:xfrm>
            <a:off x="3136392" y="4343400"/>
            <a:ext cx="182880" cy="274320"/>
          </a:xfrm>
          <a:prstGeom prst="rect">
            <a:avLst/>
          </a:prstGeom>
        </p:spPr>
      </p:pic>
      <p:sp>
        <p:nvSpPr>
          <p:cNvPr id="20" name="Shape 14"/>
          <p:cNvSpPr/>
          <p:nvPr/>
        </p:nvSpPr>
        <p:spPr>
          <a:xfrm>
            <a:off x="3410712" y="2971800"/>
            <a:ext cx="2496312" cy="3063240"/>
          </a:xfrm>
          <a:prstGeom prst="roundRect">
            <a:avLst>
              <a:gd name="adj" fmla="val 439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1" name="Shape 15"/>
          <p:cNvSpPr/>
          <p:nvPr/>
        </p:nvSpPr>
        <p:spPr>
          <a:xfrm>
            <a:off x="3685032" y="3246120"/>
            <a:ext cx="685800" cy="685800"/>
          </a:xfrm>
          <a:prstGeom prst="ellipse">
            <a:avLst/>
          </a:prstGeom>
          <a:solidFill>
            <a:srgbClr val="0E8F82"/>
          </a:solidFill>
          <a:ln w="12700">
            <a:solidFill>
              <a:srgbClr val="0E8F82"/>
            </a:solidFill>
            <a:prstDash val="solid"/>
          </a:ln>
        </p:spPr>
        <p:txBody>
          <a:bodyPr/>
          <a:lstStyle/>
          <a:p>
            <a:endParaRPr lang="de-IN"/>
          </a:p>
        </p:txBody>
      </p:sp>
      <p:pic>
        <p:nvPicPr>
          <p:cNvPr id="22" name="Image 3" descr="preencoded.png"/>
          <p:cNvPicPr>
            <a:picLocks noChangeAspect="1"/>
          </p:cNvPicPr>
          <p:nvPr/>
        </p:nvPicPr>
        <p:blipFill>
          <a:blip r:embed="rId6"/>
          <a:stretch>
            <a:fillRect/>
          </a:stretch>
        </p:blipFill>
        <p:spPr>
          <a:xfrm>
            <a:off x="3863340" y="3424428"/>
            <a:ext cx="329184" cy="329184"/>
          </a:xfrm>
          <a:prstGeom prst="rect">
            <a:avLst/>
          </a:prstGeom>
        </p:spPr>
      </p:pic>
      <p:sp>
        <p:nvSpPr>
          <p:cNvPr id="23" name="Text 16"/>
          <p:cNvSpPr txBox="1"/>
          <p:nvPr/>
        </p:nvSpPr>
        <p:spPr>
          <a:xfrm>
            <a:off x="3685032" y="4069080"/>
            <a:ext cx="2039112" cy="274320"/>
          </a:xfrm>
          <a:prstGeom prst="rect">
            <a:avLst/>
          </a:prstGeom>
          <a:noFill/>
          <a:ln/>
        </p:spPr>
        <p:txBody>
          <a:bodyPr wrap="square" lIns="0" tIns="0" rIns="0" bIns="0" rtlCol="0" anchor="t"/>
          <a:lstStyle/>
          <a:p>
            <a:pPr marL="0" indent="0">
              <a:buNone/>
            </a:pPr>
            <a:r>
              <a:rPr lang="en-US" sz="1100" b="1" kern="0" spc="100" dirty="0">
                <a:solidFill>
                  <a:srgbClr val="0E8F82"/>
                </a:solidFill>
                <a:latin typeface="Calibri" pitchFamily="34" charset="0"/>
                <a:ea typeface="Calibri" pitchFamily="34" charset="-122"/>
                <a:cs typeface="Calibri" pitchFamily="34" charset="-120"/>
              </a:rPr>
              <a:t>WOCHE 2</a:t>
            </a:r>
            <a:endParaRPr lang="en-US" sz="1100" dirty="0"/>
          </a:p>
        </p:txBody>
      </p:sp>
      <p:sp>
        <p:nvSpPr>
          <p:cNvPr id="24" name="Text 17"/>
          <p:cNvSpPr txBox="1"/>
          <p:nvPr/>
        </p:nvSpPr>
        <p:spPr>
          <a:xfrm>
            <a:off x="3685032" y="4343400"/>
            <a:ext cx="2039112"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Verfügbarkeiten</a:t>
            </a:r>
            <a:endParaRPr lang="en-US" sz="1900" dirty="0"/>
          </a:p>
        </p:txBody>
      </p:sp>
      <p:sp>
        <p:nvSpPr>
          <p:cNvPr id="25" name="Text 18"/>
          <p:cNvSpPr txBox="1"/>
          <p:nvPr/>
        </p:nvSpPr>
        <p:spPr>
          <a:xfrm>
            <a:off x="3685032" y="4800600"/>
            <a:ext cx="2039112" cy="114300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Mitarbeitende tragen ihre Verfügbarkeiten mit Priorität 1–3 ein.</a:t>
            </a:r>
            <a:endParaRPr lang="en-US" sz="1350" dirty="0"/>
          </a:p>
        </p:txBody>
      </p:sp>
      <p:pic>
        <p:nvPicPr>
          <p:cNvPr id="26" name="Image 4" descr="preencoded.png"/>
          <p:cNvPicPr>
            <a:picLocks noChangeAspect="1"/>
          </p:cNvPicPr>
          <p:nvPr/>
        </p:nvPicPr>
        <p:blipFill>
          <a:blip r:embed="rId5"/>
          <a:stretch>
            <a:fillRect/>
          </a:stretch>
        </p:blipFill>
        <p:spPr>
          <a:xfrm>
            <a:off x="5998464" y="4343400"/>
            <a:ext cx="182880" cy="274320"/>
          </a:xfrm>
          <a:prstGeom prst="rect">
            <a:avLst/>
          </a:prstGeom>
        </p:spPr>
      </p:pic>
      <p:sp>
        <p:nvSpPr>
          <p:cNvPr id="27" name="Shape 19"/>
          <p:cNvSpPr/>
          <p:nvPr/>
        </p:nvSpPr>
        <p:spPr>
          <a:xfrm>
            <a:off x="6272784" y="2971800"/>
            <a:ext cx="2496312" cy="3063240"/>
          </a:xfrm>
          <a:prstGeom prst="roundRect">
            <a:avLst>
              <a:gd name="adj" fmla="val 439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8" name="Shape 20"/>
          <p:cNvSpPr/>
          <p:nvPr/>
        </p:nvSpPr>
        <p:spPr>
          <a:xfrm>
            <a:off x="6547104" y="3246120"/>
            <a:ext cx="685800" cy="685800"/>
          </a:xfrm>
          <a:prstGeom prst="ellipse">
            <a:avLst/>
          </a:prstGeom>
          <a:solidFill>
            <a:srgbClr val="6C4FF0"/>
          </a:solidFill>
          <a:ln w="12700">
            <a:solidFill>
              <a:srgbClr val="6C4FF0"/>
            </a:solidFill>
            <a:prstDash val="solid"/>
          </a:ln>
        </p:spPr>
        <p:txBody>
          <a:bodyPr/>
          <a:lstStyle/>
          <a:p>
            <a:endParaRPr lang="de-IN"/>
          </a:p>
        </p:txBody>
      </p:sp>
      <p:pic>
        <p:nvPicPr>
          <p:cNvPr id="29" name="Image 5" descr="preencoded.png"/>
          <p:cNvPicPr>
            <a:picLocks noChangeAspect="1"/>
          </p:cNvPicPr>
          <p:nvPr/>
        </p:nvPicPr>
        <p:blipFill>
          <a:blip r:embed="rId3"/>
          <a:stretch>
            <a:fillRect/>
          </a:stretch>
        </p:blipFill>
        <p:spPr>
          <a:xfrm>
            <a:off x="6725412" y="3424428"/>
            <a:ext cx="329184" cy="329184"/>
          </a:xfrm>
          <a:prstGeom prst="rect">
            <a:avLst/>
          </a:prstGeom>
        </p:spPr>
      </p:pic>
      <p:sp>
        <p:nvSpPr>
          <p:cNvPr id="30" name="Text 21"/>
          <p:cNvSpPr txBox="1"/>
          <p:nvPr/>
        </p:nvSpPr>
        <p:spPr>
          <a:xfrm>
            <a:off x="6547104" y="4069080"/>
            <a:ext cx="2039112" cy="274320"/>
          </a:xfrm>
          <a:prstGeom prst="rect">
            <a:avLst/>
          </a:prstGeom>
          <a:noFill/>
          <a:ln/>
        </p:spPr>
        <p:txBody>
          <a:bodyPr wrap="square" lIns="0" tIns="0" rIns="0" bIns="0" rtlCol="0" anchor="t"/>
          <a:lstStyle/>
          <a:p>
            <a:pPr marL="0" indent="0">
              <a:buNone/>
            </a:pPr>
            <a:r>
              <a:rPr lang="en-US" sz="1100" b="1" kern="0" spc="100" dirty="0">
                <a:solidFill>
                  <a:srgbClr val="6C4FF0"/>
                </a:solidFill>
                <a:latin typeface="Calibri" pitchFamily="34" charset="0"/>
                <a:ea typeface="Calibri" pitchFamily="34" charset="-122"/>
                <a:cs typeface="Calibri" pitchFamily="34" charset="-120"/>
              </a:rPr>
              <a:t>ANFANG WOCHE 3</a:t>
            </a:r>
            <a:endParaRPr lang="en-US" sz="1100" dirty="0"/>
          </a:p>
        </p:txBody>
      </p:sp>
      <p:sp>
        <p:nvSpPr>
          <p:cNvPr id="31" name="Text 22"/>
          <p:cNvSpPr txBox="1"/>
          <p:nvPr/>
        </p:nvSpPr>
        <p:spPr>
          <a:xfrm>
            <a:off x="6547104" y="4343400"/>
            <a:ext cx="2039112"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Entwurf</a:t>
            </a:r>
            <a:endParaRPr lang="en-US" sz="1900" dirty="0"/>
          </a:p>
        </p:txBody>
      </p:sp>
      <p:sp>
        <p:nvSpPr>
          <p:cNvPr id="32" name="Text 23"/>
          <p:cNvSpPr txBox="1"/>
          <p:nvPr/>
        </p:nvSpPr>
        <p:spPr>
          <a:xfrm>
            <a:off x="6547104" y="4800600"/>
            <a:ext cx="2039112" cy="114300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ShiftPlanner erstellt einen regelkonformen, fairen Entwurf und markiert unbesetzbare Schichten.</a:t>
            </a:r>
            <a:endParaRPr lang="en-US" sz="1350" dirty="0"/>
          </a:p>
        </p:txBody>
      </p:sp>
      <p:pic>
        <p:nvPicPr>
          <p:cNvPr id="33" name="Image 6" descr="preencoded.png"/>
          <p:cNvPicPr>
            <a:picLocks noChangeAspect="1"/>
          </p:cNvPicPr>
          <p:nvPr/>
        </p:nvPicPr>
        <p:blipFill>
          <a:blip r:embed="rId5"/>
          <a:stretch>
            <a:fillRect/>
          </a:stretch>
        </p:blipFill>
        <p:spPr>
          <a:xfrm>
            <a:off x="8860536" y="4343400"/>
            <a:ext cx="182880" cy="274320"/>
          </a:xfrm>
          <a:prstGeom prst="rect">
            <a:avLst/>
          </a:prstGeom>
        </p:spPr>
      </p:pic>
      <p:sp>
        <p:nvSpPr>
          <p:cNvPr id="34" name="Shape 24"/>
          <p:cNvSpPr/>
          <p:nvPr/>
        </p:nvSpPr>
        <p:spPr>
          <a:xfrm>
            <a:off x="9134856" y="2971800"/>
            <a:ext cx="2496312" cy="3063240"/>
          </a:xfrm>
          <a:prstGeom prst="roundRect">
            <a:avLst>
              <a:gd name="adj" fmla="val 439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35" name="Shape 25"/>
          <p:cNvSpPr/>
          <p:nvPr/>
        </p:nvSpPr>
        <p:spPr>
          <a:xfrm>
            <a:off x="9409176" y="3246120"/>
            <a:ext cx="685800" cy="685800"/>
          </a:xfrm>
          <a:prstGeom prst="ellipse">
            <a:avLst/>
          </a:prstGeom>
          <a:solidFill>
            <a:srgbClr val="E89A0C"/>
          </a:solidFill>
          <a:ln w="12700">
            <a:solidFill>
              <a:srgbClr val="E89A0C"/>
            </a:solidFill>
            <a:prstDash val="solid"/>
          </a:ln>
        </p:spPr>
        <p:txBody>
          <a:bodyPr/>
          <a:lstStyle/>
          <a:p>
            <a:endParaRPr lang="de-IN"/>
          </a:p>
        </p:txBody>
      </p:sp>
      <p:pic>
        <p:nvPicPr>
          <p:cNvPr id="36" name="Image 7" descr="preencoded.png"/>
          <p:cNvPicPr>
            <a:picLocks noChangeAspect="1"/>
          </p:cNvPicPr>
          <p:nvPr/>
        </p:nvPicPr>
        <p:blipFill>
          <a:blip r:embed="rId7"/>
          <a:stretch>
            <a:fillRect/>
          </a:stretch>
        </p:blipFill>
        <p:spPr>
          <a:xfrm>
            <a:off x="9587484" y="3424428"/>
            <a:ext cx="329184" cy="329184"/>
          </a:xfrm>
          <a:prstGeom prst="rect">
            <a:avLst/>
          </a:prstGeom>
        </p:spPr>
      </p:pic>
      <p:sp>
        <p:nvSpPr>
          <p:cNvPr id="37" name="Text 26"/>
          <p:cNvSpPr txBox="1"/>
          <p:nvPr/>
        </p:nvSpPr>
        <p:spPr>
          <a:xfrm>
            <a:off x="9409176" y="4069080"/>
            <a:ext cx="2039112" cy="274320"/>
          </a:xfrm>
          <a:prstGeom prst="rect">
            <a:avLst/>
          </a:prstGeom>
          <a:noFill/>
          <a:ln/>
        </p:spPr>
        <p:txBody>
          <a:bodyPr wrap="square" lIns="0" tIns="0" rIns="0" bIns="0" rtlCol="0" anchor="t"/>
          <a:lstStyle/>
          <a:p>
            <a:pPr marL="0" indent="0">
              <a:buNone/>
            </a:pPr>
            <a:r>
              <a:rPr lang="en-US" sz="1100" b="1" kern="0" spc="100" dirty="0">
                <a:solidFill>
                  <a:srgbClr val="7A4F00"/>
                </a:solidFill>
                <a:latin typeface="Calibri" pitchFamily="34" charset="0"/>
                <a:ea typeface="Calibri" pitchFamily="34" charset="-122"/>
                <a:cs typeface="Calibri" pitchFamily="34" charset="-120"/>
              </a:rPr>
              <a:t>WOCHE 3</a:t>
            </a:r>
            <a:endParaRPr lang="en-US" sz="1100" dirty="0"/>
          </a:p>
        </p:txBody>
      </p:sp>
      <p:sp>
        <p:nvSpPr>
          <p:cNvPr id="38" name="Text 27"/>
          <p:cNvSpPr txBox="1"/>
          <p:nvPr/>
        </p:nvSpPr>
        <p:spPr>
          <a:xfrm>
            <a:off x="9409176" y="4343400"/>
            <a:ext cx="2039112"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Freigabe</a:t>
            </a:r>
            <a:endParaRPr lang="en-US" sz="1900" dirty="0"/>
          </a:p>
        </p:txBody>
      </p:sp>
      <p:sp>
        <p:nvSpPr>
          <p:cNvPr id="39" name="Text 28"/>
          <p:cNvSpPr txBox="1"/>
          <p:nvPr/>
        </p:nvSpPr>
        <p:spPr>
          <a:xfrm>
            <a:off x="9409176" y="4800600"/>
            <a:ext cx="2039112" cy="114300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Führungskraft prüft, korrigiert, holt ggf. Genehmigungen ein und veröffentlicht.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1 · UMFANG</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Was das MVP kann – und was bewusst nicht</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6</a:t>
            </a:r>
            <a:endParaRPr lang="en-US" sz="900" dirty="0"/>
          </a:p>
        </p:txBody>
      </p:sp>
      <p:sp>
        <p:nvSpPr>
          <p:cNvPr id="9" name="Shape 6"/>
          <p:cNvSpPr/>
          <p:nvPr/>
        </p:nvSpPr>
        <p:spPr>
          <a:xfrm>
            <a:off x="548640" y="1554480"/>
            <a:ext cx="6949440" cy="4526280"/>
          </a:xfrm>
          <a:prstGeom prst="roundRect">
            <a:avLst>
              <a:gd name="adj" fmla="val 2424"/>
            </a:avLst>
          </a:prstGeom>
          <a:solidFill>
            <a:srgbClr val="DDF3F0"/>
          </a:solidFill>
          <a:ln w="9525">
            <a:solidFill>
              <a:srgbClr val="DDF3F0"/>
            </a:solidFill>
            <a:prstDash val="solid"/>
          </a:ln>
        </p:spPr>
        <p:txBody>
          <a:bodyPr/>
          <a:lstStyle/>
          <a:p>
            <a:endParaRPr lang="de-IN"/>
          </a:p>
        </p:txBody>
      </p:sp>
      <p:sp>
        <p:nvSpPr>
          <p:cNvPr id="10" name="Text 7"/>
          <p:cNvSpPr txBox="1"/>
          <p:nvPr/>
        </p:nvSpPr>
        <p:spPr>
          <a:xfrm>
            <a:off x="868680" y="1737360"/>
            <a:ext cx="4572000" cy="411480"/>
          </a:xfrm>
          <a:prstGeom prst="rect">
            <a:avLst/>
          </a:prstGeom>
          <a:noFill/>
          <a:ln/>
        </p:spPr>
        <p:txBody>
          <a:bodyPr wrap="square" lIns="0" tIns="0" rIns="0" bIns="0" rtlCol="0" anchor="t"/>
          <a:lstStyle/>
          <a:p>
            <a:pPr marL="0" indent="0">
              <a:buNone/>
            </a:pPr>
            <a:r>
              <a:rPr lang="en-US" sz="2000" b="1" dirty="0">
                <a:solidFill>
                  <a:srgbClr val="0E8F82"/>
                </a:solidFill>
                <a:latin typeface="Calibri" pitchFamily="34" charset="0"/>
                <a:ea typeface="Calibri" pitchFamily="34" charset="-122"/>
                <a:cs typeface="Calibri" pitchFamily="34" charset="-120"/>
              </a:rPr>
              <a:t>Im MVP</a:t>
            </a:r>
            <a:endParaRPr lang="en-US" sz="2000" dirty="0"/>
          </a:p>
        </p:txBody>
      </p:sp>
      <p:pic>
        <p:nvPicPr>
          <p:cNvPr id="11" name="Image 0" descr="preencoded.png"/>
          <p:cNvPicPr>
            <a:picLocks noChangeAspect="1"/>
          </p:cNvPicPr>
          <p:nvPr/>
        </p:nvPicPr>
        <p:blipFill>
          <a:blip r:embed="rId3"/>
          <a:stretch>
            <a:fillRect/>
          </a:stretch>
        </p:blipFill>
        <p:spPr>
          <a:xfrm>
            <a:off x="868680" y="2331720"/>
            <a:ext cx="237744" cy="237744"/>
          </a:xfrm>
          <a:prstGeom prst="rect">
            <a:avLst/>
          </a:prstGeom>
        </p:spPr>
      </p:pic>
      <p:sp>
        <p:nvSpPr>
          <p:cNvPr id="12" name="Text 8"/>
          <p:cNvSpPr txBox="1"/>
          <p:nvPr/>
        </p:nvSpPr>
        <p:spPr>
          <a:xfrm>
            <a:off x="1234440" y="2286000"/>
            <a:ext cx="6080760" cy="45720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Automatischer Planentwurf aus Bedarf und Verfügbarkeiten mit Priorität 1–3</a:t>
            </a:r>
            <a:endParaRPr lang="en-US" sz="1400" dirty="0"/>
          </a:p>
        </p:txBody>
      </p:sp>
      <p:pic>
        <p:nvPicPr>
          <p:cNvPr id="13" name="Image 1" descr="preencoded.png"/>
          <p:cNvPicPr>
            <a:picLocks noChangeAspect="1"/>
          </p:cNvPicPr>
          <p:nvPr/>
        </p:nvPicPr>
        <p:blipFill>
          <a:blip r:embed="rId3"/>
          <a:stretch>
            <a:fillRect/>
          </a:stretch>
        </p:blipFill>
        <p:spPr>
          <a:xfrm>
            <a:off x="868680" y="2852928"/>
            <a:ext cx="237744" cy="237744"/>
          </a:xfrm>
          <a:prstGeom prst="rect">
            <a:avLst/>
          </a:prstGeom>
        </p:spPr>
      </p:pic>
      <p:sp>
        <p:nvSpPr>
          <p:cNvPr id="14" name="Text 9"/>
          <p:cNvSpPr txBox="1"/>
          <p:nvPr/>
        </p:nvSpPr>
        <p:spPr>
          <a:xfrm>
            <a:off x="1234440" y="2807208"/>
            <a:ext cx="6080760" cy="45720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Regelprüfung: max. Stunden pro Tag und Woche, Mindestruhezeit</a:t>
            </a:r>
            <a:endParaRPr lang="en-US" sz="1400" dirty="0"/>
          </a:p>
        </p:txBody>
      </p:sp>
      <p:pic>
        <p:nvPicPr>
          <p:cNvPr id="15" name="Image 2" descr="preencoded.png"/>
          <p:cNvPicPr>
            <a:picLocks noChangeAspect="1"/>
          </p:cNvPicPr>
          <p:nvPr/>
        </p:nvPicPr>
        <p:blipFill>
          <a:blip r:embed="rId3"/>
          <a:stretch>
            <a:fillRect/>
          </a:stretch>
        </p:blipFill>
        <p:spPr>
          <a:xfrm>
            <a:off x="868680" y="3374136"/>
            <a:ext cx="237744" cy="237744"/>
          </a:xfrm>
          <a:prstGeom prst="rect">
            <a:avLst/>
          </a:prstGeom>
        </p:spPr>
      </p:pic>
      <p:sp>
        <p:nvSpPr>
          <p:cNvPr id="16" name="Text 10"/>
          <p:cNvSpPr txBox="1"/>
          <p:nvPr/>
        </p:nvSpPr>
        <p:spPr>
          <a:xfrm>
            <a:off x="1234440" y="3328416"/>
            <a:ext cx="6080760" cy="45720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Vertragsstunden als Spanne je Vertragsart (Vollzeit, Teilzeit, Studierende, Minijob)</a:t>
            </a:r>
            <a:endParaRPr lang="en-US" sz="1400" dirty="0"/>
          </a:p>
        </p:txBody>
      </p:sp>
      <p:pic>
        <p:nvPicPr>
          <p:cNvPr id="17" name="Image 3" descr="preencoded.png"/>
          <p:cNvPicPr>
            <a:picLocks noChangeAspect="1"/>
          </p:cNvPicPr>
          <p:nvPr/>
        </p:nvPicPr>
        <p:blipFill>
          <a:blip r:embed="rId3"/>
          <a:stretch>
            <a:fillRect/>
          </a:stretch>
        </p:blipFill>
        <p:spPr>
          <a:xfrm>
            <a:off x="868680" y="3895344"/>
            <a:ext cx="237744" cy="237744"/>
          </a:xfrm>
          <a:prstGeom prst="rect">
            <a:avLst/>
          </a:prstGeom>
        </p:spPr>
      </p:pic>
      <p:sp>
        <p:nvSpPr>
          <p:cNvPr id="18" name="Text 11"/>
          <p:cNvSpPr txBox="1"/>
          <p:nvPr/>
        </p:nvSpPr>
        <p:spPr>
          <a:xfrm>
            <a:off x="1234440" y="3849624"/>
            <a:ext cx="6080760" cy="45720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Keine Planung an Urlaubstagen und </a:t>
            </a:r>
            <a:r>
              <a:rPr lang="en-US" sz="1400" dirty="0" err="1">
                <a:solidFill>
                  <a:srgbClr val="24204A"/>
                </a:solidFill>
                <a:latin typeface="Calibri" pitchFamily="34" charset="0"/>
                <a:ea typeface="Calibri" pitchFamily="34" charset="-122"/>
                <a:cs typeface="Calibri" pitchFamily="34" charset="-120"/>
              </a:rPr>
              <a:t>Feiertagen</a:t>
            </a:r>
            <a:endParaRPr lang="en-US" sz="1400" dirty="0"/>
          </a:p>
        </p:txBody>
      </p:sp>
      <p:pic>
        <p:nvPicPr>
          <p:cNvPr id="19" name="Image 4" descr="preencoded.png"/>
          <p:cNvPicPr>
            <a:picLocks noChangeAspect="1"/>
          </p:cNvPicPr>
          <p:nvPr/>
        </p:nvPicPr>
        <p:blipFill>
          <a:blip r:embed="rId3"/>
          <a:stretch>
            <a:fillRect/>
          </a:stretch>
        </p:blipFill>
        <p:spPr>
          <a:xfrm>
            <a:off x="868680" y="4416552"/>
            <a:ext cx="237744" cy="237744"/>
          </a:xfrm>
          <a:prstGeom prst="rect">
            <a:avLst/>
          </a:prstGeom>
        </p:spPr>
      </p:pic>
      <p:sp>
        <p:nvSpPr>
          <p:cNvPr id="20" name="Text 12"/>
          <p:cNvSpPr txBox="1"/>
          <p:nvPr/>
        </p:nvSpPr>
        <p:spPr>
          <a:xfrm>
            <a:off x="1234440" y="4370832"/>
            <a:ext cx="6080760" cy="45720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Unbesetzbare Schichten werden der Führungskraft markiert</a:t>
            </a:r>
            <a:endParaRPr lang="en-US" sz="1400" dirty="0"/>
          </a:p>
        </p:txBody>
      </p:sp>
      <p:pic>
        <p:nvPicPr>
          <p:cNvPr id="21" name="Image 5" descr="preencoded.png"/>
          <p:cNvPicPr>
            <a:picLocks noChangeAspect="1"/>
          </p:cNvPicPr>
          <p:nvPr/>
        </p:nvPicPr>
        <p:blipFill>
          <a:blip r:embed="rId3"/>
          <a:stretch>
            <a:fillRect/>
          </a:stretch>
        </p:blipFill>
        <p:spPr>
          <a:xfrm>
            <a:off x="868680" y="4937760"/>
            <a:ext cx="237744" cy="237744"/>
          </a:xfrm>
          <a:prstGeom prst="rect">
            <a:avLst/>
          </a:prstGeom>
        </p:spPr>
      </p:pic>
      <p:sp>
        <p:nvSpPr>
          <p:cNvPr id="22" name="Text 13"/>
          <p:cNvSpPr txBox="1"/>
          <p:nvPr/>
        </p:nvSpPr>
        <p:spPr>
          <a:xfrm>
            <a:off x="1234440" y="4892040"/>
            <a:ext cx="6080760" cy="45720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Fairness-Historie: veröffentlichte Pläne fließen in künftige Verteilungen ein</a:t>
            </a:r>
            <a:endParaRPr lang="en-US" sz="1400" dirty="0"/>
          </a:p>
        </p:txBody>
      </p:sp>
      <p:pic>
        <p:nvPicPr>
          <p:cNvPr id="23" name="Image 6" descr="preencoded.png"/>
          <p:cNvPicPr>
            <a:picLocks noChangeAspect="1"/>
          </p:cNvPicPr>
          <p:nvPr/>
        </p:nvPicPr>
        <p:blipFill>
          <a:blip r:embed="rId3"/>
          <a:stretch>
            <a:fillRect/>
          </a:stretch>
        </p:blipFill>
        <p:spPr>
          <a:xfrm>
            <a:off x="868680" y="5458968"/>
            <a:ext cx="237744" cy="237744"/>
          </a:xfrm>
          <a:prstGeom prst="rect">
            <a:avLst/>
          </a:prstGeom>
        </p:spPr>
      </p:pic>
      <p:sp>
        <p:nvSpPr>
          <p:cNvPr id="24" name="Text 14"/>
          <p:cNvSpPr txBox="1"/>
          <p:nvPr/>
        </p:nvSpPr>
        <p:spPr>
          <a:xfrm>
            <a:off x="1234440" y="5413248"/>
            <a:ext cx="6080760" cy="45720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Datenschutz: Verfügbarkeiten sehen nur die Person selbst und die Führungskraft</a:t>
            </a:r>
            <a:endParaRPr lang="en-US" sz="1400" dirty="0"/>
          </a:p>
        </p:txBody>
      </p:sp>
      <p:sp>
        <p:nvSpPr>
          <p:cNvPr id="25" name="Shape 15"/>
          <p:cNvSpPr/>
          <p:nvPr/>
        </p:nvSpPr>
        <p:spPr>
          <a:xfrm>
            <a:off x="7772400" y="1554480"/>
            <a:ext cx="3867912" cy="4526280"/>
          </a:xfrm>
          <a:prstGeom prst="roundRect">
            <a:avLst>
              <a:gd name="adj" fmla="val 2837"/>
            </a:avLst>
          </a:prstGeom>
          <a:solidFill>
            <a:srgbClr val="FDE9E8"/>
          </a:solidFill>
          <a:ln w="9525">
            <a:solidFill>
              <a:srgbClr val="FDE9E8"/>
            </a:solidFill>
            <a:prstDash val="solid"/>
          </a:ln>
        </p:spPr>
        <p:txBody>
          <a:bodyPr/>
          <a:lstStyle/>
          <a:p>
            <a:endParaRPr lang="de-IN"/>
          </a:p>
        </p:txBody>
      </p:sp>
      <p:sp>
        <p:nvSpPr>
          <p:cNvPr id="26" name="Text 16"/>
          <p:cNvSpPr txBox="1"/>
          <p:nvPr/>
        </p:nvSpPr>
        <p:spPr>
          <a:xfrm>
            <a:off x="8092440" y="1737360"/>
            <a:ext cx="3291840" cy="411480"/>
          </a:xfrm>
          <a:prstGeom prst="rect">
            <a:avLst/>
          </a:prstGeom>
          <a:noFill/>
          <a:ln/>
        </p:spPr>
        <p:txBody>
          <a:bodyPr wrap="square" lIns="0" tIns="0" rIns="0" bIns="0" rtlCol="0" anchor="t"/>
          <a:lstStyle/>
          <a:p>
            <a:pPr marL="0" indent="0">
              <a:buNone/>
            </a:pPr>
            <a:r>
              <a:rPr lang="en-US" sz="2000" b="1" dirty="0">
                <a:solidFill>
                  <a:srgbClr val="E8524F"/>
                </a:solidFill>
                <a:latin typeface="Calibri" pitchFamily="34" charset="0"/>
                <a:ea typeface="Calibri" pitchFamily="34" charset="-122"/>
                <a:cs typeface="Calibri" pitchFamily="34" charset="-120"/>
              </a:rPr>
              <a:t>Nicht im MVP</a:t>
            </a:r>
            <a:endParaRPr lang="en-US" sz="2000" dirty="0"/>
          </a:p>
        </p:txBody>
      </p:sp>
      <p:pic>
        <p:nvPicPr>
          <p:cNvPr id="27" name="Image 7" descr="preencoded.png"/>
          <p:cNvPicPr>
            <a:picLocks noChangeAspect="1"/>
          </p:cNvPicPr>
          <p:nvPr/>
        </p:nvPicPr>
        <p:blipFill>
          <a:blip r:embed="rId4"/>
          <a:stretch>
            <a:fillRect/>
          </a:stretch>
        </p:blipFill>
        <p:spPr>
          <a:xfrm>
            <a:off x="8092440" y="2331720"/>
            <a:ext cx="237744" cy="237744"/>
          </a:xfrm>
          <a:prstGeom prst="rect">
            <a:avLst/>
          </a:prstGeom>
        </p:spPr>
      </p:pic>
      <p:sp>
        <p:nvSpPr>
          <p:cNvPr id="28" name="Text 17"/>
          <p:cNvSpPr txBox="1"/>
          <p:nvPr/>
        </p:nvSpPr>
        <p:spPr>
          <a:xfrm>
            <a:off x="8458200" y="2286000"/>
            <a:ext cx="301752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Krankmeldungen</a:t>
            </a:r>
            <a:endParaRPr lang="en-US" sz="1400" dirty="0"/>
          </a:p>
        </p:txBody>
      </p:sp>
      <p:pic>
        <p:nvPicPr>
          <p:cNvPr id="29" name="Image 8" descr="preencoded.png"/>
          <p:cNvPicPr>
            <a:picLocks noChangeAspect="1"/>
          </p:cNvPicPr>
          <p:nvPr/>
        </p:nvPicPr>
        <p:blipFill>
          <a:blip r:embed="rId4"/>
          <a:stretch>
            <a:fillRect/>
          </a:stretch>
        </p:blipFill>
        <p:spPr>
          <a:xfrm>
            <a:off x="8092440" y="2807208"/>
            <a:ext cx="237744" cy="237744"/>
          </a:xfrm>
          <a:prstGeom prst="rect">
            <a:avLst/>
          </a:prstGeom>
        </p:spPr>
      </p:pic>
      <p:sp>
        <p:nvSpPr>
          <p:cNvPr id="30" name="Text 18"/>
          <p:cNvSpPr txBox="1"/>
          <p:nvPr/>
        </p:nvSpPr>
        <p:spPr>
          <a:xfrm>
            <a:off x="8458200" y="2761488"/>
            <a:ext cx="301752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Schichttausch</a:t>
            </a:r>
            <a:endParaRPr lang="en-US" sz="1400" dirty="0"/>
          </a:p>
        </p:txBody>
      </p:sp>
      <p:pic>
        <p:nvPicPr>
          <p:cNvPr id="31" name="Image 9" descr="preencoded.png"/>
          <p:cNvPicPr>
            <a:picLocks noChangeAspect="1"/>
          </p:cNvPicPr>
          <p:nvPr/>
        </p:nvPicPr>
        <p:blipFill>
          <a:blip r:embed="rId4"/>
          <a:stretch>
            <a:fillRect/>
          </a:stretch>
        </p:blipFill>
        <p:spPr>
          <a:xfrm>
            <a:off x="8092440" y="3282696"/>
            <a:ext cx="237744" cy="237744"/>
          </a:xfrm>
          <a:prstGeom prst="rect">
            <a:avLst/>
          </a:prstGeom>
        </p:spPr>
      </p:pic>
      <p:sp>
        <p:nvSpPr>
          <p:cNvPr id="32" name="Text 19"/>
          <p:cNvSpPr txBox="1"/>
          <p:nvPr/>
        </p:nvSpPr>
        <p:spPr>
          <a:xfrm>
            <a:off x="8458200" y="3236976"/>
            <a:ext cx="301752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Kurzfristige Ausfälle</a:t>
            </a:r>
            <a:endParaRPr lang="en-US" sz="1400" dirty="0"/>
          </a:p>
        </p:txBody>
      </p:sp>
      <p:pic>
        <p:nvPicPr>
          <p:cNvPr id="33" name="Image 10" descr="preencoded.png"/>
          <p:cNvPicPr>
            <a:picLocks noChangeAspect="1"/>
          </p:cNvPicPr>
          <p:nvPr/>
        </p:nvPicPr>
        <p:blipFill>
          <a:blip r:embed="rId4"/>
          <a:stretch>
            <a:fillRect/>
          </a:stretch>
        </p:blipFill>
        <p:spPr>
          <a:xfrm>
            <a:off x="8092440" y="3758184"/>
            <a:ext cx="237744" cy="237744"/>
          </a:xfrm>
          <a:prstGeom prst="rect">
            <a:avLst/>
          </a:prstGeom>
        </p:spPr>
      </p:pic>
      <p:sp>
        <p:nvSpPr>
          <p:cNvPr id="34" name="Text 20"/>
          <p:cNvSpPr txBox="1"/>
          <p:nvPr/>
        </p:nvSpPr>
        <p:spPr>
          <a:xfrm>
            <a:off x="8458200" y="3712464"/>
            <a:ext cx="301752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Automatische Bedarfsprognose</a:t>
            </a:r>
            <a:endParaRPr lang="en-US" sz="1400" dirty="0"/>
          </a:p>
        </p:txBody>
      </p:sp>
      <p:pic>
        <p:nvPicPr>
          <p:cNvPr id="35" name="Image 11" descr="preencoded.png"/>
          <p:cNvPicPr>
            <a:picLocks noChangeAspect="1"/>
          </p:cNvPicPr>
          <p:nvPr/>
        </p:nvPicPr>
        <p:blipFill>
          <a:blip r:embed="rId4"/>
          <a:stretch>
            <a:fillRect/>
          </a:stretch>
        </p:blipFill>
        <p:spPr>
          <a:xfrm>
            <a:off x="8092440" y="4233672"/>
            <a:ext cx="237744" cy="237744"/>
          </a:xfrm>
          <a:prstGeom prst="rect">
            <a:avLst/>
          </a:prstGeom>
        </p:spPr>
      </p:pic>
      <p:sp>
        <p:nvSpPr>
          <p:cNvPr id="36" name="Text 21"/>
          <p:cNvSpPr txBox="1"/>
          <p:nvPr/>
        </p:nvSpPr>
        <p:spPr>
          <a:xfrm>
            <a:off x="8458200" y="4187952"/>
            <a:ext cx="301752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Weitere gesetzliche Regeln</a:t>
            </a:r>
            <a:endParaRPr lang="en-US" sz="1400" dirty="0"/>
          </a:p>
        </p:txBody>
      </p:sp>
      <p:sp>
        <p:nvSpPr>
          <p:cNvPr id="37" name="Text 22"/>
          <p:cNvSpPr txBox="1"/>
          <p:nvPr/>
        </p:nvSpPr>
        <p:spPr>
          <a:xfrm>
            <a:off x="8092440" y="4800600"/>
            <a:ext cx="3337560" cy="1097280"/>
          </a:xfrm>
          <a:prstGeom prst="rect">
            <a:avLst/>
          </a:prstGeom>
          <a:noFill/>
          <a:ln/>
        </p:spPr>
        <p:txBody>
          <a:bodyPr wrap="square" lIns="0" tIns="0" rIns="0" bIns="0" rtlCol="0" anchor="t"/>
          <a:lstStyle/>
          <a:p>
            <a:pPr marL="0" indent="0">
              <a:buNone/>
            </a:pPr>
            <a:r>
              <a:rPr lang="en-US" sz="1300" i="1" dirty="0">
                <a:solidFill>
                  <a:srgbClr val="6B6890"/>
                </a:solidFill>
                <a:latin typeface="Calibri" pitchFamily="34" charset="0"/>
                <a:ea typeface="Calibri" pitchFamily="34" charset="-122"/>
                <a:cs typeface="Calibri" pitchFamily="34" charset="-120"/>
              </a:rPr>
              <a:t>Feedback zu diesen Themen sammeln wir trotzdem – als Grundlage für spätere Erweiterungen.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2 · HYPOTHESEN</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Sieben Annahmen, die wir prüfen</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4352544"/>
        </p:xfrm>
        <a:graphic>
          <a:graphicData uri="http://schemas.openxmlformats.org/drawingml/2006/table">
            <a:tbl>
              <a:tblPr/>
              <a:tblGrid>
                <a:gridCol w="640080">
                  <a:extLst>
                    <a:ext uri="{9D8B030D-6E8A-4147-A177-3AD203B41FA5}">
                      <a16:colId xmlns:a16="http://schemas.microsoft.com/office/drawing/2014/main" val="20000"/>
                    </a:ext>
                  </a:extLst>
                </a:gridCol>
                <a:gridCol w="5605272">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Nr.</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1F1A4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Hypothese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1F1A4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Geprüft bei</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1F1A4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Erfolgskriterium</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1F1A4E"/>
                    </a:solidFill>
                  </a:tcPr>
                </a:tc>
                <a:extLst>
                  <a:ext uri="{0D108BD9-81ED-4DB2-BD59-A6C34878D82A}">
                    <a16:rowId xmlns:a16="http://schemas.microsoft.com/office/drawing/2014/main" val="10000"/>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H1</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E8524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Planende verbringen mehrere Stunden pro Monat mit der Schichtplanung und empfinden das als Belastung.</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Planende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 3 von 5 nennen mindestens 3 Stunden pro Monat</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extLst>
                  <a:ext uri="{0D108BD9-81ED-4DB2-BD59-A6C34878D82A}">
                    <a16:rowId xmlns:a16="http://schemas.microsoft.com/office/drawing/2014/main" val="10001"/>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H2</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6C4FF0"/>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Mitarbeitende empfinden die Schichtverteilung als intransparent oder unfair.</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Mitarbeitende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 50 % stimmen in der Umfrage zu</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H3</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0E8F82"/>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Führungskräfte bevorzugen einen korrigierbaren Entwurf gegenüber vollautomatischer Planung.</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Planende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 3 von 5 bevorzugen den Entwurf</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extLst>
                  <a:ext uri="{0D108BD9-81ED-4DB2-BD59-A6C34878D82A}">
                    <a16:rowId xmlns:a16="http://schemas.microsoft.com/office/drawing/2014/main" val="10003"/>
                  </a:ext>
                </a:extLst>
              </a:tr>
              <a:tr h="566928">
                <a:tc>
                  <a:txBody>
                    <a:bodyPr/>
                    <a:lstStyle/>
                    <a:p>
                      <a:pPr marL="0" indent="0" algn="ctr">
                        <a:buNone/>
                      </a:pPr>
                      <a:r>
                        <a:rPr lang="en-US" sz="1300" b="1" dirty="0">
                          <a:solidFill>
                            <a:srgbClr val="1F1A4E"/>
                          </a:solidFill>
                          <a:latin typeface="Calibri" pitchFamily="34" charset="0"/>
                          <a:ea typeface="Calibri" pitchFamily="34" charset="-122"/>
                          <a:cs typeface="Calibri" pitchFamily="34" charset="-120"/>
                        </a:rPr>
                        <a:t>H4</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E89A0C"/>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Mitarbeitende tragen Verfügbarkeiten mit Priorität 1–3 bis Ende von Woche 2 ein.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Mitarbeitende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 70 % halten das für machbar</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H5</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E8524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Der Monatsrhythmus (Bedarf, Verfügbarkeiten, Veröffentlichung) passt zu realen Abläufen.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Planende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Mehrheit arbeitet so oder könnte umstellen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extLst>
                  <a:ext uri="{0D108BD9-81ED-4DB2-BD59-A6C34878D82A}">
                    <a16:rowId xmlns:a16="http://schemas.microsoft.com/office/drawing/2014/main" val="10005"/>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H6</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6C4FF0"/>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Automatisch geprüfte Arbeitszeitregeln sind ein wichtiger Nutzen.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Planende, Expert:innen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 3 von 5 nennen Regelkonformität als relevant</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H7</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0E8F82"/>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Bestehende Lösungen sind für Betriebe dieser Größe zu komplex oder zu teuer.</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Planende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Mehrheit nutzt kein Spezialtool oder ist unzufrieden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extLst>
                  <a:ext uri="{0D108BD9-81ED-4DB2-BD59-A6C34878D82A}">
                    <a16:rowId xmlns:a16="http://schemas.microsoft.com/office/drawing/2014/main" val="10007"/>
                  </a:ext>
                </a:extLst>
              </a:tr>
            </a:tbl>
          </a:graphicData>
        </a:graphic>
      </p:graphicFrame>
      <p:sp>
        <p:nvSpPr>
          <p:cNvPr id="10" name="Text 6"/>
          <p:cNvSpPr txBox="1"/>
          <p:nvPr/>
        </p:nvSpPr>
        <p:spPr>
          <a:xfrm>
            <a:off x="548640" y="6016752"/>
            <a:ext cx="10972800" cy="320040"/>
          </a:xfrm>
          <a:prstGeom prst="rect">
            <a:avLst/>
          </a:prstGeom>
          <a:noFill/>
          <a:ln/>
        </p:spPr>
        <p:txBody>
          <a:bodyPr wrap="square" lIns="0" tIns="0" rIns="0" bIns="0" rtlCol="0" anchor="t"/>
          <a:lstStyle/>
          <a:p>
            <a:pPr marL="0" indent="0">
              <a:buNone/>
            </a:pPr>
            <a:r>
              <a:rPr lang="en-US" sz="1300" i="1" dirty="0">
                <a:solidFill>
                  <a:srgbClr val="6B6890"/>
                </a:solidFill>
                <a:latin typeface="Calibri" pitchFamily="34" charset="0"/>
                <a:ea typeface="Calibri" pitchFamily="34" charset="-122"/>
                <a:cs typeface="Calibri" pitchFamily="34" charset="-120"/>
              </a:rPr>
              <a:t>Die Kriterien stehen vorab fest, damit jede Hypothese eindeutig als bestätigt oder widerlegt gilt.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2 · KUNDENANSPRACHE</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Wie wir reale Kund:innen und Expert:innen erreichen</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8</a:t>
            </a:r>
            <a:endParaRPr lang="en-US" sz="900" dirty="0"/>
          </a:p>
        </p:txBody>
      </p:sp>
      <p:sp>
        <p:nvSpPr>
          <p:cNvPr id="9" name="Shape 6"/>
          <p:cNvSpPr/>
          <p:nvPr/>
        </p:nvSpPr>
        <p:spPr>
          <a:xfrm>
            <a:off x="548640" y="1554480"/>
            <a:ext cx="3514039" cy="3429000"/>
          </a:xfrm>
          <a:prstGeom prst="roundRect">
            <a:avLst>
              <a:gd name="adj" fmla="val 32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0" name="Shape 7"/>
          <p:cNvSpPr/>
          <p:nvPr/>
        </p:nvSpPr>
        <p:spPr>
          <a:xfrm>
            <a:off x="822960" y="1828800"/>
            <a:ext cx="685800" cy="685800"/>
          </a:xfrm>
          <a:prstGeom prst="ellipse">
            <a:avLst/>
          </a:prstGeom>
          <a:solidFill>
            <a:srgbClr val="E8524F"/>
          </a:solidFill>
          <a:ln w="12700">
            <a:solidFill>
              <a:srgbClr val="E8524F"/>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1001268" y="2007108"/>
            <a:ext cx="329184" cy="329184"/>
          </a:xfrm>
          <a:prstGeom prst="rect">
            <a:avLst/>
          </a:prstGeom>
        </p:spPr>
      </p:pic>
      <p:sp>
        <p:nvSpPr>
          <p:cNvPr id="12" name="Text 8"/>
          <p:cNvSpPr txBox="1"/>
          <p:nvPr/>
        </p:nvSpPr>
        <p:spPr>
          <a:xfrm>
            <a:off x="1645920" y="1920240"/>
            <a:ext cx="2233879" cy="457200"/>
          </a:xfrm>
          <a:prstGeom prst="rect">
            <a:avLst/>
          </a:prstGeom>
          <a:noFill/>
          <a:ln/>
        </p:spPr>
        <p:txBody>
          <a:bodyPr wrap="square" lIns="0" tIns="0" rIns="0" bIns="0" rtlCol="0" anchor="ctr"/>
          <a:lstStyle/>
          <a:p>
            <a:pPr marL="0" indent="0">
              <a:buNone/>
            </a:pPr>
            <a:r>
              <a:rPr lang="en-US" sz="2000" b="1" dirty="0">
                <a:solidFill>
                  <a:srgbClr val="1F1A4E"/>
                </a:solidFill>
                <a:latin typeface="Calibri" pitchFamily="34" charset="0"/>
                <a:ea typeface="Calibri" pitchFamily="34" charset="-122"/>
                <a:cs typeface="Calibri" pitchFamily="34" charset="-120"/>
              </a:rPr>
              <a:t>Planende</a:t>
            </a:r>
            <a:endParaRPr lang="en-US" sz="2000" dirty="0"/>
          </a:p>
        </p:txBody>
      </p:sp>
      <p:sp>
        <p:nvSpPr>
          <p:cNvPr id="13" name="Text 9"/>
          <p:cNvSpPr txBox="1"/>
          <p:nvPr/>
        </p:nvSpPr>
        <p:spPr>
          <a:xfrm>
            <a:off x="822960" y="2743200"/>
            <a:ext cx="2965399" cy="1508760"/>
          </a:xfrm>
          <a:prstGeom prst="rect">
            <a:avLst/>
          </a:prstGeom>
          <a:noFill/>
          <a:ln/>
        </p:spPr>
        <p:txBody>
          <a:bodyPr wrap="square" lIns="0" tIns="0" rIns="0" bIns="0" rtlCol="0" anchor="t"/>
          <a:lstStyle/>
          <a:p>
            <a:pPr marL="0" indent="0">
              <a:buNone/>
            </a:pPr>
            <a:r>
              <a:rPr lang="en-US" sz="1350" b="1" dirty="0">
                <a:solidFill>
                  <a:srgbClr val="24204A"/>
                </a:solidFill>
                <a:latin typeface="Calibri" pitchFamily="34" charset="0"/>
                <a:ea typeface="Calibri" pitchFamily="34" charset="-122"/>
                <a:cs typeface="Calibri" pitchFamily="34" charset="-120"/>
              </a:rPr>
              <a:t>Wer: </a:t>
            </a:r>
            <a:r>
              <a:rPr lang="en-US" sz="1350" dirty="0">
                <a:solidFill>
                  <a:srgbClr val="24204A"/>
                </a:solidFill>
                <a:latin typeface="Calibri" pitchFamily="34" charset="0"/>
                <a:ea typeface="Calibri" pitchFamily="34" charset="-122"/>
                <a:cs typeface="Calibri" pitchFamily="34" charset="-120"/>
              </a:rPr>
              <a:t>Filial- und Schichtleitungen, Inhaber:innen kleiner Betriebe</a:t>
            </a:r>
            <a:endParaRPr lang="en-US" sz="1350" dirty="0"/>
          </a:p>
          <a:p>
            <a:pPr marL="0" indent="0">
              <a:buNone/>
            </a:pPr>
            <a:r>
              <a:rPr lang="en-US" sz="600" dirty="0">
                <a:solidFill>
                  <a:srgbClr val="24204A"/>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24204A"/>
                </a:solidFill>
                <a:latin typeface="Calibri" pitchFamily="34" charset="0"/>
                <a:ea typeface="Calibri" pitchFamily="34" charset="-122"/>
                <a:cs typeface="Calibri" pitchFamily="34" charset="-120"/>
              </a:rPr>
              <a:t>Wie: </a:t>
            </a:r>
            <a:r>
              <a:rPr lang="en-US" sz="1350" dirty="0">
                <a:solidFill>
                  <a:srgbClr val="24204A"/>
                </a:solidFill>
                <a:latin typeface="Calibri" pitchFamily="34" charset="0"/>
                <a:ea typeface="Calibri" pitchFamily="34" charset="-122"/>
                <a:cs typeface="Calibri" pitchFamily="34" charset="-120"/>
              </a:rPr>
              <a:t>Kontakte aus Filialen im Einzelhandel, persönliche Ansprache in der Flensburger Innenstadt</a:t>
            </a:r>
            <a:endParaRPr lang="en-US" sz="1350" dirty="0"/>
          </a:p>
        </p:txBody>
      </p:sp>
      <p:sp>
        <p:nvSpPr>
          <p:cNvPr id="14" name="Shape 10"/>
          <p:cNvSpPr/>
          <p:nvPr/>
        </p:nvSpPr>
        <p:spPr>
          <a:xfrm>
            <a:off x="822960" y="4315968"/>
            <a:ext cx="2965399" cy="457200"/>
          </a:xfrm>
          <a:prstGeom prst="roundRect">
            <a:avLst>
              <a:gd name="adj" fmla="val 20000"/>
            </a:avLst>
          </a:prstGeom>
          <a:solidFill>
            <a:srgbClr val="FDE9E8"/>
          </a:solidFill>
          <a:ln w="12700">
            <a:solidFill>
              <a:srgbClr val="FDE9E8"/>
            </a:solidFill>
            <a:prstDash val="solid"/>
          </a:ln>
        </p:spPr>
        <p:txBody>
          <a:bodyPr/>
          <a:lstStyle/>
          <a:p>
            <a:endParaRPr lang="de-IN"/>
          </a:p>
        </p:txBody>
      </p:sp>
      <p:sp>
        <p:nvSpPr>
          <p:cNvPr id="15" name="Text 11"/>
          <p:cNvSpPr txBox="1"/>
          <p:nvPr/>
        </p:nvSpPr>
        <p:spPr>
          <a:xfrm>
            <a:off x="822960" y="4315968"/>
            <a:ext cx="2965399" cy="457200"/>
          </a:xfrm>
          <a:prstGeom prst="rect">
            <a:avLst/>
          </a:prstGeom>
          <a:noFill/>
          <a:ln/>
        </p:spPr>
        <p:txBody>
          <a:bodyPr wrap="square" lIns="0" tIns="0" rIns="0" bIns="0" rtlCol="0" anchor="ctr"/>
          <a:lstStyle/>
          <a:p>
            <a:pPr marL="0" indent="0" algn="ctr">
              <a:buNone/>
            </a:pPr>
            <a:r>
              <a:rPr lang="en-US" sz="1400" b="1" dirty="0">
                <a:solidFill>
                  <a:srgbClr val="E8524F"/>
                </a:solidFill>
                <a:latin typeface="Calibri" pitchFamily="34" charset="0"/>
                <a:ea typeface="Calibri" pitchFamily="34" charset="-122"/>
                <a:cs typeface="Calibri" pitchFamily="34" charset="-120"/>
              </a:rPr>
              <a:t>≥ 5 Interviews bis P2</a:t>
            </a:r>
            <a:endParaRPr lang="en-US" sz="1400" dirty="0"/>
          </a:p>
        </p:txBody>
      </p:sp>
      <p:sp>
        <p:nvSpPr>
          <p:cNvPr id="16" name="Shape 12"/>
          <p:cNvSpPr/>
          <p:nvPr/>
        </p:nvSpPr>
        <p:spPr>
          <a:xfrm>
            <a:off x="4336999" y="1554480"/>
            <a:ext cx="3514039" cy="3429000"/>
          </a:xfrm>
          <a:prstGeom prst="roundRect">
            <a:avLst>
              <a:gd name="adj" fmla="val 32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7" name="Shape 13"/>
          <p:cNvSpPr/>
          <p:nvPr/>
        </p:nvSpPr>
        <p:spPr>
          <a:xfrm>
            <a:off x="4611319" y="1828800"/>
            <a:ext cx="685800" cy="685800"/>
          </a:xfrm>
          <a:prstGeom prst="ellipse">
            <a:avLst/>
          </a:prstGeom>
          <a:solidFill>
            <a:srgbClr val="0E8F82"/>
          </a:solidFill>
          <a:ln w="12700">
            <a:solidFill>
              <a:srgbClr val="0E8F82"/>
            </a:solidFill>
            <a:prstDash val="solid"/>
          </a:ln>
        </p:spPr>
        <p:txBody>
          <a:bodyPr/>
          <a:lstStyle/>
          <a:p>
            <a:endParaRPr lang="de-IN"/>
          </a:p>
        </p:txBody>
      </p:sp>
      <p:pic>
        <p:nvPicPr>
          <p:cNvPr id="18" name="Image 1" descr="preencoded.png"/>
          <p:cNvPicPr>
            <a:picLocks noChangeAspect="1"/>
          </p:cNvPicPr>
          <p:nvPr/>
        </p:nvPicPr>
        <p:blipFill>
          <a:blip r:embed="rId4"/>
          <a:stretch>
            <a:fillRect/>
          </a:stretch>
        </p:blipFill>
        <p:spPr>
          <a:xfrm>
            <a:off x="4789627" y="2007108"/>
            <a:ext cx="329184" cy="329184"/>
          </a:xfrm>
          <a:prstGeom prst="rect">
            <a:avLst/>
          </a:prstGeom>
        </p:spPr>
      </p:pic>
      <p:sp>
        <p:nvSpPr>
          <p:cNvPr id="19" name="Text 14"/>
          <p:cNvSpPr txBox="1"/>
          <p:nvPr/>
        </p:nvSpPr>
        <p:spPr>
          <a:xfrm>
            <a:off x="5434279" y="1920240"/>
            <a:ext cx="2233879" cy="457200"/>
          </a:xfrm>
          <a:prstGeom prst="rect">
            <a:avLst/>
          </a:prstGeom>
          <a:noFill/>
          <a:ln/>
        </p:spPr>
        <p:txBody>
          <a:bodyPr wrap="square" lIns="0" tIns="0" rIns="0" bIns="0" rtlCol="0" anchor="ctr"/>
          <a:lstStyle/>
          <a:p>
            <a:pPr marL="0" indent="0">
              <a:buNone/>
            </a:pPr>
            <a:r>
              <a:rPr lang="en-US" sz="2000" b="1" dirty="0">
                <a:solidFill>
                  <a:srgbClr val="1F1A4E"/>
                </a:solidFill>
                <a:latin typeface="Calibri" pitchFamily="34" charset="0"/>
                <a:ea typeface="Calibri" pitchFamily="34" charset="-122"/>
                <a:cs typeface="Calibri" pitchFamily="34" charset="-120"/>
              </a:rPr>
              <a:t>Mitarbeitende</a:t>
            </a:r>
            <a:endParaRPr lang="en-US" sz="2000" dirty="0"/>
          </a:p>
        </p:txBody>
      </p:sp>
      <p:sp>
        <p:nvSpPr>
          <p:cNvPr id="20" name="Text 15"/>
          <p:cNvSpPr txBox="1"/>
          <p:nvPr/>
        </p:nvSpPr>
        <p:spPr>
          <a:xfrm>
            <a:off x="4611319" y="2743200"/>
            <a:ext cx="2965399" cy="1508760"/>
          </a:xfrm>
          <a:prstGeom prst="rect">
            <a:avLst/>
          </a:prstGeom>
          <a:noFill/>
          <a:ln/>
        </p:spPr>
        <p:txBody>
          <a:bodyPr wrap="square" lIns="0" tIns="0" rIns="0" bIns="0" rtlCol="0" anchor="t"/>
          <a:lstStyle/>
          <a:p>
            <a:pPr marL="0" indent="0">
              <a:buNone/>
            </a:pPr>
            <a:r>
              <a:rPr lang="en-US" sz="1350" b="1" dirty="0">
                <a:solidFill>
                  <a:srgbClr val="24204A"/>
                </a:solidFill>
                <a:latin typeface="Calibri" pitchFamily="34" charset="0"/>
                <a:ea typeface="Calibri" pitchFamily="34" charset="-122"/>
                <a:cs typeface="Calibri" pitchFamily="34" charset="-120"/>
              </a:rPr>
              <a:t>Wer: </a:t>
            </a:r>
            <a:r>
              <a:rPr lang="en-US" sz="1350" dirty="0">
                <a:solidFill>
                  <a:srgbClr val="24204A"/>
                </a:solidFill>
                <a:latin typeface="Calibri" pitchFamily="34" charset="0"/>
                <a:ea typeface="Calibri" pitchFamily="34" charset="-122"/>
                <a:cs typeface="Calibri" pitchFamily="34" charset="-120"/>
              </a:rPr>
              <a:t>Beschäftigte in Schichtarbeit, auch Studierende mit Nebenjob</a:t>
            </a:r>
            <a:endParaRPr lang="en-US" sz="1350" dirty="0"/>
          </a:p>
          <a:p>
            <a:pPr marL="0" indent="0">
              <a:buNone/>
            </a:pPr>
            <a:r>
              <a:rPr lang="en-US" sz="600" dirty="0">
                <a:solidFill>
                  <a:srgbClr val="24204A"/>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24204A"/>
                </a:solidFill>
                <a:latin typeface="Calibri" pitchFamily="34" charset="0"/>
                <a:ea typeface="Calibri" pitchFamily="34" charset="-122"/>
                <a:cs typeface="Calibri" pitchFamily="34" charset="-120"/>
              </a:rPr>
              <a:t>Wie: </a:t>
            </a:r>
            <a:r>
              <a:rPr lang="en-US" sz="1350" dirty="0">
                <a:solidFill>
                  <a:srgbClr val="24204A"/>
                </a:solidFill>
                <a:latin typeface="Calibri" pitchFamily="34" charset="0"/>
                <a:ea typeface="Calibri" pitchFamily="34" charset="-122"/>
                <a:cs typeface="Calibri" pitchFamily="34" charset="-120"/>
              </a:rPr>
              <a:t>Online-Umfrage, Kommiliton:innen, private Netzwerke</a:t>
            </a:r>
            <a:endParaRPr lang="en-US" sz="1350" dirty="0"/>
          </a:p>
        </p:txBody>
      </p:sp>
      <p:sp>
        <p:nvSpPr>
          <p:cNvPr id="21" name="Shape 16"/>
          <p:cNvSpPr/>
          <p:nvPr/>
        </p:nvSpPr>
        <p:spPr>
          <a:xfrm>
            <a:off x="4611319" y="4315968"/>
            <a:ext cx="2965399" cy="457200"/>
          </a:xfrm>
          <a:prstGeom prst="roundRect">
            <a:avLst>
              <a:gd name="adj" fmla="val 20000"/>
            </a:avLst>
          </a:prstGeom>
          <a:solidFill>
            <a:srgbClr val="DDF3F0"/>
          </a:solidFill>
          <a:ln w="12700">
            <a:solidFill>
              <a:srgbClr val="DDF3F0"/>
            </a:solidFill>
            <a:prstDash val="solid"/>
          </a:ln>
        </p:spPr>
        <p:txBody>
          <a:bodyPr/>
          <a:lstStyle/>
          <a:p>
            <a:endParaRPr lang="de-IN"/>
          </a:p>
        </p:txBody>
      </p:sp>
      <p:sp>
        <p:nvSpPr>
          <p:cNvPr id="22" name="Text 17"/>
          <p:cNvSpPr txBox="1"/>
          <p:nvPr/>
        </p:nvSpPr>
        <p:spPr>
          <a:xfrm>
            <a:off x="4611319" y="4315968"/>
            <a:ext cx="2965399" cy="457200"/>
          </a:xfrm>
          <a:prstGeom prst="rect">
            <a:avLst/>
          </a:prstGeom>
          <a:noFill/>
          <a:ln/>
        </p:spPr>
        <p:txBody>
          <a:bodyPr wrap="square" lIns="0" tIns="0" rIns="0" bIns="0" rtlCol="0" anchor="ctr"/>
          <a:lstStyle/>
          <a:p>
            <a:pPr marL="0" indent="0" algn="ctr">
              <a:buNone/>
            </a:pPr>
            <a:r>
              <a:rPr lang="en-US" sz="1400" b="1" dirty="0">
                <a:solidFill>
                  <a:srgbClr val="0E8F82"/>
                </a:solidFill>
                <a:latin typeface="Calibri" pitchFamily="34" charset="0"/>
                <a:ea typeface="Calibri" pitchFamily="34" charset="-122"/>
                <a:cs typeface="Calibri" pitchFamily="34" charset="-120"/>
              </a:rPr>
              <a:t>≥ 10 Umfrageantworten bis P2</a:t>
            </a:r>
            <a:endParaRPr lang="en-US" sz="1400" dirty="0"/>
          </a:p>
        </p:txBody>
      </p:sp>
      <p:sp>
        <p:nvSpPr>
          <p:cNvPr id="23" name="Shape 18"/>
          <p:cNvSpPr/>
          <p:nvPr/>
        </p:nvSpPr>
        <p:spPr>
          <a:xfrm>
            <a:off x="8125358" y="1554480"/>
            <a:ext cx="3514039" cy="3429000"/>
          </a:xfrm>
          <a:prstGeom prst="roundRect">
            <a:avLst>
              <a:gd name="adj" fmla="val 32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4" name="Shape 19"/>
          <p:cNvSpPr/>
          <p:nvPr/>
        </p:nvSpPr>
        <p:spPr>
          <a:xfrm>
            <a:off x="8399678" y="1828800"/>
            <a:ext cx="685800" cy="685800"/>
          </a:xfrm>
          <a:prstGeom prst="ellipse">
            <a:avLst/>
          </a:prstGeom>
          <a:solidFill>
            <a:srgbClr val="6C4FF0"/>
          </a:solidFill>
          <a:ln w="12700">
            <a:solidFill>
              <a:srgbClr val="6C4FF0"/>
            </a:solidFill>
            <a:prstDash val="solid"/>
          </a:ln>
        </p:spPr>
        <p:txBody>
          <a:bodyPr/>
          <a:lstStyle/>
          <a:p>
            <a:endParaRPr lang="de-IN"/>
          </a:p>
        </p:txBody>
      </p:sp>
      <p:pic>
        <p:nvPicPr>
          <p:cNvPr id="25" name="Image 2" descr="preencoded.png"/>
          <p:cNvPicPr>
            <a:picLocks noChangeAspect="1"/>
          </p:cNvPicPr>
          <p:nvPr/>
        </p:nvPicPr>
        <p:blipFill>
          <a:blip r:embed="rId5"/>
          <a:stretch>
            <a:fillRect/>
          </a:stretch>
        </p:blipFill>
        <p:spPr>
          <a:xfrm>
            <a:off x="8577986" y="2007108"/>
            <a:ext cx="329184" cy="329184"/>
          </a:xfrm>
          <a:prstGeom prst="rect">
            <a:avLst/>
          </a:prstGeom>
        </p:spPr>
      </p:pic>
      <p:sp>
        <p:nvSpPr>
          <p:cNvPr id="26" name="Text 20"/>
          <p:cNvSpPr txBox="1"/>
          <p:nvPr/>
        </p:nvSpPr>
        <p:spPr>
          <a:xfrm>
            <a:off x="9222638" y="1920240"/>
            <a:ext cx="2233879" cy="457200"/>
          </a:xfrm>
          <a:prstGeom prst="rect">
            <a:avLst/>
          </a:prstGeom>
          <a:noFill/>
          <a:ln/>
        </p:spPr>
        <p:txBody>
          <a:bodyPr wrap="square" lIns="0" tIns="0" rIns="0" bIns="0" rtlCol="0" anchor="ctr"/>
          <a:lstStyle/>
          <a:p>
            <a:pPr marL="0" indent="0">
              <a:buNone/>
            </a:pPr>
            <a:r>
              <a:rPr lang="en-US" sz="2000" b="1" dirty="0">
                <a:solidFill>
                  <a:srgbClr val="1F1A4E"/>
                </a:solidFill>
                <a:latin typeface="Calibri" pitchFamily="34" charset="0"/>
                <a:ea typeface="Calibri" pitchFamily="34" charset="-122"/>
                <a:cs typeface="Calibri" pitchFamily="34" charset="-120"/>
              </a:rPr>
              <a:t>Expert:innen</a:t>
            </a:r>
            <a:endParaRPr lang="en-US" sz="2000" dirty="0"/>
          </a:p>
        </p:txBody>
      </p:sp>
      <p:sp>
        <p:nvSpPr>
          <p:cNvPr id="27" name="Text 21"/>
          <p:cNvSpPr txBox="1"/>
          <p:nvPr/>
        </p:nvSpPr>
        <p:spPr>
          <a:xfrm>
            <a:off x="8399678" y="2743200"/>
            <a:ext cx="2965399" cy="1508760"/>
          </a:xfrm>
          <a:prstGeom prst="rect">
            <a:avLst/>
          </a:prstGeom>
          <a:noFill/>
          <a:ln/>
        </p:spPr>
        <p:txBody>
          <a:bodyPr wrap="square" lIns="0" tIns="0" rIns="0" bIns="0" rtlCol="0" anchor="t"/>
          <a:lstStyle/>
          <a:p>
            <a:pPr marL="0" indent="0">
              <a:buNone/>
            </a:pPr>
            <a:r>
              <a:rPr lang="en-US" sz="1350" b="1" dirty="0">
                <a:solidFill>
                  <a:srgbClr val="24204A"/>
                </a:solidFill>
                <a:latin typeface="Calibri" pitchFamily="34" charset="0"/>
                <a:ea typeface="Calibri" pitchFamily="34" charset="-122"/>
                <a:cs typeface="Calibri" pitchFamily="34" charset="-120"/>
              </a:rPr>
              <a:t>Wer: </a:t>
            </a:r>
            <a:r>
              <a:rPr lang="en-US" sz="1350" dirty="0">
                <a:solidFill>
                  <a:srgbClr val="24204A"/>
                </a:solidFill>
                <a:latin typeface="Calibri" pitchFamily="34" charset="0"/>
                <a:ea typeface="Calibri" pitchFamily="34" charset="-122"/>
                <a:cs typeface="Calibri" pitchFamily="34" charset="-120"/>
              </a:rPr>
              <a:t>Personalwesen, Arbeitsrecht, Betriebsrat, Lehrende der HS Flensburg</a:t>
            </a:r>
            <a:endParaRPr lang="en-US" sz="1350" dirty="0"/>
          </a:p>
          <a:p>
            <a:pPr marL="0" indent="0">
              <a:buNone/>
            </a:pPr>
            <a:r>
              <a:rPr lang="en-US" sz="600" dirty="0">
                <a:solidFill>
                  <a:srgbClr val="24204A"/>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24204A"/>
                </a:solidFill>
                <a:latin typeface="Calibri" pitchFamily="34" charset="0"/>
                <a:ea typeface="Calibri" pitchFamily="34" charset="-122"/>
                <a:cs typeface="Calibri" pitchFamily="34" charset="-120"/>
              </a:rPr>
              <a:t>Wie: </a:t>
            </a:r>
            <a:r>
              <a:rPr lang="en-US" sz="1350" dirty="0">
                <a:solidFill>
                  <a:srgbClr val="24204A"/>
                </a:solidFill>
                <a:latin typeface="Calibri" pitchFamily="34" charset="0"/>
                <a:ea typeface="Calibri" pitchFamily="34" charset="-122"/>
                <a:cs typeface="Calibri" pitchFamily="34" charset="-120"/>
              </a:rPr>
              <a:t>Persönliche Ansprache, LinkedIn</a:t>
            </a:r>
            <a:endParaRPr lang="en-US" sz="1350" dirty="0"/>
          </a:p>
        </p:txBody>
      </p:sp>
      <p:sp>
        <p:nvSpPr>
          <p:cNvPr id="28" name="Shape 22"/>
          <p:cNvSpPr/>
          <p:nvPr/>
        </p:nvSpPr>
        <p:spPr>
          <a:xfrm>
            <a:off x="8399678" y="4315968"/>
            <a:ext cx="2965399" cy="457200"/>
          </a:xfrm>
          <a:prstGeom prst="roundRect">
            <a:avLst>
              <a:gd name="adj" fmla="val 20000"/>
            </a:avLst>
          </a:prstGeom>
          <a:solidFill>
            <a:srgbClr val="EEEAFF"/>
          </a:solidFill>
          <a:ln w="12700">
            <a:solidFill>
              <a:srgbClr val="EEEAFF"/>
            </a:solidFill>
            <a:prstDash val="solid"/>
          </a:ln>
        </p:spPr>
        <p:txBody>
          <a:bodyPr/>
          <a:lstStyle/>
          <a:p>
            <a:endParaRPr lang="de-IN"/>
          </a:p>
        </p:txBody>
      </p:sp>
      <p:sp>
        <p:nvSpPr>
          <p:cNvPr id="29" name="Text 23"/>
          <p:cNvSpPr txBox="1"/>
          <p:nvPr/>
        </p:nvSpPr>
        <p:spPr>
          <a:xfrm>
            <a:off x="8399678" y="4315968"/>
            <a:ext cx="2965399" cy="457200"/>
          </a:xfrm>
          <a:prstGeom prst="rect">
            <a:avLst/>
          </a:prstGeom>
          <a:noFill/>
          <a:ln/>
        </p:spPr>
        <p:txBody>
          <a:bodyPr wrap="square" lIns="0" tIns="0" rIns="0" bIns="0" rtlCol="0" anchor="ctr"/>
          <a:lstStyle/>
          <a:p>
            <a:pPr marL="0" indent="0" algn="ctr">
              <a:buNone/>
            </a:pPr>
            <a:r>
              <a:rPr lang="en-US" sz="1400" b="1" dirty="0">
                <a:solidFill>
                  <a:srgbClr val="6C4FF0"/>
                </a:solidFill>
                <a:latin typeface="Calibri" pitchFamily="34" charset="0"/>
                <a:ea typeface="Calibri" pitchFamily="34" charset="-122"/>
                <a:cs typeface="Calibri" pitchFamily="34" charset="-120"/>
              </a:rPr>
              <a:t>1–2 Gespräche bis P2</a:t>
            </a:r>
            <a:endParaRPr lang="en-US" sz="1400" dirty="0"/>
          </a:p>
        </p:txBody>
      </p:sp>
      <p:sp>
        <p:nvSpPr>
          <p:cNvPr id="30" name="Shape 24"/>
          <p:cNvSpPr/>
          <p:nvPr/>
        </p:nvSpPr>
        <p:spPr>
          <a:xfrm>
            <a:off x="548640" y="5212080"/>
            <a:ext cx="3514039" cy="868680"/>
          </a:xfrm>
          <a:prstGeom prst="roundRect">
            <a:avLst>
              <a:gd name="adj" fmla="val 12632"/>
            </a:avLst>
          </a:prstGeom>
          <a:solidFill>
            <a:srgbClr val="F6F5FB"/>
          </a:solidFill>
          <a:ln w="9525">
            <a:solidFill>
              <a:srgbClr val="F6F5FB"/>
            </a:solidFill>
            <a:prstDash val="solid"/>
          </a:ln>
        </p:spPr>
        <p:txBody>
          <a:bodyPr/>
          <a:lstStyle/>
          <a:p>
            <a:endParaRPr lang="de-IN"/>
          </a:p>
        </p:txBody>
      </p:sp>
      <p:pic>
        <p:nvPicPr>
          <p:cNvPr id="31" name="Image 3" descr="preencoded.png"/>
          <p:cNvPicPr>
            <a:picLocks noChangeAspect="1"/>
          </p:cNvPicPr>
          <p:nvPr/>
        </p:nvPicPr>
        <p:blipFill>
          <a:blip r:embed="rId6"/>
          <a:stretch>
            <a:fillRect/>
          </a:stretch>
        </p:blipFill>
        <p:spPr>
          <a:xfrm>
            <a:off x="777240" y="5486400"/>
            <a:ext cx="320040" cy="320040"/>
          </a:xfrm>
          <a:prstGeom prst="rect">
            <a:avLst/>
          </a:prstGeom>
        </p:spPr>
      </p:pic>
      <p:sp>
        <p:nvSpPr>
          <p:cNvPr id="32" name="Text 25"/>
          <p:cNvSpPr txBox="1"/>
          <p:nvPr/>
        </p:nvSpPr>
        <p:spPr>
          <a:xfrm>
            <a:off x="1280160" y="5212080"/>
            <a:ext cx="2599639" cy="868680"/>
          </a:xfrm>
          <a:prstGeom prst="rect">
            <a:avLst/>
          </a:prstGeom>
          <a:noFill/>
          <a:ln/>
        </p:spPr>
        <p:txBody>
          <a:bodyPr wrap="square" lIns="0" tIns="0" rIns="0" bIns="0" rtlCol="0" anchor="ctr"/>
          <a:lstStyle/>
          <a:p>
            <a:pPr marL="0" indent="0">
              <a:buNone/>
            </a:pPr>
            <a:r>
              <a:rPr lang="en-US" sz="1250" dirty="0">
                <a:solidFill>
                  <a:srgbClr val="24204A"/>
                </a:solidFill>
                <a:latin typeface="Calibri" pitchFamily="34" charset="0"/>
                <a:ea typeface="Calibri" pitchFamily="34" charset="-122"/>
                <a:cs typeface="Calibri" pitchFamily="34" charset="-120"/>
              </a:rPr>
              <a:t>Nach tatsächlichem Verhalten fragen, nicht nach Meinungen (Fitzpatrick, 2013)</a:t>
            </a:r>
            <a:endParaRPr lang="en-US" sz="1250" dirty="0"/>
          </a:p>
        </p:txBody>
      </p:sp>
      <p:sp>
        <p:nvSpPr>
          <p:cNvPr id="33" name="Shape 26"/>
          <p:cNvSpPr/>
          <p:nvPr/>
        </p:nvSpPr>
        <p:spPr>
          <a:xfrm>
            <a:off x="4336999" y="5212080"/>
            <a:ext cx="3514039" cy="868680"/>
          </a:xfrm>
          <a:prstGeom prst="roundRect">
            <a:avLst>
              <a:gd name="adj" fmla="val 12632"/>
            </a:avLst>
          </a:prstGeom>
          <a:solidFill>
            <a:srgbClr val="F6F5FB"/>
          </a:solidFill>
          <a:ln w="9525">
            <a:solidFill>
              <a:srgbClr val="F6F5FB"/>
            </a:solidFill>
            <a:prstDash val="solid"/>
          </a:ln>
        </p:spPr>
        <p:txBody>
          <a:bodyPr/>
          <a:lstStyle/>
          <a:p>
            <a:endParaRPr lang="de-IN"/>
          </a:p>
        </p:txBody>
      </p:sp>
      <p:pic>
        <p:nvPicPr>
          <p:cNvPr id="34" name="Image 4" descr="preencoded.png"/>
          <p:cNvPicPr>
            <a:picLocks noChangeAspect="1"/>
          </p:cNvPicPr>
          <p:nvPr/>
        </p:nvPicPr>
        <p:blipFill>
          <a:blip r:embed="rId7"/>
          <a:stretch>
            <a:fillRect/>
          </a:stretch>
        </p:blipFill>
        <p:spPr>
          <a:xfrm>
            <a:off x="4565599" y="5486400"/>
            <a:ext cx="320040" cy="320040"/>
          </a:xfrm>
          <a:prstGeom prst="rect">
            <a:avLst/>
          </a:prstGeom>
        </p:spPr>
      </p:pic>
      <p:sp>
        <p:nvSpPr>
          <p:cNvPr id="35" name="Text 27"/>
          <p:cNvSpPr txBox="1"/>
          <p:nvPr/>
        </p:nvSpPr>
        <p:spPr>
          <a:xfrm>
            <a:off x="5068519" y="5212080"/>
            <a:ext cx="2599639" cy="868680"/>
          </a:xfrm>
          <a:prstGeom prst="rect">
            <a:avLst/>
          </a:prstGeom>
          <a:noFill/>
          <a:ln/>
        </p:spPr>
        <p:txBody>
          <a:bodyPr wrap="square" lIns="0" tIns="0" rIns="0" bIns="0" rtlCol="0" anchor="ctr"/>
          <a:lstStyle/>
          <a:p>
            <a:pPr marL="0" indent="0">
              <a:buNone/>
            </a:pPr>
            <a:r>
              <a:rPr lang="en-US" sz="1250" dirty="0">
                <a:solidFill>
                  <a:srgbClr val="24204A"/>
                </a:solidFill>
                <a:latin typeface="Calibri" pitchFamily="34" charset="0"/>
                <a:ea typeface="Calibri" pitchFamily="34" charset="-122"/>
                <a:cs typeface="Calibri" pitchFamily="34" charset="-120"/>
              </a:rPr>
              <a:t>Anonym: nur Rolle und Zielgruppe, keine Namen</a:t>
            </a:r>
            <a:endParaRPr lang="en-US" sz="1250" dirty="0"/>
          </a:p>
        </p:txBody>
      </p:sp>
      <p:sp>
        <p:nvSpPr>
          <p:cNvPr id="36" name="Shape 28"/>
          <p:cNvSpPr/>
          <p:nvPr/>
        </p:nvSpPr>
        <p:spPr>
          <a:xfrm>
            <a:off x="8125358" y="5212080"/>
            <a:ext cx="3514039" cy="868680"/>
          </a:xfrm>
          <a:prstGeom prst="roundRect">
            <a:avLst>
              <a:gd name="adj" fmla="val 12632"/>
            </a:avLst>
          </a:prstGeom>
          <a:solidFill>
            <a:srgbClr val="F6F5FB"/>
          </a:solidFill>
          <a:ln w="9525">
            <a:solidFill>
              <a:srgbClr val="F6F5FB"/>
            </a:solidFill>
            <a:prstDash val="solid"/>
          </a:ln>
        </p:spPr>
        <p:txBody>
          <a:bodyPr/>
          <a:lstStyle/>
          <a:p>
            <a:endParaRPr lang="de-IN"/>
          </a:p>
        </p:txBody>
      </p:sp>
      <p:pic>
        <p:nvPicPr>
          <p:cNvPr id="37" name="Image 5" descr="preencoded.png"/>
          <p:cNvPicPr>
            <a:picLocks noChangeAspect="1"/>
          </p:cNvPicPr>
          <p:nvPr/>
        </p:nvPicPr>
        <p:blipFill>
          <a:blip r:embed="rId8"/>
          <a:stretch>
            <a:fillRect/>
          </a:stretch>
        </p:blipFill>
        <p:spPr>
          <a:xfrm>
            <a:off x="8353958" y="5486400"/>
            <a:ext cx="320040" cy="320040"/>
          </a:xfrm>
          <a:prstGeom prst="rect">
            <a:avLst/>
          </a:prstGeom>
        </p:spPr>
      </p:pic>
      <p:sp>
        <p:nvSpPr>
          <p:cNvPr id="38" name="Text 29"/>
          <p:cNvSpPr txBox="1"/>
          <p:nvPr/>
        </p:nvSpPr>
        <p:spPr>
          <a:xfrm>
            <a:off x="8856878" y="5212080"/>
            <a:ext cx="2599639" cy="868680"/>
          </a:xfrm>
          <a:prstGeom prst="rect">
            <a:avLst/>
          </a:prstGeom>
          <a:noFill/>
          <a:ln/>
        </p:spPr>
        <p:txBody>
          <a:bodyPr wrap="square" lIns="0" tIns="0" rIns="0" bIns="0" rtlCol="0" anchor="ctr"/>
          <a:lstStyle/>
          <a:p>
            <a:pPr marL="0" indent="0">
              <a:buNone/>
            </a:pPr>
            <a:r>
              <a:rPr lang="en-US" sz="1250" dirty="0">
                <a:solidFill>
                  <a:srgbClr val="24204A"/>
                </a:solidFill>
                <a:latin typeface="Calibri" pitchFamily="34" charset="0"/>
                <a:ea typeface="Calibri" pitchFamily="34" charset="-122"/>
                <a:cs typeface="Calibri" pitchFamily="34" charset="-120"/>
              </a:rPr>
              <a:t>Doppelt so viele anfragen wie nötig, kleine Betriebe als Plan B</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2 · FEEDBACK-FAHRPLAN</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Feedback begleitet jeden Sprint</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9</a:t>
            </a:r>
            <a:endParaRPr lang="en-US" sz="900" dirty="0"/>
          </a:p>
        </p:txBody>
      </p:sp>
      <p:sp>
        <p:nvSpPr>
          <p:cNvPr id="9" name="Shape 6"/>
          <p:cNvSpPr/>
          <p:nvPr/>
        </p:nvSpPr>
        <p:spPr>
          <a:xfrm>
            <a:off x="822960" y="1874520"/>
            <a:ext cx="10515600" cy="0"/>
          </a:xfrm>
          <a:prstGeom prst="line">
            <a:avLst/>
          </a:prstGeom>
          <a:noFill/>
          <a:ln w="38100">
            <a:solidFill>
              <a:srgbClr val="E4E2EF"/>
            </a:solidFill>
            <a:prstDash val="solid"/>
          </a:ln>
        </p:spPr>
        <p:txBody>
          <a:bodyPr/>
          <a:lstStyle/>
          <a:p>
            <a:endParaRPr lang="de-IN"/>
          </a:p>
        </p:txBody>
      </p:sp>
      <p:sp>
        <p:nvSpPr>
          <p:cNvPr id="10" name="Shape 7"/>
          <p:cNvSpPr/>
          <p:nvPr/>
        </p:nvSpPr>
        <p:spPr>
          <a:xfrm>
            <a:off x="685800" y="1709928"/>
            <a:ext cx="329184" cy="329184"/>
          </a:xfrm>
          <a:prstGeom prst="ellipse">
            <a:avLst/>
          </a:prstGeom>
          <a:solidFill>
            <a:srgbClr val="E8524F"/>
          </a:solidFill>
          <a:ln w="25400">
            <a:solidFill>
              <a:srgbClr val="FFFFFF"/>
            </a:solidFill>
            <a:prstDash val="solid"/>
          </a:ln>
        </p:spPr>
        <p:txBody>
          <a:bodyPr/>
          <a:lstStyle/>
          <a:p>
            <a:endParaRPr lang="de-IN"/>
          </a:p>
        </p:txBody>
      </p:sp>
      <p:sp>
        <p:nvSpPr>
          <p:cNvPr id="11" name="Text 8"/>
          <p:cNvSpPr txBox="1"/>
          <p:nvPr/>
        </p:nvSpPr>
        <p:spPr>
          <a:xfrm>
            <a:off x="548640" y="2148840"/>
            <a:ext cx="2651760" cy="274320"/>
          </a:xfrm>
          <a:prstGeom prst="rect">
            <a:avLst/>
          </a:prstGeom>
          <a:noFill/>
          <a:ln/>
        </p:spPr>
        <p:txBody>
          <a:bodyPr wrap="square" lIns="0" tIns="0" rIns="0" bIns="0" rtlCol="0" anchor="t"/>
          <a:lstStyle/>
          <a:p>
            <a:pPr marL="0" indent="0">
              <a:buNone/>
            </a:pPr>
            <a:r>
              <a:rPr lang="en-US" sz="1200" b="1" dirty="0">
                <a:solidFill>
                  <a:srgbClr val="E8524F"/>
                </a:solidFill>
                <a:latin typeface="Calibri" pitchFamily="34" charset="0"/>
                <a:ea typeface="Calibri" pitchFamily="34" charset="-122"/>
                <a:cs typeface="Calibri" pitchFamily="34" charset="-120"/>
              </a:rPr>
              <a:t>bis 14.10. · P2</a:t>
            </a:r>
            <a:endParaRPr lang="en-US" sz="1200" dirty="0"/>
          </a:p>
        </p:txBody>
      </p:sp>
      <p:sp>
        <p:nvSpPr>
          <p:cNvPr id="12" name="Text 9"/>
          <p:cNvSpPr txBox="1"/>
          <p:nvPr/>
        </p:nvSpPr>
        <p:spPr>
          <a:xfrm>
            <a:off x="548640" y="2423160"/>
            <a:ext cx="2651760" cy="365760"/>
          </a:xfrm>
          <a:prstGeom prst="rect">
            <a:avLst/>
          </a:prstGeom>
          <a:noFill/>
          <a:ln/>
        </p:spPr>
        <p:txBody>
          <a:bodyPr wrap="square" lIns="0" tIns="0" rIns="0" bIns="0" rtlCol="0" anchor="t"/>
          <a:lstStyle/>
          <a:p>
            <a:pPr marL="0" indent="0">
              <a:buNone/>
            </a:pPr>
            <a:r>
              <a:rPr lang="en-US" sz="1700" b="1" dirty="0">
                <a:solidFill>
                  <a:srgbClr val="1F1A4E"/>
                </a:solidFill>
                <a:latin typeface="Calibri" pitchFamily="34" charset="0"/>
                <a:ea typeface="Calibri" pitchFamily="34" charset="-122"/>
                <a:cs typeface="Calibri" pitchFamily="34" charset="-120"/>
              </a:rPr>
              <a:t>Problem verstehen</a:t>
            </a:r>
            <a:endParaRPr lang="en-US" sz="1700" dirty="0"/>
          </a:p>
        </p:txBody>
      </p:sp>
      <p:sp>
        <p:nvSpPr>
          <p:cNvPr id="13" name="Text 10"/>
          <p:cNvSpPr txBox="1"/>
          <p:nvPr/>
        </p:nvSpPr>
        <p:spPr>
          <a:xfrm>
            <a:off x="548640" y="2788920"/>
            <a:ext cx="2560320" cy="73152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Interviews und Umfrage</a:t>
            </a:r>
            <a:endParaRPr lang="en-US" sz="1300" dirty="0"/>
          </a:p>
        </p:txBody>
      </p:sp>
      <p:sp>
        <p:nvSpPr>
          <p:cNvPr id="14" name="Shape 11"/>
          <p:cNvSpPr/>
          <p:nvPr/>
        </p:nvSpPr>
        <p:spPr>
          <a:xfrm>
            <a:off x="3520440" y="1709928"/>
            <a:ext cx="329184" cy="329184"/>
          </a:xfrm>
          <a:prstGeom prst="ellipse">
            <a:avLst/>
          </a:prstGeom>
          <a:solidFill>
            <a:srgbClr val="6C4FF0"/>
          </a:solidFill>
          <a:ln w="25400">
            <a:solidFill>
              <a:srgbClr val="FFFFFF"/>
            </a:solidFill>
            <a:prstDash val="solid"/>
          </a:ln>
        </p:spPr>
        <p:txBody>
          <a:bodyPr/>
          <a:lstStyle/>
          <a:p>
            <a:endParaRPr lang="de-IN"/>
          </a:p>
        </p:txBody>
      </p:sp>
      <p:sp>
        <p:nvSpPr>
          <p:cNvPr id="15" name="Text 12"/>
          <p:cNvSpPr txBox="1"/>
          <p:nvPr/>
        </p:nvSpPr>
        <p:spPr>
          <a:xfrm>
            <a:off x="3383280" y="2148840"/>
            <a:ext cx="2651760" cy="274320"/>
          </a:xfrm>
          <a:prstGeom prst="rect">
            <a:avLst/>
          </a:prstGeom>
          <a:noFill/>
          <a:ln/>
        </p:spPr>
        <p:txBody>
          <a:bodyPr wrap="square" lIns="0" tIns="0" rIns="0" bIns="0" rtlCol="0" anchor="t"/>
          <a:lstStyle/>
          <a:p>
            <a:pPr marL="0" indent="0">
              <a:buNone/>
            </a:pPr>
            <a:r>
              <a:rPr lang="en-US" sz="1200" b="1" dirty="0">
                <a:solidFill>
                  <a:srgbClr val="6C4FF0"/>
                </a:solidFill>
                <a:latin typeface="Calibri" pitchFamily="34" charset="0"/>
                <a:ea typeface="Calibri" pitchFamily="34" charset="-122"/>
                <a:cs typeface="Calibri" pitchFamily="34" charset="-120"/>
              </a:rPr>
              <a:t>bis 28.10. · P3</a:t>
            </a:r>
            <a:endParaRPr lang="en-US" sz="1200" dirty="0"/>
          </a:p>
        </p:txBody>
      </p:sp>
      <p:sp>
        <p:nvSpPr>
          <p:cNvPr id="16" name="Text 13"/>
          <p:cNvSpPr txBox="1"/>
          <p:nvPr/>
        </p:nvSpPr>
        <p:spPr>
          <a:xfrm>
            <a:off x="3383280" y="2423160"/>
            <a:ext cx="2651760" cy="365760"/>
          </a:xfrm>
          <a:prstGeom prst="rect">
            <a:avLst/>
          </a:prstGeom>
          <a:noFill/>
          <a:ln/>
        </p:spPr>
        <p:txBody>
          <a:bodyPr wrap="square" lIns="0" tIns="0" rIns="0" bIns="0" rtlCol="0" anchor="t"/>
          <a:lstStyle/>
          <a:p>
            <a:pPr marL="0" indent="0">
              <a:buNone/>
            </a:pPr>
            <a:r>
              <a:rPr lang="en-US" sz="1700" b="1" dirty="0">
                <a:solidFill>
                  <a:srgbClr val="1F1A4E"/>
                </a:solidFill>
                <a:latin typeface="Calibri" pitchFamily="34" charset="0"/>
                <a:ea typeface="Calibri" pitchFamily="34" charset="-122"/>
                <a:cs typeface="Calibri" pitchFamily="34" charset="-120"/>
              </a:rPr>
              <a:t>Lösung validieren</a:t>
            </a:r>
            <a:endParaRPr lang="en-US" sz="1700" dirty="0"/>
          </a:p>
        </p:txBody>
      </p:sp>
      <p:sp>
        <p:nvSpPr>
          <p:cNvPr id="17" name="Text 14"/>
          <p:cNvSpPr txBox="1"/>
          <p:nvPr/>
        </p:nvSpPr>
        <p:spPr>
          <a:xfrm>
            <a:off x="3383280" y="2788920"/>
            <a:ext cx="2560320" cy="73152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Mockups und Klick-Prototyp, 3–5 Personen</a:t>
            </a:r>
            <a:endParaRPr lang="en-US" sz="1300" dirty="0"/>
          </a:p>
        </p:txBody>
      </p:sp>
      <p:sp>
        <p:nvSpPr>
          <p:cNvPr id="18" name="Shape 15"/>
          <p:cNvSpPr/>
          <p:nvPr/>
        </p:nvSpPr>
        <p:spPr>
          <a:xfrm>
            <a:off x="6355080" y="1709928"/>
            <a:ext cx="329184" cy="329184"/>
          </a:xfrm>
          <a:prstGeom prst="ellipse">
            <a:avLst/>
          </a:prstGeom>
          <a:solidFill>
            <a:srgbClr val="0E8F82"/>
          </a:solidFill>
          <a:ln w="25400">
            <a:solidFill>
              <a:srgbClr val="FFFFFF"/>
            </a:solidFill>
            <a:prstDash val="solid"/>
          </a:ln>
        </p:spPr>
        <p:txBody>
          <a:bodyPr/>
          <a:lstStyle/>
          <a:p>
            <a:endParaRPr lang="de-IN"/>
          </a:p>
        </p:txBody>
      </p:sp>
      <p:sp>
        <p:nvSpPr>
          <p:cNvPr id="19" name="Text 16"/>
          <p:cNvSpPr txBox="1"/>
          <p:nvPr/>
        </p:nvSpPr>
        <p:spPr>
          <a:xfrm>
            <a:off x="6217920" y="2148840"/>
            <a:ext cx="2651760" cy="274320"/>
          </a:xfrm>
          <a:prstGeom prst="rect">
            <a:avLst/>
          </a:prstGeom>
          <a:noFill/>
          <a:ln/>
        </p:spPr>
        <p:txBody>
          <a:bodyPr wrap="square" lIns="0" tIns="0" rIns="0" bIns="0" rtlCol="0" anchor="t"/>
          <a:lstStyle/>
          <a:p>
            <a:pPr marL="0" indent="0">
              <a:buNone/>
            </a:pPr>
            <a:r>
              <a:rPr lang="en-US" sz="1200" b="1" dirty="0">
                <a:solidFill>
                  <a:srgbClr val="0E8F82"/>
                </a:solidFill>
                <a:latin typeface="Calibri" pitchFamily="34" charset="0"/>
                <a:ea typeface="Calibri" pitchFamily="34" charset="-122"/>
                <a:cs typeface="Calibri" pitchFamily="34" charset="-120"/>
              </a:rPr>
              <a:t>bis 11.11. · P4</a:t>
            </a:r>
            <a:endParaRPr lang="en-US" sz="1200" dirty="0"/>
          </a:p>
        </p:txBody>
      </p:sp>
      <p:sp>
        <p:nvSpPr>
          <p:cNvPr id="20" name="Text 17"/>
          <p:cNvSpPr txBox="1"/>
          <p:nvPr/>
        </p:nvSpPr>
        <p:spPr>
          <a:xfrm>
            <a:off x="6217920" y="2423160"/>
            <a:ext cx="2651760" cy="365760"/>
          </a:xfrm>
          <a:prstGeom prst="rect">
            <a:avLst/>
          </a:prstGeom>
          <a:noFill/>
          <a:ln/>
        </p:spPr>
        <p:txBody>
          <a:bodyPr wrap="square" lIns="0" tIns="0" rIns="0" bIns="0" rtlCol="0" anchor="t"/>
          <a:lstStyle/>
          <a:p>
            <a:pPr marL="0" indent="0">
              <a:buNone/>
            </a:pPr>
            <a:r>
              <a:rPr lang="en-US" sz="1700" b="1" dirty="0">
                <a:solidFill>
                  <a:srgbClr val="1F1A4E"/>
                </a:solidFill>
                <a:latin typeface="Calibri" pitchFamily="34" charset="0"/>
                <a:ea typeface="Calibri" pitchFamily="34" charset="-122"/>
                <a:cs typeface="Calibri" pitchFamily="34" charset="-120"/>
              </a:rPr>
              <a:t>Funktionen prüfen</a:t>
            </a:r>
            <a:endParaRPr lang="en-US" sz="1700" dirty="0"/>
          </a:p>
        </p:txBody>
      </p:sp>
      <p:sp>
        <p:nvSpPr>
          <p:cNvPr id="21" name="Text 18"/>
          <p:cNvSpPr txBox="1"/>
          <p:nvPr/>
        </p:nvSpPr>
        <p:spPr>
          <a:xfrm>
            <a:off x="6217920" y="2788920"/>
            <a:ext cx="2560320" cy="73152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Demo des Zwischenstands, 3–5 Personen</a:t>
            </a:r>
            <a:endParaRPr lang="en-US" sz="1300" dirty="0"/>
          </a:p>
        </p:txBody>
      </p:sp>
      <p:sp>
        <p:nvSpPr>
          <p:cNvPr id="22" name="Shape 19"/>
          <p:cNvSpPr/>
          <p:nvPr/>
        </p:nvSpPr>
        <p:spPr>
          <a:xfrm>
            <a:off x="9189720" y="1709928"/>
            <a:ext cx="329184" cy="329184"/>
          </a:xfrm>
          <a:prstGeom prst="ellipse">
            <a:avLst/>
          </a:prstGeom>
          <a:solidFill>
            <a:srgbClr val="E89A0C"/>
          </a:solidFill>
          <a:ln w="25400">
            <a:solidFill>
              <a:srgbClr val="FFFFFF"/>
            </a:solidFill>
            <a:prstDash val="solid"/>
          </a:ln>
        </p:spPr>
        <p:txBody>
          <a:bodyPr/>
          <a:lstStyle/>
          <a:p>
            <a:endParaRPr lang="de-IN"/>
          </a:p>
        </p:txBody>
      </p:sp>
      <p:sp>
        <p:nvSpPr>
          <p:cNvPr id="23" name="Text 20"/>
          <p:cNvSpPr txBox="1"/>
          <p:nvPr/>
        </p:nvSpPr>
        <p:spPr>
          <a:xfrm>
            <a:off x="9052560" y="2148840"/>
            <a:ext cx="2651760" cy="274320"/>
          </a:xfrm>
          <a:prstGeom prst="rect">
            <a:avLst/>
          </a:prstGeom>
          <a:noFill/>
          <a:ln/>
        </p:spPr>
        <p:txBody>
          <a:bodyPr wrap="square" lIns="0" tIns="0" rIns="0" bIns="0" rtlCol="0" anchor="t"/>
          <a:lstStyle/>
          <a:p>
            <a:pPr marL="0" indent="0">
              <a:buNone/>
            </a:pPr>
            <a:r>
              <a:rPr lang="en-US" sz="1200" b="1" dirty="0">
                <a:solidFill>
                  <a:srgbClr val="7A4F00"/>
                </a:solidFill>
                <a:latin typeface="Calibri" pitchFamily="34" charset="0"/>
                <a:ea typeface="Calibri" pitchFamily="34" charset="-122"/>
                <a:cs typeface="Calibri" pitchFamily="34" charset="-120"/>
              </a:rPr>
              <a:t>02.12. · vor P6</a:t>
            </a:r>
            <a:endParaRPr lang="en-US" sz="1200" dirty="0"/>
          </a:p>
        </p:txBody>
      </p:sp>
      <p:sp>
        <p:nvSpPr>
          <p:cNvPr id="24" name="Text 21"/>
          <p:cNvSpPr txBox="1"/>
          <p:nvPr/>
        </p:nvSpPr>
        <p:spPr>
          <a:xfrm>
            <a:off x="9052560" y="2423160"/>
            <a:ext cx="2651760" cy="365760"/>
          </a:xfrm>
          <a:prstGeom prst="rect">
            <a:avLst/>
          </a:prstGeom>
          <a:noFill/>
          <a:ln/>
        </p:spPr>
        <p:txBody>
          <a:bodyPr wrap="square" lIns="0" tIns="0" rIns="0" bIns="0" rtlCol="0" anchor="t"/>
          <a:lstStyle/>
          <a:p>
            <a:pPr marL="0" indent="0">
              <a:buNone/>
            </a:pPr>
            <a:r>
              <a:rPr lang="en-US" sz="1700" b="1" dirty="0">
                <a:solidFill>
                  <a:srgbClr val="1F1A4E"/>
                </a:solidFill>
                <a:latin typeface="Calibri" pitchFamily="34" charset="0"/>
                <a:ea typeface="Calibri" pitchFamily="34" charset="-122"/>
                <a:cs typeface="Calibri" pitchFamily="34" charset="-120"/>
              </a:rPr>
              <a:t>Nutzertests</a:t>
            </a:r>
            <a:endParaRPr lang="en-US" sz="1700" dirty="0"/>
          </a:p>
        </p:txBody>
      </p:sp>
      <p:sp>
        <p:nvSpPr>
          <p:cNvPr id="25" name="Text 22"/>
          <p:cNvSpPr txBox="1"/>
          <p:nvPr/>
        </p:nvSpPr>
        <p:spPr>
          <a:xfrm>
            <a:off x="9052560" y="2788920"/>
            <a:ext cx="2560320" cy="73152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Aufgabenbasiert mit lautem Denken, SUS-Fragebogen (Brooke, 1996)</a:t>
            </a:r>
            <a:endParaRPr lang="en-US" sz="1300" dirty="0"/>
          </a:p>
        </p:txBody>
      </p:sp>
      <p:sp>
        <p:nvSpPr>
          <p:cNvPr id="26" name="Shape 23"/>
          <p:cNvSpPr/>
          <p:nvPr/>
        </p:nvSpPr>
        <p:spPr>
          <a:xfrm>
            <a:off x="548640" y="3840480"/>
            <a:ext cx="6675120" cy="2240280"/>
          </a:xfrm>
          <a:prstGeom prst="roundRect">
            <a:avLst>
              <a:gd name="adj" fmla="val 4898"/>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7" name="Text 24"/>
          <p:cNvSpPr txBox="1"/>
          <p:nvPr/>
        </p:nvSpPr>
        <p:spPr>
          <a:xfrm>
            <a:off x="822960" y="3977640"/>
            <a:ext cx="6217920" cy="365760"/>
          </a:xfrm>
          <a:prstGeom prst="rect">
            <a:avLst/>
          </a:prstGeom>
          <a:noFill/>
          <a:ln/>
        </p:spPr>
        <p:txBody>
          <a:bodyPr wrap="square" lIns="0" tIns="0" rIns="0" bIns="0" rtlCol="0" anchor="t"/>
          <a:lstStyle/>
          <a:p>
            <a:pPr marL="0" indent="0">
              <a:buNone/>
            </a:pPr>
            <a:r>
              <a:rPr lang="en-US" sz="1600" b="1" dirty="0">
                <a:solidFill>
                  <a:srgbClr val="1F1A4E"/>
                </a:solidFill>
                <a:latin typeface="Calibri" pitchFamily="34" charset="0"/>
                <a:ea typeface="Calibri" pitchFamily="34" charset="-122"/>
                <a:cs typeface="Calibri" pitchFamily="34" charset="-120"/>
              </a:rPr>
              <a:t>Nachvollziehbarkeit jeder Rückmeldung</a:t>
            </a:r>
            <a:endParaRPr lang="en-US" sz="1600" dirty="0"/>
          </a:p>
        </p:txBody>
      </p:sp>
      <p:sp>
        <p:nvSpPr>
          <p:cNvPr id="28" name="Shape 25"/>
          <p:cNvSpPr/>
          <p:nvPr/>
        </p:nvSpPr>
        <p:spPr>
          <a:xfrm>
            <a:off x="822960" y="4572000"/>
            <a:ext cx="1234440" cy="1188720"/>
          </a:xfrm>
          <a:prstGeom prst="roundRect">
            <a:avLst>
              <a:gd name="adj" fmla="val 7692"/>
            </a:avLst>
          </a:prstGeom>
          <a:solidFill>
            <a:srgbClr val="E8524F"/>
          </a:solidFill>
          <a:ln w="12700">
            <a:solidFill>
              <a:srgbClr val="E8524F"/>
            </a:solidFill>
            <a:prstDash val="solid"/>
          </a:ln>
        </p:spPr>
        <p:txBody>
          <a:bodyPr/>
          <a:lstStyle/>
          <a:p>
            <a:endParaRPr lang="de-IN"/>
          </a:p>
        </p:txBody>
      </p:sp>
      <p:sp>
        <p:nvSpPr>
          <p:cNvPr id="29" name="Text 26"/>
          <p:cNvSpPr txBox="1"/>
          <p:nvPr/>
        </p:nvSpPr>
        <p:spPr>
          <a:xfrm>
            <a:off x="822960" y="4800600"/>
            <a:ext cx="1234440" cy="36576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Feedback</a:t>
            </a:r>
            <a:endParaRPr lang="en-US" sz="1350" dirty="0"/>
          </a:p>
        </p:txBody>
      </p:sp>
      <p:sp>
        <p:nvSpPr>
          <p:cNvPr id="30" name="Text 27"/>
          <p:cNvSpPr txBox="1"/>
          <p:nvPr/>
        </p:nvSpPr>
        <p:spPr>
          <a:xfrm>
            <a:off x="822960" y="5193792"/>
            <a:ext cx="1234440" cy="365760"/>
          </a:xfrm>
          <a:prstGeom prst="rect">
            <a:avLst/>
          </a:prstGeom>
          <a:noFill/>
          <a:ln/>
        </p:spPr>
        <p:txBody>
          <a:bodyPr wrap="square" lIns="0" tIns="0" rIns="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F-01</a:t>
            </a:r>
            <a:endParaRPr lang="en-US" sz="1150" dirty="0"/>
          </a:p>
        </p:txBody>
      </p:sp>
      <p:pic>
        <p:nvPicPr>
          <p:cNvPr id="31" name="Image 0" descr="preencoded.png"/>
          <p:cNvPicPr>
            <a:picLocks noChangeAspect="1"/>
          </p:cNvPicPr>
          <p:nvPr/>
        </p:nvPicPr>
        <p:blipFill>
          <a:blip r:embed="rId3"/>
          <a:stretch>
            <a:fillRect/>
          </a:stretch>
        </p:blipFill>
        <p:spPr>
          <a:xfrm>
            <a:off x="2130552" y="5029200"/>
            <a:ext cx="164592" cy="256032"/>
          </a:xfrm>
          <a:prstGeom prst="rect">
            <a:avLst/>
          </a:prstGeom>
        </p:spPr>
      </p:pic>
      <p:sp>
        <p:nvSpPr>
          <p:cNvPr id="32" name="Shape 28"/>
          <p:cNvSpPr/>
          <p:nvPr/>
        </p:nvSpPr>
        <p:spPr>
          <a:xfrm>
            <a:off x="2395728" y="4572000"/>
            <a:ext cx="1234440" cy="1188720"/>
          </a:xfrm>
          <a:prstGeom prst="roundRect">
            <a:avLst>
              <a:gd name="adj" fmla="val 7692"/>
            </a:avLst>
          </a:prstGeom>
          <a:solidFill>
            <a:srgbClr val="6C4FF0"/>
          </a:solidFill>
          <a:ln w="12700">
            <a:solidFill>
              <a:srgbClr val="6C4FF0"/>
            </a:solidFill>
            <a:prstDash val="solid"/>
          </a:ln>
        </p:spPr>
        <p:txBody>
          <a:bodyPr/>
          <a:lstStyle/>
          <a:p>
            <a:endParaRPr lang="de-IN"/>
          </a:p>
        </p:txBody>
      </p:sp>
      <p:sp>
        <p:nvSpPr>
          <p:cNvPr id="33" name="Text 29"/>
          <p:cNvSpPr txBox="1"/>
          <p:nvPr/>
        </p:nvSpPr>
        <p:spPr>
          <a:xfrm>
            <a:off x="2395728" y="4800600"/>
            <a:ext cx="1234440" cy="36576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Anforderung</a:t>
            </a:r>
            <a:endParaRPr lang="en-US" sz="1350" dirty="0"/>
          </a:p>
        </p:txBody>
      </p:sp>
      <p:sp>
        <p:nvSpPr>
          <p:cNvPr id="34" name="Text 30"/>
          <p:cNvSpPr txBox="1"/>
          <p:nvPr/>
        </p:nvSpPr>
        <p:spPr>
          <a:xfrm>
            <a:off x="2395728" y="5193792"/>
            <a:ext cx="1234440" cy="365760"/>
          </a:xfrm>
          <a:prstGeom prst="rect">
            <a:avLst/>
          </a:prstGeom>
          <a:noFill/>
          <a:ln/>
        </p:spPr>
        <p:txBody>
          <a:bodyPr wrap="square" lIns="0" tIns="0" rIns="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User Story</a:t>
            </a:r>
            <a:endParaRPr lang="en-US" sz="1150" dirty="0"/>
          </a:p>
        </p:txBody>
      </p:sp>
      <p:pic>
        <p:nvPicPr>
          <p:cNvPr id="35" name="Image 1" descr="preencoded.png"/>
          <p:cNvPicPr>
            <a:picLocks noChangeAspect="1"/>
          </p:cNvPicPr>
          <p:nvPr/>
        </p:nvPicPr>
        <p:blipFill>
          <a:blip r:embed="rId3"/>
          <a:stretch>
            <a:fillRect/>
          </a:stretch>
        </p:blipFill>
        <p:spPr>
          <a:xfrm>
            <a:off x="3703320" y="5029200"/>
            <a:ext cx="164592" cy="256032"/>
          </a:xfrm>
          <a:prstGeom prst="rect">
            <a:avLst/>
          </a:prstGeom>
        </p:spPr>
      </p:pic>
      <p:sp>
        <p:nvSpPr>
          <p:cNvPr id="36" name="Shape 31"/>
          <p:cNvSpPr/>
          <p:nvPr/>
        </p:nvSpPr>
        <p:spPr>
          <a:xfrm>
            <a:off x="3968496" y="4572000"/>
            <a:ext cx="1234440" cy="1188720"/>
          </a:xfrm>
          <a:prstGeom prst="roundRect">
            <a:avLst>
              <a:gd name="adj" fmla="val 7692"/>
            </a:avLst>
          </a:prstGeom>
          <a:solidFill>
            <a:srgbClr val="0E8F82"/>
          </a:solidFill>
          <a:ln w="12700">
            <a:solidFill>
              <a:srgbClr val="0E8F82"/>
            </a:solidFill>
            <a:prstDash val="solid"/>
          </a:ln>
        </p:spPr>
        <p:txBody>
          <a:bodyPr/>
          <a:lstStyle/>
          <a:p>
            <a:endParaRPr lang="de-IN"/>
          </a:p>
        </p:txBody>
      </p:sp>
      <p:sp>
        <p:nvSpPr>
          <p:cNvPr id="37" name="Text 32"/>
          <p:cNvSpPr txBox="1"/>
          <p:nvPr/>
        </p:nvSpPr>
        <p:spPr>
          <a:xfrm>
            <a:off x="3968496" y="4800600"/>
            <a:ext cx="1234440" cy="36576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Ticket</a:t>
            </a:r>
            <a:endParaRPr lang="en-US" sz="1350" dirty="0"/>
          </a:p>
        </p:txBody>
      </p:sp>
      <p:sp>
        <p:nvSpPr>
          <p:cNvPr id="38" name="Text 33"/>
          <p:cNvSpPr txBox="1"/>
          <p:nvPr/>
        </p:nvSpPr>
        <p:spPr>
          <a:xfrm>
            <a:off x="3968496" y="5193792"/>
            <a:ext cx="1234440" cy="365760"/>
          </a:xfrm>
          <a:prstGeom prst="rect">
            <a:avLst/>
          </a:prstGeom>
          <a:noFill/>
          <a:ln/>
        </p:spPr>
        <p:txBody>
          <a:bodyPr wrap="square" lIns="0" tIns="0" rIns="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Issue &amp; Commit</a:t>
            </a:r>
            <a:endParaRPr lang="en-US" sz="1150" dirty="0"/>
          </a:p>
        </p:txBody>
      </p:sp>
      <p:pic>
        <p:nvPicPr>
          <p:cNvPr id="39" name="Image 2" descr="preencoded.png"/>
          <p:cNvPicPr>
            <a:picLocks noChangeAspect="1"/>
          </p:cNvPicPr>
          <p:nvPr/>
        </p:nvPicPr>
        <p:blipFill>
          <a:blip r:embed="rId3"/>
          <a:stretch>
            <a:fillRect/>
          </a:stretch>
        </p:blipFill>
        <p:spPr>
          <a:xfrm>
            <a:off x="5276088" y="5029200"/>
            <a:ext cx="164592" cy="256032"/>
          </a:xfrm>
          <a:prstGeom prst="rect">
            <a:avLst/>
          </a:prstGeom>
        </p:spPr>
      </p:pic>
      <p:sp>
        <p:nvSpPr>
          <p:cNvPr id="40" name="Shape 34"/>
          <p:cNvSpPr/>
          <p:nvPr/>
        </p:nvSpPr>
        <p:spPr>
          <a:xfrm>
            <a:off x="5541264" y="4572000"/>
            <a:ext cx="1234440" cy="1188720"/>
          </a:xfrm>
          <a:prstGeom prst="roundRect">
            <a:avLst>
              <a:gd name="adj" fmla="val 7692"/>
            </a:avLst>
          </a:prstGeom>
          <a:solidFill>
            <a:srgbClr val="E89A0C"/>
          </a:solidFill>
          <a:ln w="12700">
            <a:solidFill>
              <a:srgbClr val="E89A0C"/>
            </a:solidFill>
            <a:prstDash val="solid"/>
          </a:ln>
        </p:spPr>
        <p:txBody>
          <a:bodyPr/>
          <a:lstStyle/>
          <a:p>
            <a:endParaRPr lang="de-IN"/>
          </a:p>
        </p:txBody>
      </p:sp>
      <p:sp>
        <p:nvSpPr>
          <p:cNvPr id="41" name="Text 35"/>
          <p:cNvSpPr txBox="1"/>
          <p:nvPr/>
        </p:nvSpPr>
        <p:spPr>
          <a:xfrm>
            <a:off x="5541264" y="4800600"/>
            <a:ext cx="1234440" cy="365760"/>
          </a:xfrm>
          <a:prstGeom prst="rect">
            <a:avLst/>
          </a:prstGeom>
          <a:noFill/>
          <a:ln/>
        </p:spPr>
        <p:txBody>
          <a:bodyPr wrap="square" lIns="0" tIns="0" rIns="0" bIns="0" rtlCol="0" anchor="t"/>
          <a:lstStyle/>
          <a:p>
            <a:pPr marL="0" indent="0" algn="ctr">
              <a:buNone/>
            </a:pPr>
            <a:r>
              <a:rPr lang="en-US" sz="1350" b="1" dirty="0">
                <a:solidFill>
                  <a:srgbClr val="1F1A4E"/>
                </a:solidFill>
                <a:latin typeface="Calibri" pitchFamily="34" charset="0"/>
                <a:ea typeface="Calibri" pitchFamily="34" charset="-122"/>
                <a:cs typeface="Calibri" pitchFamily="34" charset="-120"/>
              </a:rPr>
              <a:t>Umsetzung</a:t>
            </a:r>
            <a:endParaRPr lang="en-US" sz="1350" dirty="0"/>
          </a:p>
        </p:txBody>
      </p:sp>
      <p:sp>
        <p:nvSpPr>
          <p:cNvPr id="42" name="Text 36"/>
          <p:cNvSpPr txBox="1"/>
          <p:nvPr/>
        </p:nvSpPr>
        <p:spPr>
          <a:xfrm>
            <a:off x="5541264" y="5193792"/>
            <a:ext cx="1234440" cy="365760"/>
          </a:xfrm>
          <a:prstGeom prst="rect">
            <a:avLst/>
          </a:prstGeom>
          <a:noFill/>
          <a:ln/>
        </p:spPr>
        <p:txBody>
          <a:bodyPr wrap="square" lIns="0" tIns="0" rIns="0" bIns="0" rtlCol="0" anchor="t"/>
          <a:lstStyle/>
          <a:p>
            <a:pPr marL="0" indent="0" algn="ctr">
              <a:buNone/>
            </a:pPr>
            <a:r>
              <a:rPr lang="en-US" sz="1150" dirty="0">
                <a:solidFill>
                  <a:srgbClr val="1F1A4E"/>
                </a:solidFill>
                <a:latin typeface="Calibri" pitchFamily="34" charset="0"/>
                <a:ea typeface="Calibri" pitchFamily="34" charset="-122"/>
                <a:cs typeface="Calibri" pitchFamily="34" charset="-120"/>
              </a:rPr>
              <a:t>im Produkt</a:t>
            </a:r>
            <a:endParaRPr lang="en-US" sz="1150" dirty="0"/>
          </a:p>
        </p:txBody>
      </p:sp>
      <p:sp>
        <p:nvSpPr>
          <p:cNvPr id="43" name="Shape 37"/>
          <p:cNvSpPr/>
          <p:nvPr/>
        </p:nvSpPr>
        <p:spPr>
          <a:xfrm>
            <a:off x="7498080" y="3840480"/>
            <a:ext cx="4142232" cy="2240280"/>
          </a:xfrm>
          <a:prstGeom prst="roundRect">
            <a:avLst>
              <a:gd name="adj" fmla="val 4898"/>
            </a:avLst>
          </a:prstGeom>
          <a:solidFill>
            <a:srgbClr val="F6F5FB"/>
          </a:solidFill>
          <a:ln w="9525">
            <a:solidFill>
              <a:srgbClr val="F6F5FB"/>
            </a:solidFill>
            <a:prstDash val="solid"/>
          </a:ln>
        </p:spPr>
        <p:txBody>
          <a:bodyPr/>
          <a:lstStyle/>
          <a:p>
            <a:endParaRPr lang="de-IN"/>
          </a:p>
        </p:txBody>
      </p:sp>
      <p:sp>
        <p:nvSpPr>
          <p:cNvPr id="44" name="Text 38"/>
          <p:cNvSpPr txBox="1"/>
          <p:nvPr/>
        </p:nvSpPr>
        <p:spPr>
          <a:xfrm>
            <a:off x="7772400" y="3977640"/>
            <a:ext cx="3657600" cy="365760"/>
          </a:xfrm>
          <a:prstGeom prst="rect">
            <a:avLst/>
          </a:prstGeom>
          <a:noFill/>
          <a:ln/>
        </p:spPr>
        <p:txBody>
          <a:bodyPr wrap="square" lIns="0" tIns="0" rIns="0" bIns="0" rtlCol="0" anchor="t"/>
          <a:lstStyle/>
          <a:p>
            <a:pPr marL="0" indent="0">
              <a:buNone/>
            </a:pPr>
            <a:r>
              <a:rPr lang="en-US" sz="1600" b="1" dirty="0">
                <a:solidFill>
                  <a:srgbClr val="1F1A4E"/>
                </a:solidFill>
                <a:latin typeface="Calibri" pitchFamily="34" charset="0"/>
                <a:ea typeface="Calibri" pitchFamily="34" charset="-122"/>
                <a:cs typeface="Calibri" pitchFamily="34" charset="-120"/>
              </a:rPr>
              <a:t>Stand heute</a:t>
            </a:r>
            <a:endParaRPr lang="en-US" sz="1600" dirty="0"/>
          </a:p>
        </p:txBody>
      </p:sp>
      <p:pic>
        <p:nvPicPr>
          <p:cNvPr id="45" name="Image 3" descr="preencoded.png"/>
          <p:cNvPicPr>
            <a:picLocks noChangeAspect="1"/>
          </p:cNvPicPr>
          <p:nvPr/>
        </p:nvPicPr>
        <p:blipFill>
          <a:blip r:embed="rId4"/>
          <a:stretch>
            <a:fillRect/>
          </a:stretch>
        </p:blipFill>
        <p:spPr>
          <a:xfrm>
            <a:off x="7772400" y="4526280"/>
            <a:ext cx="237744" cy="237744"/>
          </a:xfrm>
          <a:prstGeom prst="rect">
            <a:avLst/>
          </a:prstGeom>
        </p:spPr>
      </p:pic>
      <p:sp>
        <p:nvSpPr>
          <p:cNvPr id="46" name="Text 39"/>
          <p:cNvSpPr txBox="1"/>
          <p:nvPr/>
        </p:nvSpPr>
        <p:spPr>
          <a:xfrm>
            <a:off x="8138160" y="4480560"/>
            <a:ext cx="3383280" cy="36576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Umfrage für Mitarbeitende erstellt</a:t>
            </a:r>
            <a:endParaRPr lang="en-US" sz="1350" dirty="0"/>
          </a:p>
        </p:txBody>
      </p:sp>
      <p:pic>
        <p:nvPicPr>
          <p:cNvPr id="47" name="Image 4" descr="preencoded.png"/>
          <p:cNvPicPr>
            <a:picLocks noChangeAspect="1"/>
          </p:cNvPicPr>
          <p:nvPr/>
        </p:nvPicPr>
        <p:blipFill>
          <a:blip r:embed="rId4"/>
          <a:stretch>
            <a:fillRect/>
          </a:stretch>
        </p:blipFill>
        <p:spPr>
          <a:xfrm>
            <a:off x="7772400" y="4983480"/>
            <a:ext cx="237744" cy="237744"/>
          </a:xfrm>
          <a:prstGeom prst="rect">
            <a:avLst/>
          </a:prstGeom>
        </p:spPr>
      </p:pic>
      <p:sp>
        <p:nvSpPr>
          <p:cNvPr id="48" name="Text 40"/>
          <p:cNvSpPr txBox="1"/>
          <p:nvPr/>
        </p:nvSpPr>
        <p:spPr>
          <a:xfrm>
            <a:off x="8138160" y="4937760"/>
            <a:ext cx="3383280" cy="36576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Kontaktliste erstellt</a:t>
            </a:r>
            <a:endParaRPr lang="en-US" sz="1350" dirty="0"/>
          </a:p>
        </p:txBody>
      </p:sp>
      <p:pic>
        <p:nvPicPr>
          <p:cNvPr id="49" name="Image 5" descr="preencoded.png"/>
          <p:cNvPicPr>
            <a:picLocks noChangeAspect="1"/>
          </p:cNvPicPr>
          <p:nvPr/>
        </p:nvPicPr>
        <p:blipFill>
          <a:blip r:embed="rId5"/>
          <a:stretch>
            <a:fillRect/>
          </a:stretch>
        </p:blipFill>
        <p:spPr>
          <a:xfrm>
            <a:off x="7772400" y="5440680"/>
            <a:ext cx="237744" cy="237744"/>
          </a:xfrm>
          <a:prstGeom prst="rect">
            <a:avLst/>
          </a:prstGeom>
        </p:spPr>
      </p:pic>
      <p:sp>
        <p:nvSpPr>
          <p:cNvPr id="50" name="Text 41"/>
          <p:cNvSpPr txBox="1"/>
          <p:nvPr/>
        </p:nvSpPr>
        <p:spPr>
          <a:xfrm>
            <a:off x="8138160" y="5394960"/>
            <a:ext cx="3383280" cy="36576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Anfragen und Interviewleitfaden bis 07.10.</a:t>
            </a:r>
            <a:endParaRPr lang="en-US" sz="1350" dirty="0"/>
          </a:p>
        </p:txBody>
      </p:sp>
      <p:sp>
        <p:nvSpPr>
          <p:cNvPr id="51" name="Text 42"/>
          <p:cNvSpPr txBox="1"/>
          <p:nvPr/>
        </p:nvSpPr>
        <p:spPr>
          <a:xfrm>
            <a:off x="7772400" y="5715000"/>
            <a:ext cx="3657600" cy="274320"/>
          </a:xfrm>
          <a:prstGeom prst="rect">
            <a:avLst/>
          </a:prstGeom>
          <a:noFill/>
          <a:ln/>
        </p:spPr>
        <p:txBody>
          <a:bodyPr wrap="square" lIns="0" tIns="0" rIns="0" bIns="0" rtlCol="0" anchor="t"/>
          <a:lstStyle/>
          <a:p>
            <a:pPr marL="0" indent="0">
              <a:buNone/>
            </a:pPr>
            <a:r>
              <a:rPr lang="en-US" sz="1200" i="1" dirty="0">
                <a:solidFill>
                  <a:srgbClr val="6B6890"/>
                </a:solidFill>
                <a:latin typeface="Calibri" pitchFamily="34" charset="0"/>
                <a:ea typeface="Calibri" pitchFamily="34" charset="-122"/>
                <a:cs typeface="Calibri" pitchFamily="34" charset="-120"/>
              </a:rPr>
              <a:t>Die Erhebung startet in Sprint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3 · TEAM &amp; ROLLEN</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Vier Personen, fünf Verantwortlichkeiten</a:t>
            </a:r>
            <a:endParaRPr lang="en-US" sz="3000" dirty="0"/>
          </a:p>
        </p:txBody>
      </p:sp>
      <p:sp>
        <p:nvSpPr>
          <p:cNvPr id="4" name="Shape 2"/>
          <p:cNvSpPr/>
          <p:nvPr/>
        </p:nvSpPr>
        <p:spPr>
          <a:xfrm>
            <a:off x="10287000" y="502920"/>
            <a:ext cx="13716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Asif</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10</a:t>
            </a:r>
            <a:endParaRPr lang="en-US" sz="900" dirty="0"/>
          </a:p>
        </p:txBody>
      </p:sp>
      <p:sp>
        <p:nvSpPr>
          <p:cNvPr id="9" name="Shape 6"/>
          <p:cNvSpPr/>
          <p:nvPr/>
        </p:nvSpPr>
        <p:spPr>
          <a:xfrm>
            <a:off x="548640" y="1554480"/>
            <a:ext cx="2560320" cy="3200400"/>
          </a:xfrm>
          <a:prstGeom prst="roundRect">
            <a:avLst>
              <a:gd name="adj" fmla="val 428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0" name="Shape 7"/>
          <p:cNvSpPr/>
          <p:nvPr/>
        </p:nvSpPr>
        <p:spPr>
          <a:xfrm>
            <a:off x="822960" y="1828800"/>
            <a:ext cx="731520" cy="731520"/>
          </a:xfrm>
          <a:prstGeom prst="ellipse">
            <a:avLst/>
          </a:prstGeom>
          <a:solidFill>
            <a:srgbClr val="E8524F"/>
          </a:solidFill>
          <a:ln w="12700">
            <a:solidFill>
              <a:srgbClr val="E8524F"/>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1013155" y="2018995"/>
            <a:ext cx="351130" cy="351130"/>
          </a:xfrm>
          <a:prstGeom prst="rect">
            <a:avLst/>
          </a:prstGeom>
        </p:spPr>
      </p:pic>
      <p:sp>
        <p:nvSpPr>
          <p:cNvPr id="12" name="Text 8"/>
          <p:cNvSpPr txBox="1"/>
          <p:nvPr/>
        </p:nvSpPr>
        <p:spPr>
          <a:xfrm>
            <a:off x="822960" y="2651760"/>
            <a:ext cx="2103120" cy="566928"/>
          </a:xfrm>
          <a:prstGeom prst="rect">
            <a:avLst/>
          </a:prstGeom>
          <a:noFill/>
          <a:ln/>
        </p:spPr>
        <p:txBody>
          <a:bodyPr wrap="square" lIns="0" tIns="0" rIns="0" bIns="0" rtlCol="0" anchor="t"/>
          <a:lstStyle/>
          <a:p>
            <a:pPr marL="0" indent="0">
              <a:buNone/>
            </a:pPr>
            <a:r>
              <a:rPr lang="en-US" sz="1500" b="1" dirty="0">
                <a:solidFill>
                  <a:srgbClr val="1F1A4E"/>
                </a:solidFill>
                <a:latin typeface="Calibri" pitchFamily="34" charset="0"/>
                <a:ea typeface="Calibri" pitchFamily="34" charset="-122"/>
                <a:cs typeface="Calibri" pitchFamily="34" charset="-120"/>
              </a:rPr>
              <a:t>Muhammed Asif Shahul Hameed</a:t>
            </a:r>
            <a:endParaRPr lang="en-US" sz="1500" dirty="0"/>
          </a:p>
        </p:txBody>
      </p:sp>
      <p:sp>
        <p:nvSpPr>
          <p:cNvPr id="13" name="Text 9"/>
          <p:cNvSpPr txBox="1"/>
          <p:nvPr/>
        </p:nvSpPr>
        <p:spPr>
          <a:xfrm>
            <a:off x="822960" y="3218688"/>
            <a:ext cx="2103120" cy="502920"/>
          </a:xfrm>
          <a:prstGeom prst="rect">
            <a:avLst/>
          </a:prstGeom>
          <a:noFill/>
          <a:ln/>
        </p:spPr>
        <p:txBody>
          <a:bodyPr wrap="square" lIns="0" tIns="0" rIns="0" bIns="0" rtlCol="0" anchor="t"/>
          <a:lstStyle/>
          <a:p>
            <a:pPr marL="0" indent="0">
              <a:buNone/>
            </a:pPr>
            <a:r>
              <a:rPr lang="en-US" sz="1300" b="1" dirty="0">
                <a:solidFill>
                  <a:srgbClr val="E8524F"/>
                </a:solidFill>
                <a:latin typeface="Calibri" pitchFamily="34" charset="0"/>
                <a:ea typeface="Calibri" pitchFamily="34" charset="-122"/>
                <a:cs typeface="Calibri" pitchFamily="34" charset="-120"/>
              </a:rPr>
              <a:t>Anforderungen + Management (Product Owner)</a:t>
            </a:r>
            <a:endParaRPr lang="en-US" sz="1300" dirty="0"/>
          </a:p>
        </p:txBody>
      </p:sp>
      <p:sp>
        <p:nvSpPr>
          <p:cNvPr id="14" name="Text 10"/>
          <p:cNvSpPr txBox="1"/>
          <p:nvPr/>
        </p:nvSpPr>
        <p:spPr>
          <a:xfrm>
            <a:off x="822960" y="3749040"/>
            <a:ext cx="2103120" cy="960120"/>
          </a:xfrm>
          <a:prstGeom prst="rect">
            <a:avLst/>
          </a:prstGeom>
          <a:noFill/>
          <a:ln/>
        </p:spPr>
        <p:txBody>
          <a:bodyPr wrap="square" lIns="0" tIns="0" rIns="0" bIns="0" rtlCol="0" anchor="t"/>
          <a:lstStyle/>
          <a:p>
            <a:pPr marL="0" indent="0">
              <a:buNone/>
            </a:pPr>
            <a:r>
              <a:rPr lang="en-US" sz="1200" b="1" dirty="0">
                <a:solidFill>
                  <a:srgbClr val="24204A"/>
                </a:solidFill>
                <a:latin typeface="Calibri" pitchFamily="34" charset="0"/>
                <a:ea typeface="Calibri" pitchFamily="34" charset="-122"/>
                <a:cs typeface="Calibri" pitchFamily="34" charset="-120"/>
              </a:rPr>
              <a:t>Ergebnis: </a:t>
            </a:r>
            <a:r>
              <a:rPr lang="en-US" sz="1200" dirty="0">
                <a:solidFill>
                  <a:srgbClr val="24204A"/>
                </a:solidFill>
                <a:latin typeface="Calibri" pitchFamily="34" charset="0"/>
                <a:ea typeface="Calibri" pitchFamily="34" charset="-122"/>
                <a:cs typeface="Calibri" pitchFamily="34" charset="-120"/>
              </a:rPr>
              <a:t>Anforderungen mit Feedback-Herkunft, Feedback-Dokumentation, Management- und Reflexionsbericht</a:t>
            </a:r>
            <a:endParaRPr lang="en-US" sz="1200" dirty="0"/>
          </a:p>
        </p:txBody>
      </p:sp>
      <p:sp>
        <p:nvSpPr>
          <p:cNvPr id="15" name="Shape 11"/>
          <p:cNvSpPr/>
          <p:nvPr/>
        </p:nvSpPr>
        <p:spPr>
          <a:xfrm>
            <a:off x="3392424" y="1554480"/>
            <a:ext cx="2560320" cy="3200400"/>
          </a:xfrm>
          <a:prstGeom prst="roundRect">
            <a:avLst>
              <a:gd name="adj" fmla="val 428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6" name="Shape 12"/>
          <p:cNvSpPr/>
          <p:nvPr/>
        </p:nvSpPr>
        <p:spPr>
          <a:xfrm>
            <a:off x="3666744" y="1828800"/>
            <a:ext cx="731520" cy="731520"/>
          </a:xfrm>
          <a:prstGeom prst="ellipse">
            <a:avLst/>
          </a:prstGeom>
          <a:solidFill>
            <a:srgbClr val="6C4FF0"/>
          </a:solidFill>
          <a:ln w="12700">
            <a:solidFill>
              <a:srgbClr val="6C4FF0"/>
            </a:solidFill>
            <a:prstDash val="solid"/>
          </a:ln>
        </p:spPr>
        <p:txBody>
          <a:bodyPr/>
          <a:lstStyle/>
          <a:p>
            <a:endParaRPr lang="de-IN"/>
          </a:p>
        </p:txBody>
      </p:sp>
      <p:pic>
        <p:nvPicPr>
          <p:cNvPr id="17" name="Image 1" descr="preencoded.png"/>
          <p:cNvPicPr>
            <a:picLocks noChangeAspect="1"/>
          </p:cNvPicPr>
          <p:nvPr/>
        </p:nvPicPr>
        <p:blipFill>
          <a:blip r:embed="rId4"/>
          <a:stretch>
            <a:fillRect/>
          </a:stretch>
        </p:blipFill>
        <p:spPr>
          <a:xfrm>
            <a:off x="3856939" y="2018995"/>
            <a:ext cx="351130" cy="351130"/>
          </a:xfrm>
          <a:prstGeom prst="rect">
            <a:avLst/>
          </a:prstGeom>
        </p:spPr>
      </p:pic>
      <p:sp>
        <p:nvSpPr>
          <p:cNvPr id="18" name="Text 13"/>
          <p:cNvSpPr txBox="1"/>
          <p:nvPr/>
        </p:nvSpPr>
        <p:spPr>
          <a:xfrm>
            <a:off x="3666744" y="2651760"/>
            <a:ext cx="2103120" cy="566928"/>
          </a:xfrm>
          <a:prstGeom prst="rect">
            <a:avLst/>
          </a:prstGeom>
          <a:noFill/>
          <a:ln/>
        </p:spPr>
        <p:txBody>
          <a:bodyPr wrap="square" lIns="0" tIns="0" rIns="0" bIns="0" rtlCol="0" anchor="t"/>
          <a:lstStyle/>
          <a:p>
            <a:pPr marL="0" indent="0">
              <a:buNone/>
            </a:pPr>
            <a:r>
              <a:rPr lang="en-US" sz="1500" b="1" dirty="0">
                <a:solidFill>
                  <a:srgbClr val="1F1A4E"/>
                </a:solidFill>
                <a:latin typeface="Calibri" pitchFamily="34" charset="0"/>
                <a:ea typeface="Calibri" pitchFamily="34" charset="-122"/>
                <a:cs typeface="Calibri" pitchFamily="34" charset="-120"/>
              </a:rPr>
              <a:t>Mahdi Fazeli</a:t>
            </a:r>
            <a:endParaRPr lang="en-US" sz="1500" dirty="0"/>
          </a:p>
        </p:txBody>
      </p:sp>
      <p:sp>
        <p:nvSpPr>
          <p:cNvPr id="19" name="Text 14"/>
          <p:cNvSpPr txBox="1"/>
          <p:nvPr/>
        </p:nvSpPr>
        <p:spPr>
          <a:xfrm>
            <a:off x="3666744" y="3218688"/>
            <a:ext cx="2103120" cy="502920"/>
          </a:xfrm>
          <a:prstGeom prst="rect">
            <a:avLst/>
          </a:prstGeom>
          <a:noFill/>
          <a:ln/>
        </p:spPr>
        <p:txBody>
          <a:bodyPr wrap="square" lIns="0" tIns="0" rIns="0" bIns="0" rtlCol="0" anchor="t"/>
          <a:lstStyle/>
          <a:p>
            <a:pPr marL="0" indent="0">
              <a:buNone/>
            </a:pPr>
            <a:r>
              <a:rPr lang="en-US" sz="1300" b="1" dirty="0">
                <a:solidFill>
                  <a:srgbClr val="6C4FF0"/>
                </a:solidFill>
                <a:latin typeface="Calibri" pitchFamily="34" charset="0"/>
                <a:ea typeface="Calibri" pitchFamily="34" charset="-122"/>
                <a:cs typeface="Calibri" pitchFamily="34" charset="-120"/>
              </a:rPr>
              <a:t>Architektur &amp; Entwurf</a:t>
            </a:r>
            <a:endParaRPr lang="en-US" sz="1300" dirty="0"/>
          </a:p>
        </p:txBody>
      </p:sp>
      <p:sp>
        <p:nvSpPr>
          <p:cNvPr id="20" name="Text 15"/>
          <p:cNvSpPr txBox="1"/>
          <p:nvPr/>
        </p:nvSpPr>
        <p:spPr>
          <a:xfrm>
            <a:off x="3666744" y="3749040"/>
            <a:ext cx="2103120" cy="960120"/>
          </a:xfrm>
          <a:prstGeom prst="rect">
            <a:avLst/>
          </a:prstGeom>
          <a:noFill/>
          <a:ln/>
        </p:spPr>
        <p:txBody>
          <a:bodyPr wrap="square" lIns="0" tIns="0" rIns="0" bIns="0" rtlCol="0" anchor="t"/>
          <a:lstStyle/>
          <a:p>
            <a:pPr marL="0" indent="0">
              <a:buNone/>
            </a:pPr>
            <a:r>
              <a:rPr lang="en-US" sz="1200" b="1" dirty="0">
                <a:solidFill>
                  <a:srgbClr val="24204A"/>
                </a:solidFill>
                <a:latin typeface="Calibri" pitchFamily="34" charset="0"/>
                <a:ea typeface="Calibri" pitchFamily="34" charset="-122"/>
                <a:cs typeface="Calibri" pitchFamily="34" charset="-120"/>
              </a:rPr>
              <a:t>Ergebnis: </a:t>
            </a:r>
            <a:r>
              <a:rPr lang="en-US" sz="1200" dirty="0">
                <a:solidFill>
                  <a:srgbClr val="24204A"/>
                </a:solidFill>
                <a:latin typeface="Calibri" pitchFamily="34" charset="0"/>
                <a:ea typeface="Calibri" pitchFamily="34" charset="-122"/>
                <a:cs typeface="Calibri" pitchFamily="34" charset="-120"/>
              </a:rPr>
              <a:t>Architektur, Detailentwurf und Datenmodell mit Begründung der Modelltypen</a:t>
            </a:r>
            <a:endParaRPr lang="en-US" sz="1200" dirty="0"/>
          </a:p>
        </p:txBody>
      </p:sp>
      <p:sp>
        <p:nvSpPr>
          <p:cNvPr id="21" name="Shape 16"/>
          <p:cNvSpPr/>
          <p:nvPr/>
        </p:nvSpPr>
        <p:spPr>
          <a:xfrm>
            <a:off x="6236208" y="1554480"/>
            <a:ext cx="2560320" cy="3200400"/>
          </a:xfrm>
          <a:prstGeom prst="roundRect">
            <a:avLst>
              <a:gd name="adj" fmla="val 428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2" name="Shape 17"/>
          <p:cNvSpPr/>
          <p:nvPr/>
        </p:nvSpPr>
        <p:spPr>
          <a:xfrm>
            <a:off x="6510528" y="1828800"/>
            <a:ext cx="731520" cy="731520"/>
          </a:xfrm>
          <a:prstGeom prst="ellipse">
            <a:avLst/>
          </a:prstGeom>
          <a:solidFill>
            <a:srgbClr val="0E8F82"/>
          </a:solidFill>
          <a:ln w="12700">
            <a:solidFill>
              <a:srgbClr val="0E8F82"/>
            </a:solidFill>
            <a:prstDash val="solid"/>
          </a:ln>
        </p:spPr>
        <p:txBody>
          <a:bodyPr/>
          <a:lstStyle/>
          <a:p>
            <a:endParaRPr lang="de-IN"/>
          </a:p>
        </p:txBody>
      </p:sp>
      <p:pic>
        <p:nvPicPr>
          <p:cNvPr id="23" name="Image 2" descr="preencoded.png"/>
          <p:cNvPicPr>
            <a:picLocks noChangeAspect="1"/>
          </p:cNvPicPr>
          <p:nvPr/>
        </p:nvPicPr>
        <p:blipFill>
          <a:blip r:embed="rId5"/>
          <a:stretch>
            <a:fillRect/>
          </a:stretch>
        </p:blipFill>
        <p:spPr>
          <a:xfrm>
            <a:off x="6700723" y="2018995"/>
            <a:ext cx="351130" cy="351130"/>
          </a:xfrm>
          <a:prstGeom prst="rect">
            <a:avLst/>
          </a:prstGeom>
        </p:spPr>
      </p:pic>
      <p:sp>
        <p:nvSpPr>
          <p:cNvPr id="24" name="Text 18"/>
          <p:cNvSpPr txBox="1"/>
          <p:nvPr/>
        </p:nvSpPr>
        <p:spPr>
          <a:xfrm>
            <a:off x="6510528" y="2651760"/>
            <a:ext cx="2103120" cy="566928"/>
          </a:xfrm>
          <a:prstGeom prst="rect">
            <a:avLst/>
          </a:prstGeom>
          <a:noFill/>
          <a:ln/>
        </p:spPr>
        <p:txBody>
          <a:bodyPr wrap="square" lIns="0" tIns="0" rIns="0" bIns="0" rtlCol="0" anchor="t"/>
          <a:lstStyle/>
          <a:p>
            <a:pPr marL="0" indent="0">
              <a:buNone/>
            </a:pPr>
            <a:r>
              <a:rPr lang="en-US" sz="1500" b="1" dirty="0">
                <a:solidFill>
                  <a:srgbClr val="1F1A4E"/>
                </a:solidFill>
                <a:latin typeface="Calibri" pitchFamily="34" charset="0"/>
                <a:ea typeface="Calibri" pitchFamily="34" charset="-122"/>
                <a:cs typeface="Calibri" pitchFamily="34" charset="-120"/>
              </a:rPr>
              <a:t>Bennet Schalow</a:t>
            </a:r>
            <a:endParaRPr lang="en-US" sz="1500" dirty="0"/>
          </a:p>
        </p:txBody>
      </p:sp>
      <p:sp>
        <p:nvSpPr>
          <p:cNvPr id="25" name="Text 19"/>
          <p:cNvSpPr txBox="1"/>
          <p:nvPr/>
        </p:nvSpPr>
        <p:spPr>
          <a:xfrm>
            <a:off x="6510528" y="3218688"/>
            <a:ext cx="2103120" cy="502920"/>
          </a:xfrm>
          <a:prstGeom prst="rect">
            <a:avLst/>
          </a:prstGeom>
          <a:noFill/>
          <a:ln/>
        </p:spPr>
        <p:txBody>
          <a:bodyPr wrap="square" lIns="0" tIns="0" rIns="0" bIns="0" rtlCol="0" anchor="t"/>
          <a:lstStyle/>
          <a:p>
            <a:pPr marL="0" indent="0">
              <a:buNone/>
            </a:pPr>
            <a:r>
              <a:rPr lang="en-US" sz="1300" b="1" dirty="0">
                <a:solidFill>
                  <a:srgbClr val="0E8F82"/>
                </a:solidFill>
                <a:latin typeface="Calibri" pitchFamily="34" charset="0"/>
                <a:ea typeface="Calibri" pitchFamily="34" charset="-122"/>
                <a:cs typeface="Calibri" pitchFamily="34" charset="-120"/>
              </a:rPr>
              <a:t>Implementierung</a:t>
            </a:r>
            <a:endParaRPr lang="en-US" sz="1300" dirty="0"/>
          </a:p>
        </p:txBody>
      </p:sp>
      <p:sp>
        <p:nvSpPr>
          <p:cNvPr id="26" name="Text 20"/>
          <p:cNvSpPr txBox="1"/>
          <p:nvPr/>
        </p:nvSpPr>
        <p:spPr>
          <a:xfrm>
            <a:off x="6510528" y="3749040"/>
            <a:ext cx="2103120" cy="960120"/>
          </a:xfrm>
          <a:prstGeom prst="rect">
            <a:avLst/>
          </a:prstGeom>
          <a:noFill/>
          <a:ln/>
        </p:spPr>
        <p:txBody>
          <a:bodyPr wrap="square" lIns="0" tIns="0" rIns="0" bIns="0" rtlCol="0" anchor="t"/>
          <a:lstStyle/>
          <a:p>
            <a:pPr marL="0" indent="0">
              <a:buNone/>
            </a:pPr>
            <a:r>
              <a:rPr lang="en-US" sz="1200" b="1" dirty="0">
                <a:solidFill>
                  <a:srgbClr val="24204A"/>
                </a:solidFill>
                <a:latin typeface="Calibri" pitchFamily="34" charset="0"/>
                <a:ea typeface="Calibri" pitchFamily="34" charset="-122"/>
                <a:cs typeface="Calibri" pitchFamily="34" charset="-120"/>
              </a:rPr>
              <a:t>Ergebnis: </a:t>
            </a:r>
            <a:r>
              <a:rPr lang="en-US" sz="1200" dirty="0">
                <a:solidFill>
                  <a:srgbClr val="24204A"/>
                </a:solidFill>
                <a:latin typeface="Calibri" pitchFamily="34" charset="0"/>
                <a:ea typeface="Calibri" pitchFamily="34" charset="-122"/>
                <a:cs typeface="Calibri" pitchFamily="34" charset="-120"/>
              </a:rPr>
              <a:t>Quellcode, Code-Dokumentation und Coding-Guidelines</a:t>
            </a:r>
            <a:endParaRPr lang="en-US" sz="1200" dirty="0"/>
          </a:p>
        </p:txBody>
      </p:sp>
      <p:sp>
        <p:nvSpPr>
          <p:cNvPr id="27" name="Shape 21"/>
          <p:cNvSpPr/>
          <p:nvPr/>
        </p:nvSpPr>
        <p:spPr>
          <a:xfrm>
            <a:off x="9079992" y="1554480"/>
            <a:ext cx="2560320" cy="3200400"/>
          </a:xfrm>
          <a:prstGeom prst="roundRect">
            <a:avLst>
              <a:gd name="adj" fmla="val 428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8" name="Shape 22"/>
          <p:cNvSpPr/>
          <p:nvPr/>
        </p:nvSpPr>
        <p:spPr>
          <a:xfrm>
            <a:off x="9354312" y="1828800"/>
            <a:ext cx="731520" cy="731520"/>
          </a:xfrm>
          <a:prstGeom prst="ellipse">
            <a:avLst/>
          </a:prstGeom>
          <a:solidFill>
            <a:srgbClr val="E89A0C"/>
          </a:solidFill>
          <a:ln w="12700">
            <a:solidFill>
              <a:srgbClr val="E89A0C"/>
            </a:solidFill>
            <a:prstDash val="solid"/>
          </a:ln>
        </p:spPr>
        <p:txBody>
          <a:bodyPr/>
          <a:lstStyle/>
          <a:p>
            <a:endParaRPr lang="de-IN"/>
          </a:p>
        </p:txBody>
      </p:sp>
      <p:pic>
        <p:nvPicPr>
          <p:cNvPr id="29" name="Image 3" descr="preencoded.png"/>
          <p:cNvPicPr>
            <a:picLocks noChangeAspect="1"/>
          </p:cNvPicPr>
          <p:nvPr/>
        </p:nvPicPr>
        <p:blipFill>
          <a:blip r:embed="rId6"/>
          <a:stretch>
            <a:fillRect/>
          </a:stretch>
        </p:blipFill>
        <p:spPr>
          <a:xfrm>
            <a:off x="9544507" y="2018995"/>
            <a:ext cx="351130" cy="351130"/>
          </a:xfrm>
          <a:prstGeom prst="rect">
            <a:avLst/>
          </a:prstGeom>
        </p:spPr>
      </p:pic>
      <p:sp>
        <p:nvSpPr>
          <p:cNvPr id="30" name="Text 23"/>
          <p:cNvSpPr txBox="1"/>
          <p:nvPr/>
        </p:nvSpPr>
        <p:spPr>
          <a:xfrm>
            <a:off x="9354312" y="2651760"/>
            <a:ext cx="2103120" cy="566928"/>
          </a:xfrm>
          <a:prstGeom prst="rect">
            <a:avLst/>
          </a:prstGeom>
          <a:noFill/>
          <a:ln/>
        </p:spPr>
        <p:txBody>
          <a:bodyPr wrap="square" lIns="0" tIns="0" rIns="0" bIns="0" rtlCol="0" anchor="t"/>
          <a:lstStyle/>
          <a:p>
            <a:pPr marL="0" indent="0">
              <a:buNone/>
            </a:pPr>
            <a:r>
              <a:rPr lang="en-US" sz="1500" b="1" dirty="0">
                <a:solidFill>
                  <a:srgbClr val="1F1A4E"/>
                </a:solidFill>
                <a:latin typeface="Calibri" pitchFamily="34" charset="0"/>
                <a:ea typeface="Calibri" pitchFamily="34" charset="-122"/>
                <a:cs typeface="Calibri" pitchFamily="34" charset="-120"/>
              </a:rPr>
              <a:t>Anil Duth</a:t>
            </a:r>
            <a:endParaRPr lang="en-US" sz="1500" dirty="0"/>
          </a:p>
        </p:txBody>
      </p:sp>
      <p:sp>
        <p:nvSpPr>
          <p:cNvPr id="31" name="Text 24"/>
          <p:cNvSpPr txBox="1"/>
          <p:nvPr/>
        </p:nvSpPr>
        <p:spPr>
          <a:xfrm>
            <a:off x="9354312" y="3218688"/>
            <a:ext cx="2103120" cy="502920"/>
          </a:xfrm>
          <a:prstGeom prst="rect">
            <a:avLst/>
          </a:prstGeom>
          <a:noFill/>
          <a:ln/>
        </p:spPr>
        <p:txBody>
          <a:bodyPr wrap="square" lIns="0" tIns="0" rIns="0" bIns="0" rtlCol="0" anchor="t"/>
          <a:lstStyle/>
          <a:p>
            <a:pPr marL="0" indent="0">
              <a:buNone/>
            </a:pPr>
            <a:r>
              <a:rPr lang="en-US" sz="1300" b="1" dirty="0">
                <a:solidFill>
                  <a:srgbClr val="7A4F00"/>
                </a:solidFill>
                <a:latin typeface="Calibri" pitchFamily="34" charset="0"/>
                <a:ea typeface="Calibri" pitchFamily="34" charset="-122"/>
                <a:cs typeface="Calibri" pitchFamily="34" charset="-120"/>
              </a:rPr>
              <a:t>Qualitätssicherung</a:t>
            </a:r>
            <a:endParaRPr lang="en-US" sz="1300" dirty="0"/>
          </a:p>
        </p:txBody>
      </p:sp>
      <p:sp>
        <p:nvSpPr>
          <p:cNvPr id="32" name="Text 25"/>
          <p:cNvSpPr txBox="1"/>
          <p:nvPr/>
        </p:nvSpPr>
        <p:spPr>
          <a:xfrm>
            <a:off x="9354312" y="3749040"/>
            <a:ext cx="2103120" cy="960120"/>
          </a:xfrm>
          <a:prstGeom prst="rect">
            <a:avLst/>
          </a:prstGeom>
          <a:noFill/>
          <a:ln/>
        </p:spPr>
        <p:txBody>
          <a:bodyPr wrap="square" lIns="0" tIns="0" rIns="0" bIns="0" rtlCol="0" anchor="t"/>
          <a:lstStyle/>
          <a:p>
            <a:pPr marL="0" indent="0">
              <a:buNone/>
            </a:pPr>
            <a:r>
              <a:rPr lang="en-US" sz="1200" b="1" dirty="0">
                <a:solidFill>
                  <a:srgbClr val="24204A"/>
                </a:solidFill>
                <a:latin typeface="Calibri" pitchFamily="34" charset="0"/>
                <a:ea typeface="Calibri" pitchFamily="34" charset="-122"/>
                <a:cs typeface="Calibri" pitchFamily="34" charset="-120"/>
              </a:rPr>
              <a:t>Ergebnis: </a:t>
            </a:r>
            <a:r>
              <a:rPr lang="en-US" sz="1200" dirty="0">
                <a:solidFill>
                  <a:srgbClr val="24204A"/>
                </a:solidFill>
                <a:latin typeface="Calibri" pitchFamily="34" charset="0"/>
                <a:ea typeface="Calibri" pitchFamily="34" charset="-122"/>
                <a:cs typeface="Calibri" pitchFamily="34" charset="-120"/>
              </a:rPr>
              <a:t>Testfälle, Inspektions-Guidelines, Testergebnisse und Defekt-Tickets</a:t>
            </a:r>
            <a:endParaRPr lang="en-US" sz="1200" dirty="0"/>
          </a:p>
        </p:txBody>
      </p:sp>
      <p:sp>
        <p:nvSpPr>
          <p:cNvPr id="33" name="Shape 26"/>
          <p:cNvSpPr/>
          <p:nvPr/>
        </p:nvSpPr>
        <p:spPr>
          <a:xfrm>
            <a:off x="548640" y="4983480"/>
            <a:ext cx="5408676" cy="1097280"/>
          </a:xfrm>
          <a:prstGeom prst="roundRect">
            <a:avLst>
              <a:gd name="adj" fmla="val 10000"/>
            </a:avLst>
          </a:prstGeom>
          <a:solidFill>
            <a:srgbClr val="FDE9E8"/>
          </a:solidFill>
          <a:ln w="9525">
            <a:solidFill>
              <a:srgbClr val="FDE9E8"/>
            </a:solidFill>
            <a:prstDash val="solid"/>
          </a:ln>
        </p:spPr>
        <p:txBody>
          <a:bodyPr/>
          <a:lstStyle/>
          <a:p>
            <a:endParaRPr lang="de-IN"/>
          </a:p>
        </p:txBody>
      </p:sp>
      <p:sp>
        <p:nvSpPr>
          <p:cNvPr id="34" name="Text 27"/>
          <p:cNvSpPr txBox="1"/>
          <p:nvPr/>
        </p:nvSpPr>
        <p:spPr>
          <a:xfrm>
            <a:off x="777240" y="4983480"/>
            <a:ext cx="4983480" cy="1097280"/>
          </a:xfrm>
          <a:prstGeom prst="rect">
            <a:avLst/>
          </a:prstGeom>
          <a:noFill/>
          <a:ln/>
        </p:spPr>
        <p:txBody>
          <a:bodyPr wrap="square" lIns="0" tIns="0" rIns="0" bIns="0" rtlCol="0" anchor="ctr"/>
          <a:lstStyle/>
          <a:p>
            <a:pPr marL="0" indent="0">
              <a:buNone/>
            </a:pPr>
            <a:r>
              <a:rPr lang="en-US" sz="1350" b="1" dirty="0">
                <a:solidFill>
                  <a:srgbClr val="E8524F"/>
                </a:solidFill>
                <a:latin typeface="Calibri" pitchFamily="34" charset="0"/>
                <a:ea typeface="Calibri" pitchFamily="34" charset="-122"/>
                <a:cs typeface="Calibri" pitchFamily="34" charset="-120"/>
              </a:rPr>
              <a:t>Warum die Doppelrolle? </a:t>
            </a:r>
            <a:r>
              <a:rPr lang="en-US" sz="1350" dirty="0">
                <a:solidFill>
                  <a:srgbClr val="24204A"/>
                </a:solidFill>
                <a:latin typeface="Calibri" pitchFamily="34" charset="0"/>
                <a:ea typeface="Calibri" pitchFamily="34" charset="-122"/>
                <a:cs typeface="Calibri" pitchFamily="34" charset="-120"/>
              </a:rPr>
              <a:t>Beide Rollen arbeiten nach außen und verbinden Feedback direkt mit Prioritäten. Die Arbeitsspitzen liegen zeitversetzt.</a:t>
            </a:r>
            <a:endParaRPr lang="en-US" sz="1350" dirty="0"/>
          </a:p>
        </p:txBody>
      </p:sp>
      <p:sp>
        <p:nvSpPr>
          <p:cNvPr id="35" name="Shape 28"/>
          <p:cNvSpPr/>
          <p:nvPr/>
        </p:nvSpPr>
        <p:spPr>
          <a:xfrm>
            <a:off x="6231636" y="4983480"/>
            <a:ext cx="5408676" cy="1097280"/>
          </a:xfrm>
          <a:prstGeom prst="roundRect">
            <a:avLst>
              <a:gd name="adj" fmla="val 10000"/>
            </a:avLst>
          </a:prstGeom>
          <a:solidFill>
            <a:srgbClr val="EEEAFF"/>
          </a:solidFill>
          <a:ln w="9525">
            <a:solidFill>
              <a:srgbClr val="EEEAFF"/>
            </a:solidFill>
            <a:prstDash val="solid"/>
          </a:ln>
        </p:spPr>
        <p:txBody>
          <a:bodyPr/>
          <a:lstStyle/>
          <a:p>
            <a:endParaRPr lang="de-IN"/>
          </a:p>
        </p:txBody>
      </p:sp>
      <p:sp>
        <p:nvSpPr>
          <p:cNvPr id="36" name="Text 29"/>
          <p:cNvSpPr txBox="1"/>
          <p:nvPr/>
        </p:nvSpPr>
        <p:spPr>
          <a:xfrm>
            <a:off x="6460236" y="4983480"/>
            <a:ext cx="4983480" cy="1097280"/>
          </a:xfrm>
          <a:prstGeom prst="rect">
            <a:avLst/>
          </a:prstGeom>
          <a:noFill/>
          <a:ln/>
        </p:spPr>
        <p:txBody>
          <a:bodyPr wrap="square" lIns="0" tIns="0" rIns="0" bIns="0" rtlCol="0" anchor="ctr"/>
          <a:lstStyle/>
          <a:p>
            <a:pPr marL="0" indent="0">
              <a:buNone/>
            </a:pPr>
            <a:r>
              <a:rPr lang="en-US" sz="1350" b="1" dirty="0">
                <a:solidFill>
                  <a:srgbClr val="6C4FF0"/>
                </a:solidFill>
                <a:latin typeface="Calibri" pitchFamily="34" charset="0"/>
                <a:ea typeface="Calibri" pitchFamily="34" charset="-122"/>
                <a:cs typeface="Calibri" pitchFamily="34" charset="-120"/>
              </a:rPr>
              <a:t>Verantwortlich heißt koordinieren. </a:t>
            </a:r>
            <a:r>
              <a:rPr lang="en-US" sz="1350" dirty="0">
                <a:solidFill>
                  <a:srgbClr val="24204A"/>
                </a:solidFill>
                <a:latin typeface="Calibri" pitchFamily="34" charset="0"/>
                <a:ea typeface="Calibri" pitchFamily="34" charset="-122"/>
                <a:cs typeface="Calibri" pitchFamily="34" charset="-120"/>
              </a:rPr>
              <a:t>Alle programmieren mit. Die QA bleibt unabhängig von der Implementierung (Vier-Augen-Prinzip).</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4 · ZUSAMMENARBEIT</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Wie wir entscheiden</a:t>
            </a:r>
            <a:endParaRPr lang="en-US" sz="3000" dirty="0"/>
          </a:p>
        </p:txBody>
      </p:sp>
      <p:sp>
        <p:nvSpPr>
          <p:cNvPr id="4" name="Shape 2"/>
          <p:cNvSpPr/>
          <p:nvPr/>
        </p:nvSpPr>
        <p:spPr>
          <a:xfrm>
            <a:off x="10287000" y="502920"/>
            <a:ext cx="1371600" cy="384048"/>
          </a:xfrm>
          <a:prstGeom prst="roundRect">
            <a:avLst>
              <a:gd name="adj" fmla="val 50000"/>
            </a:avLst>
          </a:prstGeom>
          <a:solidFill>
            <a:srgbClr val="6C4FF0"/>
          </a:solidFill>
          <a:ln w="12700">
            <a:solidFill>
              <a:srgbClr val="6C4FF0"/>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Mahdi</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11</a:t>
            </a:r>
            <a:endParaRPr lang="en-US" sz="900" dirty="0"/>
          </a:p>
        </p:txBody>
      </p:sp>
      <p:sp>
        <p:nvSpPr>
          <p:cNvPr id="9" name="Shape 6"/>
          <p:cNvSpPr/>
          <p:nvPr/>
        </p:nvSpPr>
        <p:spPr>
          <a:xfrm>
            <a:off x="548640" y="1600200"/>
            <a:ext cx="6675120" cy="1234440"/>
          </a:xfrm>
          <a:prstGeom prst="roundRect">
            <a:avLst>
              <a:gd name="adj" fmla="val 888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0" name="Shape 7"/>
          <p:cNvSpPr/>
          <p:nvPr/>
        </p:nvSpPr>
        <p:spPr>
          <a:xfrm>
            <a:off x="822960" y="1901952"/>
            <a:ext cx="640080" cy="640080"/>
          </a:xfrm>
          <a:prstGeom prst="ellipse">
            <a:avLst/>
          </a:prstGeom>
          <a:solidFill>
            <a:srgbClr val="0E8F82"/>
          </a:solidFill>
          <a:ln w="12700">
            <a:solidFill>
              <a:srgbClr val="0E8F82"/>
            </a:solidFill>
            <a:prstDash val="solid"/>
          </a:ln>
        </p:spPr>
        <p:txBody>
          <a:bodyPr/>
          <a:lstStyle/>
          <a:p>
            <a:endParaRPr lang="de-IN"/>
          </a:p>
        </p:txBody>
      </p:sp>
      <p:sp>
        <p:nvSpPr>
          <p:cNvPr id="11" name="Text 8"/>
          <p:cNvSpPr txBox="1"/>
          <p:nvPr/>
        </p:nvSpPr>
        <p:spPr>
          <a:xfrm>
            <a:off x="822960" y="1901952"/>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2" name="Text 9"/>
          <p:cNvSpPr txBox="1"/>
          <p:nvPr/>
        </p:nvSpPr>
        <p:spPr>
          <a:xfrm>
            <a:off x="1737360" y="1783080"/>
            <a:ext cx="5303520" cy="365760"/>
          </a:xfrm>
          <a:prstGeom prst="rect">
            <a:avLst/>
          </a:prstGeom>
          <a:noFill/>
          <a:ln/>
        </p:spPr>
        <p:txBody>
          <a:bodyPr wrap="square" lIns="0" tIns="0" rIns="0" bIns="0" rtlCol="0" anchor="t"/>
          <a:lstStyle/>
          <a:p>
            <a:pPr marL="0" indent="0">
              <a:buNone/>
            </a:pPr>
            <a:r>
              <a:rPr lang="en-US" sz="1800" b="1" dirty="0">
                <a:solidFill>
                  <a:srgbClr val="1F1A4E"/>
                </a:solidFill>
                <a:latin typeface="Calibri" pitchFamily="34" charset="0"/>
                <a:ea typeface="Calibri" pitchFamily="34" charset="-122"/>
                <a:cs typeface="Calibri" pitchFamily="34" charset="-120"/>
              </a:rPr>
              <a:t>Innerhalb einer Rolle</a:t>
            </a:r>
            <a:endParaRPr lang="en-US" sz="1800" dirty="0"/>
          </a:p>
        </p:txBody>
      </p:sp>
      <p:sp>
        <p:nvSpPr>
          <p:cNvPr id="13" name="Text 10"/>
          <p:cNvSpPr txBox="1"/>
          <p:nvPr/>
        </p:nvSpPr>
        <p:spPr>
          <a:xfrm>
            <a:off x="1737360" y="2167128"/>
            <a:ext cx="5303520" cy="59436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Die verantwortliche Person entscheidet nach kurzer Abstimmung im Team.</a:t>
            </a:r>
            <a:endParaRPr lang="en-US" sz="1400" dirty="0"/>
          </a:p>
        </p:txBody>
      </p:sp>
      <p:sp>
        <p:nvSpPr>
          <p:cNvPr id="14" name="Shape 11"/>
          <p:cNvSpPr/>
          <p:nvPr/>
        </p:nvSpPr>
        <p:spPr>
          <a:xfrm>
            <a:off x="960120" y="3063240"/>
            <a:ext cx="6675120" cy="1234440"/>
          </a:xfrm>
          <a:prstGeom prst="roundRect">
            <a:avLst>
              <a:gd name="adj" fmla="val 888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5" name="Shape 12"/>
          <p:cNvSpPr/>
          <p:nvPr/>
        </p:nvSpPr>
        <p:spPr>
          <a:xfrm>
            <a:off x="1234440" y="3364992"/>
            <a:ext cx="640080" cy="640080"/>
          </a:xfrm>
          <a:prstGeom prst="ellipse">
            <a:avLst/>
          </a:prstGeom>
          <a:solidFill>
            <a:srgbClr val="6C4FF0"/>
          </a:solidFill>
          <a:ln w="12700">
            <a:solidFill>
              <a:srgbClr val="6C4FF0"/>
            </a:solidFill>
            <a:prstDash val="solid"/>
          </a:ln>
        </p:spPr>
        <p:txBody>
          <a:bodyPr/>
          <a:lstStyle/>
          <a:p>
            <a:endParaRPr lang="de-IN"/>
          </a:p>
        </p:txBody>
      </p:sp>
      <p:sp>
        <p:nvSpPr>
          <p:cNvPr id="16" name="Text 13"/>
          <p:cNvSpPr txBox="1"/>
          <p:nvPr/>
        </p:nvSpPr>
        <p:spPr>
          <a:xfrm>
            <a:off x="1234440" y="3364992"/>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4"/>
          <p:cNvSpPr txBox="1"/>
          <p:nvPr/>
        </p:nvSpPr>
        <p:spPr>
          <a:xfrm>
            <a:off x="2148840" y="3246120"/>
            <a:ext cx="5303520" cy="365760"/>
          </a:xfrm>
          <a:prstGeom prst="rect">
            <a:avLst/>
          </a:prstGeom>
          <a:noFill/>
          <a:ln/>
        </p:spPr>
        <p:txBody>
          <a:bodyPr wrap="square" lIns="0" tIns="0" rIns="0" bIns="0" rtlCol="0" anchor="t"/>
          <a:lstStyle/>
          <a:p>
            <a:pPr marL="0" indent="0">
              <a:buNone/>
            </a:pPr>
            <a:r>
              <a:rPr lang="en-US" sz="1800" b="1" dirty="0">
                <a:solidFill>
                  <a:srgbClr val="1F1A4E"/>
                </a:solidFill>
                <a:latin typeface="Calibri" pitchFamily="34" charset="0"/>
                <a:ea typeface="Calibri" pitchFamily="34" charset="-122"/>
                <a:cs typeface="Calibri" pitchFamily="34" charset="-120"/>
              </a:rPr>
              <a:t>Rollenübergreifend</a:t>
            </a:r>
            <a:endParaRPr lang="en-US" sz="1800" dirty="0"/>
          </a:p>
        </p:txBody>
      </p:sp>
      <p:sp>
        <p:nvSpPr>
          <p:cNvPr id="18" name="Text 15"/>
          <p:cNvSpPr txBox="1"/>
          <p:nvPr/>
        </p:nvSpPr>
        <p:spPr>
          <a:xfrm>
            <a:off x="2148840" y="3630168"/>
            <a:ext cx="5303520" cy="59436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Umfang, Zeitplan und Technik mit Wirkung auf mehrere Rollen: Mehrheit im wöchentlichen Treffen.</a:t>
            </a:r>
            <a:endParaRPr lang="en-US" sz="1400" dirty="0"/>
          </a:p>
        </p:txBody>
      </p:sp>
      <p:sp>
        <p:nvSpPr>
          <p:cNvPr id="19" name="Shape 16"/>
          <p:cNvSpPr/>
          <p:nvPr/>
        </p:nvSpPr>
        <p:spPr>
          <a:xfrm>
            <a:off x="1371600" y="4526280"/>
            <a:ext cx="6675120" cy="1234440"/>
          </a:xfrm>
          <a:prstGeom prst="roundRect">
            <a:avLst>
              <a:gd name="adj" fmla="val 888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0" name="Shape 17"/>
          <p:cNvSpPr/>
          <p:nvPr/>
        </p:nvSpPr>
        <p:spPr>
          <a:xfrm>
            <a:off x="1645920" y="4828032"/>
            <a:ext cx="640080" cy="640080"/>
          </a:xfrm>
          <a:prstGeom prst="ellipse">
            <a:avLst/>
          </a:prstGeom>
          <a:solidFill>
            <a:srgbClr val="E8524F"/>
          </a:solidFill>
          <a:ln w="12700">
            <a:solidFill>
              <a:srgbClr val="E8524F"/>
            </a:solidFill>
            <a:prstDash val="solid"/>
          </a:ln>
        </p:spPr>
        <p:txBody>
          <a:bodyPr/>
          <a:lstStyle/>
          <a:p>
            <a:endParaRPr lang="de-IN"/>
          </a:p>
        </p:txBody>
      </p:sp>
      <p:sp>
        <p:nvSpPr>
          <p:cNvPr id="21" name="Text 18"/>
          <p:cNvSpPr txBox="1"/>
          <p:nvPr/>
        </p:nvSpPr>
        <p:spPr>
          <a:xfrm>
            <a:off x="1645920" y="4828032"/>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2" name="Text 19"/>
          <p:cNvSpPr txBox="1"/>
          <p:nvPr/>
        </p:nvSpPr>
        <p:spPr>
          <a:xfrm>
            <a:off x="2560320" y="4709160"/>
            <a:ext cx="5303520" cy="365760"/>
          </a:xfrm>
          <a:prstGeom prst="rect">
            <a:avLst/>
          </a:prstGeom>
          <a:noFill/>
          <a:ln/>
        </p:spPr>
        <p:txBody>
          <a:bodyPr wrap="square" lIns="0" tIns="0" rIns="0" bIns="0" rtlCol="0" anchor="t"/>
          <a:lstStyle/>
          <a:p>
            <a:pPr marL="0" indent="0">
              <a:buNone/>
            </a:pPr>
            <a:r>
              <a:rPr lang="en-US" sz="1800" b="1" dirty="0">
                <a:solidFill>
                  <a:srgbClr val="1F1A4E"/>
                </a:solidFill>
                <a:latin typeface="Calibri" pitchFamily="34" charset="0"/>
                <a:ea typeface="Calibri" pitchFamily="34" charset="-122"/>
                <a:cs typeface="Calibri" pitchFamily="34" charset="-120"/>
              </a:rPr>
              <a:t>Bei Stimmengleichheit</a:t>
            </a:r>
            <a:endParaRPr lang="en-US" sz="1800" dirty="0"/>
          </a:p>
        </p:txBody>
      </p:sp>
      <p:sp>
        <p:nvSpPr>
          <p:cNvPr id="23" name="Text 20"/>
          <p:cNvSpPr txBox="1"/>
          <p:nvPr/>
        </p:nvSpPr>
        <p:spPr>
          <a:xfrm>
            <a:off x="2560320" y="5093208"/>
            <a:ext cx="5303520" cy="59436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Produkt und Priorität: Asif  ·  Technik: Mahdi</a:t>
            </a:r>
            <a:endParaRPr lang="en-US" sz="1400" dirty="0"/>
          </a:p>
        </p:txBody>
      </p:sp>
      <p:sp>
        <p:nvSpPr>
          <p:cNvPr id="24" name="Shape 21"/>
          <p:cNvSpPr/>
          <p:nvPr/>
        </p:nvSpPr>
        <p:spPr>
          <a:xfrm>
            <a:off x="8229600" y="1600200"/>
            <a:ext cx="3410712" cy="4480560"/>
          </a:xfrm>
          <a:prstGeom prst="roundRect">
            <a:avLst>
              <a:gd name="adj" fmla="val 4021"/>
            </a:avLst>
          </a:prstGeom>
          <a:solidFill>
            <a:srgbClr val="1F1A4E"/>
          </a:solidFill>
          <a:ln w="12700">
            <a:solidFill>
              <a:srgbClr val="1F1A4E"/>
            </a:solidFill>
            <a:prstDash val="solid"/>
          </a:ln>
        </p:spPr>
        <p:txBody>
          <a:bodyPr/>
          <a:lstStyle/>
          <a:p>
            <a:endParaRPr lang="de-IN"/>
          </a:p>
        </p:txBody>
      </p:sp>
      <p:sp>
        <p:nvSpPr>
          <p:cNvPr id="25" name="Shape 22"/>
          <p:cNvSpPr/>
          <p:nvPr/>
        </p:nvSpPr>
        <p:spPr>
          <a:xfrm>
            <a:off x="8549640" y="1920240"/>
            <a:ext cx="731520" cy="731520"/>
          </a:xfrm>
          <a:prstGeom prst="ellipse">
            <a:avLst/>
          </a:prstGeom>
          <a:solidFill>
            <a:srgbClr val="6C4FF0"/>
          </a:solidFill>
          <a:ln w="12700">
            <a:solidFill>
              <a:srgbClr val="6C4FF0"/>
            </a:solidFill>
            <a:prstDash val="solid"/>
          </a:ln>
        </p:spPr>
        <p:txBody>
          <a:bodyPr/>
          <a:lstStyle/>
          <a:p>
            <a:endParaRPr lang="de-IN"/>
          </a:p>
        </p:txBody>
      </p:sp>
      <p:pic>
        <p:nvPicPr>
          <p:cNvPr id="26" name="Image 0" descr="preencoded.png"/>
          <p:cNvPicPr>
            <a:picLocks noChangeAspect="1"/>
          </p:cNvPicPr>
          <p:nvPr/>
        </p:nvPicPr>
        <p:blipFill>
          <a:blip r:embed="rId3"/>
          <a:stretch>
            <a:fillRect/>
          </a:stretch>
        </p:blipFill>
        <p:spPr>
          <a:xfrm>
            <a:off x="8739835" y="2110435"/>
            <a:ext cx="351130" cy="351130"/>
          </a:xfrm>
          <a:prstGeom prst="rect">
            <a:avLst/>
          </a:prstGeom>
        </p:spPr>
      </p:pic>
      <p:sp>
        <p:nvSpPr>
          <p:cNvPr id="27" name="Text 23"/>
          <p:cNvSpPr txBox="1"/>
          <p:nvPr/>
        </p:nvSpPr>
        <p:spPr>
          <a:xfrm>
            <a:off x="8549640" y="2834640"/>
            <a:ext cx="2834640" cy="41148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Entscheidungslog</a:t>
            </a:r>
            <a:endParaRPr lang="en-US" sz="1900" dirty="0"/>
          </a:p>
        </p:txBody>
      </p:sp>
      <p:sp>
        <p:nvSpPr>
          <p:cNvPr id="28" name="Text 24"/>
          <p:cNvSpPr txBox="1"/>
          <p:nvPr/>
        </p:nvSpPr>
        <p:spPr>
          <a:xfrm>
            <a:off x="8549640" y="3291840"/>
            <a:ext cx="2834640" cy="1188720"/>
          </a:xfrm>
          <a:prstGeom prst="rect">
            <a:avLst/>
          </a:prstGeom>
          <a:noFill/>
          <a:ln/>
        </p:spPr>
        <p:txBody>
          <a:bodyPr wrap="square" lIns="0" tIns="0" rIns="0" bIns="0" rtlCol="0" anchor="t"/>
          <a:lstStyle/>
          <a:p>
            <a:pPr marL="0" indent="0">
              <a:buNone/>
            </a:pPr>
            <a:r>
              <a:rPr lang="en-US" sz="1400" dirty="0">
                <a:solidFill>
                  <a:srgbClr val="E6E3FF"/>
                </a:solidFill>
                <a:latin typeface="Calibri" pitchFamily="34" charset="0"/>
                <a:ea typeface="Calibri" pitchFamily="34" charset="-122"/>
                <a:cs typeface="Calibri" pitchFamily="34" charset="-120"/>
              </a:rPr>
              <a:t>Jede wichtige Entscheidung mit Datum, betrachteten Alternativen und Begründung im Repository.</a:t>
            </a:r>
            <a:endParaRPr lang="en-US" sz="1400" dirty="0"/>
          </a:p>
        </p:txBody>
      </p:sp>
      <p:sp>
        <p:nvSpPr>
          <p:cNvPr id="29" name="Text 25"/>
          <p:cNvSpPr txBox="1"/>
          <p:nvPr/>
        </p:nvSpPr>
        <p:spPr>
          <a:xfrm>
            <a:off x="8549640" y="4572000"/>
            <a:ext cx="2834640" cy="274320"/>
          </a:xfrm>
          <a:prstGeom prst="rect">
            <a:avLst/>
          </a:prstGeom>
          <a:noFill/>
          <a:ln/>
        </p:spPr>
        <p:txBody>
          <a:bodyPr wrap="square" lIns="0" tIns="0" rIns="0" bIns="0" rtlCol="0" anchor="t"/>
          <a:lstStyle/>
          <a:p>
            <a:pPr marL="0" indent="0">
              <a:buNone/>
            </a:pPr>
            <a:r>
              <a:rPr lang="en-US" sz="1200" b="1" dirty="0">
                <a:solidFill>
                  <a:srgbClr val="C9C3FF"/>
                </a:solidFill>
                <a:latin typeface="Calibri" pitchFamily="34" charset="0"/>
                <a:ea typeface="Calibri" pitchFamily="34" charset="-122"/>
                <a:cs typeface="Calibri" pitchFamily="34" charset="-120"/>
              </a:rPr>
              <a:t>Geplante erste Einträge</a:t>
            </a:r>
            <a:endParaRPr lang="en-US" sz="1200" dirty="0"/>
          </a:p>
        </p:txBody>
      </p:sp>
      <p:sp>
        <p:nvSpPr>
          <p:cNvPr id="30" name="Text 26"/>
          <p:cNvSpPr txBox="1"/>
          <p:nvPr/>
        </p:nvSpPr>
        <p:spPr>
          <a:xfrm>
            <a:off x="8549640" y="4892040"/>
            <a:ext cx="283464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ADR-001 Tech-Stack</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ADR-002 Lebenszyklusmodell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4 · LEBENSZYKLUSMODELL</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Hybrides agiles Vorgehen</a:t>
            </a:r>
            <a:endParaRPr lang="en-US" sz="3000" dirty="0"/>
          </a:p>
        </p:txBody>
      </p:sp>
      <p:sp>
        <p:nvSpPr>
          <p:cNvPr id="4" name="Shape 2"/>
          <p:cNvSpPr/>
          <p:nvPr/>
        </p:nvSpPr>
        <p:spPr>
          <a:xfrm>
            <a:off x="10287000" y="502920"/>
            <a:ext cx="1371600" cy="384048"/>
          </a:xfrm>
          <a:prstGeom prst="roundRect">
            <a:avLst>
              <a:gd name="adj" fmla="val 50000"/>
            </a:avLst>
          </a:prstGeom>
          <a:solidFill>
            <a:srgbClr val="6C4FF0"/>
          </a:solidFill>
          <a:ln w="12700">
            <a:solidFill>
              <a:srgbClr val="6C4FF0"/>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Mahdi</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12</a:t>
            </a:r>
            <a:endParaRPr lang="en-US" sz="900" dirty="0"/>
          </a:p>
        </p:txBody>
      </p:sp>
      <p:sp>
        <p:nvSpPr>
          <p:cNvPr id="9" name="Shape 6"/>
          <p:cNvSpPr/>
          <p:nvPr/>
        </p:nvSpPr>
        <p:spPr>
          <a:xfrm>
            <a:off x="548640" y="1600200"/>
            <a:ext cx="2212848" cy="3063240"/>
          </a:xfrm>
          <a:prstGeom prst="roundRect">
            <a:avLst>
              <a:gd name="adj" fmla="val 495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0" name="Shape 7"/>
          <p:cNvSpPr/>
          <p:nvPr/>
        </p:nvSpPr>
        <p:spPr>
          <a:xfrm>
            <a:off x="777240" y="1874520"/>
            <a:ext cx="685800" cy="685800"/>
          </a:xfrm>
          <a:prstGeom prst="ellipse">
            <a:avLst/>
          </a:prstGeom>
          <a:solidFill>
            <a:srgbClr val="6C4FF0"/>
          </a:solidFill>
          <a:ln w="12700">
            <a:solidFill>
              <a:srgbClr val="6C4FF0"/>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955548" y="2052828"/>
            <a:ext cx="329184" cy="329184"/>
          </a:xfrm>
          <a:prstGeom prst="rect">
            <a:avLst/>
          </a:prstGeom>
        </p:spPr>
      </p:pic>
      <p:sp>
        <p:nvSpPr>
          <p:cNvPr id="12" name="Text 8"/>
          <p:cNvSpPr txBox="1"/>
          <p:nvPr/>
        </p:nvSpPr>
        <p:spPr>
          <a:xfrm>
            <a:off x="777240" y="2697480"/>
            <a:ext cx="1847088"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Scrum</a:t>
            </a:r>
            <a:endParaRPr lang="en-US" sz="1900" dirty="0"/>
          </a:p>
        </p:txBody>
      </p:sp>
      <p:sp>
        <p:nvSpPr>
          <p:cNvPr id="13" name="Text 9"/>
          <p:cNvSpPr txBox="1"/>
          <p:nvPr/>
        </p:nvSpPr>
        <p:spPr>
          <a:xfrm>
            <a:off x="777240" y="3108960"/>
            <a:ext cx="1847088" cy="274320"/>
          </a:xfrm>
          <a:prstGeom prst="rect">
            <a:avLst/>
          </a:prstGeom>
          <a:noFill/>
          <a:ln/>
        </p:spPr>
        <p:txBody>
          <a:bodyPr wrap="square" lIns="0" tIns="0" rIns="0" bIns="0" rtlCol="0" anchor="t"/>
          <a:lstStyle/>
          <a:p>
            <a:pPr marL="0" indent="0">
              <a:buNone/>
            </a:pPr>
            <a:r>
              <a:rPr lang="en-US" sz="1100" b="1" kern="0" spc="100" dirty="0">
                <a:solidFill>
                  <a:srgbClr val="6C4FF0"/>
                </a:solidFill>
                <a:latin typeface="Calibri" pitchFamily="34" charset="0"/>
                <a:ea typeface="Calibri" pitchFamily="34" charset="-122"/>
                <a:cs typeface="Calibri" pitchFamily="34" charset="-120"/>
              </a:rPr>
              <a:t>RAHMEN</a:t>
            </a:r>
            <a:endParaRPr lang="en-US" sz="1100" dirty="0"/>
          </a:p>
        </p:txBody>
      </p:sp>
      <p:sp>
        <p:nvSpPr>
          <p:cNvPr id="14" name="Text 10"/>
          <p:cNvSpPr txBox="1"/>
          <p:nvPr/>
        </p:nvSpPr>
        <p:spPr>
          <a:xfrm>
            <a:off x="777240" y="3429000"/>
            <a:ext cx="1801368" cy="114300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Sprints, Product Owner, Planning, Review, Retrospektive</a:t>
            </a:r>
            <a:endParaRPr lang="en-US" sz="1300" dirty="0"/>
          </a:p>
        </p:txBody>
      </p:sp>
      <p:sp>
        <p:nvSpPr>
          <p:cNvPr id="15" name="Shape 11"/>
          <p:cNvSpPr/>
          <p:nvPr/>
        </p:nvSpPr>
        <p:spPr>
          <a:xfrm>
            <a:off x="2944368" y="1600200"/>
            <a:ext cx="2212848" cy="3063240"/>
          </a:xfrm>
          <a:prstGeom prst="roundRect">
            <a:avLst>
              <a:gd name="adj" fmla="val 495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6" name="Shape 12"/>
          <p:cNvSpPr/>
          <p:nvPr/>
        </p:nvSpPr>
        <p:spPr>
          <a:xfrm>
            <a:off x="3172968" y="1874520"/>
            <a:ext cx="685800" cy="685800"/>
          </a:xfrm>
          <a:prstGeom prst="ellipse">
            <a:avLst/>
          </a:prstGeom>
          <a:solidFill>
            <a:srgbClr val="0E8F82"/>
          </a:solidFill>
          <a:ln w="12700">
            <a:solidFill>
              <a:srgbClr val="0E8F82"/>
            </a:solidFill>
            <a:prstDash val="solid"/>
          </a:ln>
        </p:spPr>
        <p:txBody>
          <a:bodyPr/>
          <a:lstStyle/>
          <a:p>
            <a:endParaRPr lang="de-IN"/>
          </a:p>
        </p:txBody>
      </p:sp>
      <p:pic>
        <p:nvPicPr>
          <p:cNvPr id="17" name="Image 1" descr="preencoded.png"/>
          <p:cNvPicPr>
            <a:picLocks noChangeAspect="1"/>
          </p:cNvPicPr>
          <p:nvPr/>
        </p:nvPicPr>
        <p:blipFill>
          <a:blip r:embed="rId4"/>
          <a:stretch>
            <a:fillRect/>
          </a:stretch>
        </p:blipFill>
        <p:spPr>
          <a:xfrm>
            <a:off x="3351276" y="2052828"/>
            <a:ext cx="329184" cy="329184"/>
          </a:xfrm>
          <a:prstGeom prst="rect">
            <a:avLst/>
          </a:prstGeom>
        </p:spPr>
      </p:pic>
      <p:sp>
        <p:nvSpPr>
          <p:cNvPr id="18" name="Text 13"/>
          <p:cNvSpPr txBox="1"/>
          <p:nvPr/>
        </p:nvSpPr>
        <p:spPr>
          <a:xfrm>
            <a:off x="3172968" y="2697480"/>
            <a:ext cx="1847088"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XP</a:t>
            </a:r>
            <a:endParaRPr lang="en-US" sz="1900" dirty="0"/>
          </a:p>
        </p:txBody>
      </p:sp>
      <p:sp>
        <p:nvSpPr>
          <p:cNvPr id="19" name="Text 14"/>
          <p:cNvSpPr txBox="1"/>
          <p:nvPr/>
        </p:nvSpPr>
        <p:spPr>
          <a:xfrm>
            <a:off x="3172968" y="3108960"/>
            <a:ext cx="1847088" cy="274320"/>
          </a:xfrm>
          <a:prstGeom prst="rect">
            <a:avLst/>
          </a:prstGeom>
          <a:noFill/>
          <a:ln/>
        </p:spPr>
        <p:txBody>
          <a:bodyPr wrap="square" lIns="0" tIns="0" rIns="0" bIns="0" rtlCol="0" anchor="t"/>
          <a:lstStyle/>
          <a:p>
            <a:pPr marL="0" indent="0">
              <a:buNone/>
            </a:pPr>
            <a:r>
              <a:rPr lang="en-US" sz="1100" b="1" kern="0" spc="100" dirty="0">
                <a:solidFill>
                  <a:srgbClr val="0E8F82"/>
                </a:solidFill>
                <a:latin typeface="Calibri" pitchFamily="34" charset="0"/>
                <a:ea typeface="Calibri" pitchFamily="34" charset="-122"/>
                <a:cs typeface="Calibri" pitchFamily="34" charset="-120"/>
              </a:rPr>
              <a:t>TECHNIK</a:t>
            </a:r>
            <a:endParaRPr lang="en-US" sz="1100" dirty="0"/>
          </a:p>
        </p:txBody>
      </p:sp>
      <p:sp>
        <p:nvSpPr>
          <p:cNvPr id="20" name="Text 15"/>
          <p:cNvSpPr txBox="1"/>
          <p:nvPr/>
        </p:nvSpPr>
        <p:spPr>
          <a:xfrm>
            <a:off x="3172968" y="3429000"/>
            <a:ext cx="1801368" cy="114300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Pair Programming, Test-first, CI, Coding-Standard, Reviews</a:t>
            </a:r>
            <a:endParaRPr lang="en-US" sz="1300" dirty="0"/>
          </a:p>
        </p:txBody>
      </p:sp>
      <p:sp>
        <p:nvSpPr>
          <p:cNvPr id="21" name="Shape 16"/>
          <p:cNvSpPr/>
          <p:nvPr/>
        </p:nvSpPr>
        <p:spPr>
          <a:xfrm>
            <a:off x="5340096" y="1600200"/>
            <a:ext cx="2212848" cy="3063240"/>
          </a:xfrm>
          <a:prstGeom prst="roundRect">
            <a:avLst>
              <a:gd name="adj" fmla="val 4959"/>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2" name="Shape 17"/>
          <p:cNvSpPr/>
          <p:nvPr/>
        </p:nvSpPr>
        <p:spPr>
          <a:xfrm>
            <a:off x="5568696" y="1874520"/>
            <a:ext cx="685800" cy="685800"/>
          </a:xfrm>
          <a:prstGeom prst="ellipse">
            <a:avLst/>
          </a:prstGeom>
          <a:solidFill>
            <a:srgbClr val="E8524F"/>
          </a:solidFill>
          <a:ln w="12700">
            <a:solidFill>
              <a:srgbClr val="E8524F"/>
            </a:solidFill>
            <a:prstDash val="solid"/>
          </a:ln>
        </p:spPr>
        <p:txBody>
          <a:bodyPr/>
          <a:lstStyle/>
          <a:p>
            <a:endParaRPr lang="de-IN"/>
          </a:p>
        </p:txBody>
      </p:sp>
      <p:pic>
        <p:nvPicPr>
          <p:cNvPr id="23" name="Image 2" descr="preencoded.png"/>
          <p:cNvPicPr>
            <a:picLocks noChangeAspect="1"/>
          </p:cNvPicPr>
          <p:nvPr/>
        </p:nvPicPr>
        <p:blipFill>
          <a:blip r:embed="rId5"/>
          <a:stretch>
            <a:fillRect/>
          </a:stretch>
        </p:blipFill>
        <p:spPr>
          <a:xfrm>
            <a:off x="5747004" y="2052828"/>
            <a:ext cx="329184" cy="329184"/>
          </a:xfrm>
          <a:prstGeom prst="rect">
            <a:avLst/>
          </a:prstGeom>
        </p:spPr>
      </p:pic>
      <p:sp>
        <p:nvSpPr>
          <p:cNvPr id="24" name="Text 18"/>
          <p:cNvSpPr txBox="1"/>
          <p:nvPr/>
        </p:nvSpPr>
        <p:spPr>
          <a:xfrm>
            <a:off x="5568696" y="2697480"/>
            <a:ext cx="1847088" cy="411480"/>
          </a:xfrm>
          <a:prstGeom prst="rect">
            <a:avLst/>
          </a:prstGeom>
          <a:noFill/>
          <a:ln/>
        </p:spPr>
        <p:txBody>
          <a:bodyPr wrap="square" lIns="0" tIns="0" rIns="0" bIns="0" rtlCol="0" anchor="t"/>
          <a:lstStyle/>
          <a:p>
            <a:pPr marL="0" indent="0">
              <a:buNone/>
            </a:pPr>
            <a:r>
              <a:rPr lang="en-US" sz="1900" b="1" dirty="0">
                <a:solidFill>
                  <a:srgbClr val="1F1A4E"/>
                </a:solidFill>
                <a:latin typeface="Calibri" pitchFamily="34" charset="0"/>
                <a:ea typeface="Calibri" pitchFamily="34" charset="-122"/>
                <a:cs typeface="Calibri" pitchFamily="34" charset="-120"/>
              </a:rPr>
              <a:t>Lean Startup</a:t>
            </a:r>
            <a:endParaRPr lang="en-US" sz="1900" dirty="0"/>
          </a:p>
        </p:txBody>
      </p:sp>
      <p:sp>
        <p:nvSpPr>
          <p:cNvPr id="25" name="Text 19"/>
          <p:cNvSpPr txBox="1"/>
          <p:nvPr/>
        </p:nvSpPr>
        <p:spPr>
          <a:xfrm>
            <a:off x="5568696" y="3108960"/>
            <a:ext cx="1847088" cy="274320"/>
          </a:xfrm>
          <a:prstGeom prst="rect">
            <a:avLst/>
          </a:prstGeom>
          <a:noFill/>
          <a:ln/>
        </p:spPr>
        <p:txBody>
          <a:bodyPr wrap="square" lIns="0" tIns="0" rIns="0" bIns="0" rtlCol="0" anchor="t"/>
          <a:lstStyle/>
          <a:p>
            <a:pPr marL="0" indent="0">
              <a:buNone/>
            </a:pPr>
            <a:r>
              <a:rPr lang="en-US" sz="1100" b="1" kern="0" spc="100" dirty="0">
                <a:solidFill>
                  <a:srgbClr val="E8524F"/>
                </a:solidFill>
                <a:latin typeface="Calibri" pitchFamily="34" charset="0"/>
                <a:ea typeface="Calibri" pitchFamily="34" charset="-122"/>
                <a:cs typeface="Calibri" pitchFamily="34" charset="-120"/>
              </a:rPr>
              <a:t>VALIDIERUNG</a:t>
            </a:r>
            <a:endParaRPr lang="en-US" sz="1100" dirty="0"/>
          </a:p>
        </p:txBody>
      </p:sp>
      <p:sp>
        <p:nvSpPr>
          <p:cNvPr id="26" name="Text 20"/>
          <p:cNvSpPr txBox="1"/>
          <p:nvPr/>
        </p:nvSpPr>
        <p:spPr>
          <a:xfrm>
            <a:off x="5568696" y="3429000"/>
            <a:ext cx="1801368" cy="114300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Bauen – Messen – Lernen mit echtem Feedback</a:t>
            </a:r>
            <a:endParaRPr lang="en-US" sz="1300" dirty="0"/>
          </a:p>
        </p:txBody>
      </p:sp>
      <p:sp>
        <p:nvSpPr>
          <p:cNvPr id="27" name="Shape 21"/>
          <p:cNvSpPr/>
          <p:nvPr/>
        </p:nvSpPr>
        <p:spPr>
          <a:xfrm>
            <a:off x="548640" y="4846320"/>
            <a:ext cx="7004304" cy="1234440"/>
          </a:xfrm>
          <a:prstGeom prst="roundRect">
            <a:avLst>
              <a:gd name="adj" fmla="val 8889"/>
            </a:avLst>
          </a:prstGeom>
          <a:solidFill>
            <a:srgbClr val="FDF1D8"/>
          </a:solidFill>
          <a:ln w="12700">
            <a:solidFill>
              <a:srgbClr val="FDF1D8"/>
            </a:solidFill>
            <a:prstDash val="solid"/>
          </a:ln>
        </p:spPr>
        <p:txBody>
          <a:bodyPr/>
          <a:lstStyle/>
          <a:p>
            <a:endParaRPr lang="de-IN"/>
          </a:p>
        </p:txBody>
      </p:sp>
      <p:sp>
        <p:nvSpPr>
          <p:cNvPr id="28" name="Shape 22"/>
          <p:cNvSpPr/>
          <p:nvPr/>
        </p:nvSpPr>
        <p:spPr>
          <a:xfrm>
            <a:off x="777240" y="5120640"/>
            <a:ext cx="685800" cy="685800"/>
          </a:xfrm>
          <a:prstGeom prst="ellipse">
            <a:avLst/>
          </a:prstGeom>
          <a:solidFill>
            <a:srgbClr val="E89A0C"/>
          </a:solidFill>
          <a:ln w="12700">
            <a:solidFill>
              <a:srgbClr val="E89A0C"/>
            </a:solidFill>
            <a:prstDash val="solid"/>
          </a:ln>
        </p:spPr>
        <p:txBody>
          <a:bodyPr/>
          <a:lstStyle/>
          <a:p>
            <a:endParaRPr lang="de-IN"/>
          </a:p>
        </p:txBody>
      </p:sp>
      <p:pic>
        <p:nvPicPr>
          <p:cNvPr id="29" name="Image 3" descr="preencoded.png"/>
          <p:cNvPicPr>
            <a:picLocks noChangeAspect="1"/>
          </p:cNvPicPr>
          <p:nvPr/>
        </p:nvPicPr>
        <p:blipFill>
          <a:blip r:embed="rId6"/>
          <a:stretch>
            <a:fillRect/>
          </a:stretch>
        </p:blipFill>
        <p:spPr>
          <a:xfrm>
            <a:off x="955548" y="5298948"/>
            <a:ext cx="329184" cy="329184"/>
          </a:xfrm>
          <a:prstGeom prst="rect">
            <a:avLst/>
          </a:prstGeom>
        </p:spPr>
      </p:pic>
      <p:sp>
        <p:nvSpPr>
          <p:cNvPr id="30" name="Text 23"/>
          <p:cNvSpPr txBox="1"/>
          <p:nvPr/>
        </p:nvSpPr>
        <p:spPr>
          <a:xfrm>
            <a:off x="1691640" y="4846320"/>
            <a:ext cx="5669280" cy="1234440"/>
          </a:xfrm>
          <a:prstGeom prst="rect">
            <a:avLst/>
          </a:prstGeom>
          <a:noFill/>
          <a:ln/>
        </p:spPr>
        <p:txBody>
          <a:bodyPr wrap="square" lIns="0" tIns="0" rIns="0" bIns="0" rtlCol="0" anchor="ctr"/>
          <a:lstStyle/>
          <a:p>
            <a:pPr marL="0" indent="0">
              <a:buNone/>
            </a:pPr>
            <a:r>
              <a:rPr lang="en-US" sz="1500" b="1" dirty="0">
                <a:solidFill>
                  <a:srgbClr val="24204A"/>
                </a:solidFill>
                <a:latin typeface="Calibri" pitchFamily="34" charset="0"/>
                <a:ea typeface="Calibri" pitchFamily="34" charset="-122"/>
                <a:cs typeface="Calibri" pitchFamily="34" charset="-120"/>
              </a:rPr>
              <a:t>Planbasierte Elemente: </a:t>
            </a:r>
            <a:r>
              <a:rPr lang="en-US" sz="1500" dirty="0">
                <a:solidFill>
                  <a:srgbClr val="24204A"/>
                </a:solidFill>
                <a:latin typeface="Calibri" pitchFamily="34" charset="0"/>
                <a:ea typeface="Calibri" pitchFamily="34" charset="-122"/>
                <a:cs typeface="Calibri" pitchFamily="34" charset="-120"/>
              </a:rPr>
              <a:t>feste Meilensteine P1–P7 und Pflichtdokumente je Aktivität</a:t>
            </a:r>
            <a:endParaRPr lang="en-US" sz="1500" dirty="0"/>
          </a:p>
        </p:txBody>
      </p:sp>
      <p:sp>
        <p:nvSpPr>
          <p:cNvPr id="31" name="Shape 24"/>
          <p:cNvSpPr/>
          <p:nvPr/>
        </p:nvSpPr>
        <p:spPr>
          <a:xfrm>
            <a:off x="7818120" y="1600200"/>
            <a:ext cx="3822192" cy="4480560"/>
          </a:xfrm>
          <a:prstGeom prst="roundRect">
            <a:avLst>
              <a:gd name="adj" fmla="val 2871"/>
            </a:avLst>
          </a:prstGeom>
          <a:solidFill>
            <a:srgbClr val="F6F5FB"/>
          </a:solidFill>
          <a:ln w="9525">
            <a:solidFill>
              <a:srgbClr val="F6F5FB"/>
            </a:solidFill>
            <a:prstDash val="solid"/>
          </a:ln>
        </p:spPr>
        <p:txBody>
          <a:bodyPr/>
          <a:lstStyle/>
          <a:p>
            <a:endParaRPr lang="de-IN"/>
          </a:p>
        </p:txBody>
      </p:sp>
      <p:sp>
        <p:nvSpPr>
          <p:cNvPr id="32" name="Text 25"/>
          <p:cNvSpPr txBox="1"/>
          <p:nvPr/>
        </p:nvSpPr>
        <p:spPr>
          <a:xfrm>
            <a:off x="8092440" y="1783080"/>
            <a:ext cx="3383280" cy="411480"/>
          </a:xfrm>
          <a:prstGeom prst="rect">
            <a:avLst/>
          </a:prstGeom>
          <a:noFill/>
          <a:ln/>
        </p:spPr>
        <p:txBody>
          <a:bodyPr wrap="square" lIns="0" tIns="0" rIns="0" bIns="0" rtlCol="0" anchor="t"/>
          <a:lstStyle/>
          <a:p>
            <a:pPr marL="0" indent="0">
              <a:buNone/>
            </a:pPr>
            <a:r>
              <a:rPr lang="en-US" sz="1800" b="1" dirty="0">
                <a:solidFill>
                  <a:srgbClr val="1F1A4E"/>
                </a:solidFill>
                <a:latin typeface="Calibri" pitchFamily="34" charset="0"/>
                <a:ea typeface="Calibri" pitchFamily="34" charset="-122"/>
                <a:cs typeface="Calibri" pitchFamily="34" charset="-120"/>
              </a:rPr>
              <a:t>Warum nicht Wasserfall?</a:t>
            </a:r>
            <a:endParaRPr lang="en-US" sz="1800" dirty="0"/>
          </a:p>
        </p:txBody>
      </p:sp>
      <p:sp>
        <p:nvSpPr>
          <p:cNvPr id="33" name="Text 26"/>
          <p:cNvSpPr txBox="1"/>
          <p:nvPr/>
        </p:nvSpPr>
        <p:spPr>
          <a:xfrm>
            <a:off x="8092440" y="2286000"/>
            <a:ext cx="3383280" cy="365760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24204A"/>
                </a:solidFill>
                <a:latin typeface="Calibri" pitchFamily="34" charset="0"/>
                <a:ea typeface="Calibri" pitchFamily="34" charset="-122"/>
                <a:cs typeface="Calibri" pitchFamily="34" charset="-120"/>
              </a:rPr>
              <a:t>Anforderungen beruhen auf Hypothesen und ändern sich durch Feedback</a:t>
            </a:r>
            <a:endParaRPr lang="en-US" sz="1350" dirty="0"/>
          </a:p>
          <a:p>
            <a:pPr marL="177800" indent="-177800">
              <a:spcAft>
                <a:spcPts val="500"/>
              </a:spcAft>
              <a:buSzPct val="100000"/>
              <a:buChar char="•"/>
            </a:pPr>
            <a:r>
              <a:rPr lang="en-US" sz="1350" dirty="0">
                <a:solidFill>
                  <a:srgbClr val="24204A"/>
                </a:solidFill>
                <a:latin typeface="Calibri" pitchFamily="34" charset="0"/>
                <a:ea typeface="Calibri" pitchFamily="34" charset="-122"/>
                <a:cs typeface="Calibri" pitchFamily="34" charset="-120"/>
              </a:rPr>
              <a:t>Lauffähiger Prototyp schon zu P3 gefordert</a:t>
            </a:r>
            <a:endParaRPr lang="en-US" sz="1350" dirty="0"/>
          </a:p>
          <a:p>
            <a:pPr marL="177800" indent="-177800">
              <a:spcAft>
                <a:spcPts val="500"/>
              </a:spcAft>
              <a:buSzPct val="100000"/>
              <a:buChar char="•"/>
            </a:pPr>
            <a:r>
              <a:rPr lang="en-US" sz="1350" dirty="0">
                <a:solidFill>
                  <a:srgbClr val="24204A"/>
                </a:solidFill>
                <a:latin typeface="Calibri" pitchFamily="34" charset="0"/>
                <a:ea typeface="Calibri" pitchFamily="34" charset="-122"/>
                <a:cs typeface="Calibri" pitchFamily="34" charset="-120"/>
              </a:rPr>
              <a:t>Kleines Team, dynamische Anforderungen, geringe Kritikalität sprechen für agil (Boehm &amp; Turner, 2003)</a:t>
            </a:r>
            <a:endParaRPr lang="en-US" sz="1350" dirty="0"/>
          </a:p>
          <a:p>
            <a:pPr marL="177800" indent="-177800">
              <a:spcAft>
                <a:spcPts val="500"/>
              </a:spcAft>
              <a:buSzPct val="100000"/>
              <a:buChar char="•"/>
            </a:pPr>
            <a:r>
              <a:rPr lang="en-US" sz="1350" dirty="0">
                <a:solidFill>
                  <a:srgbClr val="24204A"/>
                </a:solidFill>
                <a:latin typeface="Calibri" pitchFamily="34" charset="0"/>
                <a:ea typeface="Calibri" pitchFamily="34" charset="-122"/>
                <a:cs typeface="Calibri" pitchFamily="34" charset="-120"/>
              </a:rPr>
              <a:t>Inkrementell mit agilen Praktiken, ergänzt um gezielte Planung (Petersen &amp; Wohlin, 2009, 2010)</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4 · SPRINTPLAN</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Sieben Sprints, jeder endet mit einer Präsentation</a:t>
            </a:r>
            <a:endParaRPr lang="en-US" sz="3000" dirty="0"/>
          </a:p>
        </p:txBody>
      </p:sp>
      <p:sp>
        <p:nvSpPr>
          <p:cNvPr id="4" name="Shape 2"/>
          <p:cNvSpPr/>
          <p:nvPr/>
        </p:nvSpPr>
        <p:spPr>
          <a:xfrm>
            <a:off x="10287000" y="502920"/>
            <a:ext cx="1371600" cy="384048"/>
          </a:xfrm>
          <a:prstGeom prst="roundRect">
            <a:avLst>
              <a:gd name="adj" fmla="val 50000"/>
            </a:avLst>
          </a:prstGeom>
          <a:solidFill>
            <a:srgbClr val="6C4FF0"/>
          </a:solidFill>
          <a:ln w="12700">
            <a:solidFill>
              <a:srgbClr val="6C4FF0"/>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Mahdi</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13</a:t>
            </a:r>
            <a:endParaRPr lang="en-US" sz="900" dirty="0"/>
          </a:p>
        </p:txBody>
      </p:sp>
      <p:sp>
        <p:nvSpPr>
          <p:cNvPr id="9" name="Shape 6"/>
          <p:cNvSpPr/>
          <p:nvPr/>
        </p:nvSpPr>
        <p:spPr>
          <a:xfrm>
            <a:off x="548640" y="1828800"/>
            <a:ext cx="1463040" cy="3108960"/>
          </a:xfrm>
          <a:prstGeom prst="roundRect">
            <a:avLst>
              <a:gd name="adj" fmla="val 7500"/>
            </a:avLst>
          </a:prstGeom>
          <a:solidFill>
            <a:srgbClr val="1F1A4E"/>
          </a:solidFill>
          <a:ln w="9525">
            <a:solidFill>
              <a:srgbClr val="1F1A4E"/>
            </a:solidFill>
            <a:prstDash val="solid"/>
          </a:ln>
          <a:effectLst>
            <a:outerShdw blurRad="101600" dist="25400" dir="5400000" algn="bl" rotWithShape="0">
              <a:srgbClr val="000000">
                <a:alpha val="10000"/>
              </a:srgbClr>
            </a:outerShdw>
          </a:effectLst>
        </p:spPr>
        <p:txBody>
          <a:bodyPr/>
          <a:lstStyle/>
          <a:p>
            <a:endParaRPr lang="de-IN"/>
          </a:p>
        </p:txBody>
      </p:sp>
      <p:sp>
        <p:nvSpPr>
          <p:cNvPr id="10" name="Text 7"/>
          <p:cNvSpPr txBox="1"/>
          <p:nvPr/>
        </p:nvSpPr>
        <p:spPr>
          <a:xfrm>
            <a:off x="731520" y="2057400"/>
            <a:ext cx="118872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Sprint 0</a:t>
            </a:r>
            <a:endParaRPr lang="en-US" sz="1600" dirty="0"/>
          </a:p>
        </p:txBody>
      </p:sp>
      <p:sp>
        <p:nvSpPr>
          <p:cNvPr id="11" name="Text 8"/>
          <p:cNvSpPr txBox="1"/>
          <p:nvPr/>
        </p:nvSpPr>
        <p:spPr>
          <a:xfrm>
            <a:off x="731520" y="2450592"/>
            <a:ext cx="1188720" cy="274320"/>
          </a:xfrm>
          <a:prstGeom prst="rect">
            <a:avLst/>
          </a:prstGeom>
          <a:noFill/>
          <a:ln/>
        </p:spPr>
        <p:txBody>
          <a:bodyPr wrap="square" lIns="0" tIns="0" rIns="0" bIns="0" rtlCol="0" anchor="t"/>
          <a:lstStyle/>
          <a:p>
            <a:pPr marL="0" indent="0">
              <a:buNone/>
            </a:pPr>
            <a:r>
              <a:rPr lang="en-US" sz="1150" dirty="0">
                <a:solidFill>
                  <a:srgbClr val="C9C3FF"/>
                </a:solidFill>
                <a:latin typeface="Calibri" pitchFamily="34" charset="0"/>
                <a:ea typeface="Calibri" pitchFamily="34" charset="-122"/>
                <a:cs typeface="Calibri" pitchFamily="34" charset="-120"/>
              </a:rPr>
              <a:t>23.09.–30.09.</a:t>
            </a:r>
            <a:endParaRPr lang="en-US" sz="1150" dirty="0"/>
          </a:p>
        </p:txBody>
      </p:sp>
      <p:sp>
        <p:nvSpPr>
          <p:cNvPr id="12" name="Text 9"/>
          <p:cNvSpPr txBox="1"/>
          <p:nvPr/>
        </p:nvSpPr>
        <p:spPr>
          <a:xfrm>
            <a:off x="731520" y="2880360"/>
            <a:ext cx="1143000" cy="1188720"/>
          </a:xfrm>
          <a:prstGeom prst="rect">
            <a:avLst/>
          </a:prstGeom>
          <a:noFill/>
          <a:ln/>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Setup, Idee, Team</a:t>
            </a:r>
            <a:endParaRPr lang="en-US" sz="1350" dirty="0"/>
          </a:p>
        </p:txBody>
      </p:sp>
      <p:sp>
        <p:nvSpPr>
          <p:cNvPr id="13" name="Shape 10"/>
          <p:cNvSpPr/>
          <p:nvPr/>
        </p:nvSpPr>
        <p:spPr>
          <a:xfrm>
            <a:off x="731520" y="4297680"/>
            <a:ext cx="6858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14" name="Text 11"/>
          <p:cNvSpPr txBox="1"/>
          <p:nvPr/>
        </p:nvSpPr>
        <p:spPr>
          <a:xfrm>
            <a:off x="731520" y="4297680"/>
            <a:ext cx="6858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P1</a:t>
            </a:r>
            <a:endParaRPr lang="en-US" sz="1300" dirty="0"/>
          </a:p>
        </p:txBody>
      </p:sp>
      <p:sp>
        <p:nvSpPr>
          <p:cNvPr id="15" name="Shape 12"/>
          <p:cNvSpPr/>
          <p:nvPr/>
        </p:nvSpPr>
        <p:spPr>
          <a:xfrm>
            <a:off x="2153412" y="1828800"/>
            <a:ext cx="1463040" cy="3108960"/>
          </a:xfrm>
          <a:prstGeom prst="roundRect">
            <a:avLst>
              <a:gd name="adj" fmla="val 75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6" name="Text 13"/>
          <p:cNvSpPr txBox="1"/>
          <p:nvPr/>
        </p:nvSpPr>
        <p:spPr>
          <a:xfrm>
            <a:off x="2336292" y="2057400"/>
            <a:ext cx="1188720" cy="365760"/>
          </a:xfrm>
          <a:prstGeom prst="rect">
            <a:avLst/>
          </a:prstGeom>
          <a:noFill/>
          <a:ln/>
        </p:spPr>
        <p:txBody>
          <a:bodyPr wrap="square" lIns="0" tIns="0" rIns="0" bIns="0" rtlCol="0" anchor="t"/>
          <a:lstStyle/>
          <a:p>
            <a:pPr marL="0" indent="0">
              <a:buNone/>
            </a:pPr>
            <a:r>
              <a:rPr lang="en-US" sz="1600" b="1" dirty="0">
                <a:solidFill>
                  <a:srgbClr val="1F1A4E"/>
                </a:solidFill>
                <a:latin typeface="Calibri" pitchFamily="34" charset="0"/>
                <a:ea typeface="Calibri" pitchFamily="34" charset="-122"/>
                <a:cs typeface="Calibri" pitchFamily="34" charset="-120"/>
              </a:rPr>
              <a:t>Sprint 1</a:t>
            </a:r>
            <a:endParaRPr lang="en-US" sz="1600" dirty="0"/>
          </a:p>
        </p:txBody>
      </p:sp>
      <p:sp>
        <p:nvSpPr>
          <p:cNvPr id="17" name="Text 14"/>
          <p:cNvSpPr txBox="1"/>
          <p:nvPr/>
        </p:nvSpPr>
        <p:spPr>
          <a:xfrm>
            <a:off x="2336292" y="2450592"/>
            <a:ext cx="1188720" cy="274320"/>
          </a:xfrm>
          <a:prstGeom prst="rect">
            <a:avLst/>
          </a:prstGeom>
          <a:noFill/>
          <a:ln/>
        </p:spPr>
        <p:txBody>
          <a:bodyPr wrap="square" lIns="0" tIns="0" rIns="0" bIns="0" rtlCol="0" anchor="t"/>
          <a:lstStyle/>
          <a:p>
            <a:pPr marL="0" indent="0">
              <a:buNone/>
            </a:pPr>
            <a:r>
              <a:rPr lang="en-US" sz="1150" dirty="0">
                <a:solidFill>
                  <a:srgbClr val="6B6890"/>
                </a:solidFill>
                <a:latin typeface="Calibri" pitchFamily="34" charset="0"/>
                <a:ea typeface="Calibri" pitchFamily="34" charset="-122"/>
                <a:cs typeface="Calibri" pitchFamily="34" charset="-120"/>
              </a:rPr>
              <a:t>30.09.–14.10.</a:t>
            </a:r>
            <a:endParaRPr lang="en-US" sz="1150" dirty="0"/>
          </a:p>
        </p:txBody>
      </p:sp>
      <p:sp>
        <p:nvSpPr>
          <p:cNvPr id="18" name="Text 15"/>
          <p:cNvSpPr txBox="1"/>
          <p:nvPr/>
        </p:nvSpPr>
        <p:spPr>
          <a:xfrm>
            <a:off x="2336292" y="2880360"/>
            <a:ext cx="1143000" cy="1188720"/>
          </a:xfrm>
          <a:prstGeom prst="rect">
            <a:avLst/>
          </a:prstGeom>
          <a:noFill/>
          <a:ln/>
        </p:spPr>
        <p:txBody>
          <a:bodyPr wrap="square" lIns="0" tIns="0" rIns="0" bIns="0" rtlCol="0" anchor="t"/>
          <a:lstStyle/>
          <a:p>
            <a:pPr marL="0" indent="0">
              <a:buNone/>
            </a:pPr>
            <a:r>
              <a:rPr lang="en-US" sz="1350" b="1" dirty="0">
                <a:solidFill>
                  <a:srgbClr val="1F1A4E"/>
                </a:solidFill>
                <a:latin typeface="Calibri" pitchFamily="34" charset="0"/>
                <a:ea typeface="Calibri" pitchFamily="34" charset="-122"/>
                <a:cs typeface="Calibri" pitchFamily="34" charset="-120"/>
              </a:rPr>
              <a:t>Anforderungen &amp; erste Interviews</a:t>
            </a:r>
            <a:endParaRPr lang="en-US" sz="1350" dirty="0"/>
          </a:p>
        </p:txBody>
      </p:sp>
      <p:sp>
        <p:nvSpPr>
          <p:cNvPr id="19" name="Shape 16"/>
          <p:cNvSpPr/>
          <p:nvPr/>
        </p:nvSpPr>
        <p:spPr>
          <a:xfrm>
            <a:off x="2336292" y="4297680"/>
            <a:ext cx="685800" cy="384048"/>
          </a:xfrm>
          <a:prstGeom prst="roundRect">
            <a:avLst>
              <a:gd name="adj" fmla="val 50000"/>
            </a:avLst>
          </a:prstGeom>
          <a:solidFill>
            <a:srgbClr val="6C4FF0"/>
          </a:solidFill>
          <a:ln w="12700">
            <a:solidFill>
              <a:srgbClr val="6C4FF0"/>
            </a:solidFill>
            <a:prstDash val="solid"/>
          </a:ln>
        </p:spPr>
        <p:txBody>
          <a:bodyPr/>
          <a:lstStyle/>
          <a:p>
            <a:endParaRPr lang="de-IN"/>
          </a:p>
        </p:txBody>
      </p:sp>
      <p:sp>
        <p:nvSpPr>
          <p:cNvPr id="20" name="Text 17"/>
          <p:cNvSpPr txBox="1"/>
          <p:nvPr/>
        </p:nvSpPr>
        <p:spPr>
          <a:xfrm>
            <a:off x="2336292" y="4297680"/>
            <a:ext cx="6858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21" name="Shape 18"/>
          <p:cNvSpPr/>
          <p:nvPr/>
        </p:nvSpPr>
        <p:spPr>
          <a:xfrm>
            <a:off x="3758184" y="1828800"/>
            <a:ext cx="1463040" cy="3108960"/>
          </a:xfrm>
          <a:prstGeom prst="roundRect">
            <a:avLst>
              <a:gd name="adj" fmla="val 75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2" name="Text 19"/>
          <p:cNvSpPr txBox="1"/>
          <p:nvPr/>
        </p:nvSpPr>
        <p:spPr>
          <a:xfrm>
            <a:off x="3941064" y="2057400"/>
            <a:ext cx="1188720" cy="365760"/>
          </a:xfrm>
          <a:prstGeom prst="rect">
            <a:avLst/>
          </a:prstGeom>
          <a:noFill/>
          <a:ln/>
        </p:spPr>
        <p:txBody>
          <a:bodyPr wrap="square" lIns="0" tIns="0" rIns="0" bIns="0" rtlCol="0" anchor="t"/>
          <a:lstStyle/>
          <a:p>
            <a:pPr marL="0" indent="0">
              <a:buNone/>
            </a:pPr>
            <a:r>
              <a:rPr lang="en-US" sz="1600" b="1" dirty="0">
                <a:solidFill>
                  <a:srgbClr val="1F1A4E"/>
                </a:solidFill>
                <a:latin typeface="Calibri" pitchFamily="34" charset="0"/>
                <a:ea typeface="Calibri" pitchFamily="34" charset="-122"/>
                <a:cs typeface="Calibri" pitchFamily="34" charset="-120"/>
              </a:rPr>
              <a:t>Sprint 2</a:t>
            </a:r>
            <a:endParaRPr lang="en-US" sz="1600" dirty="0"/>
          </a:p>
        </p:txBody>
      </p:sp>
      <p:sp>
        <p:nvSpPr>
          <p:cNvPr id="23" name="Text 20"/>
          <p:cNvSpPr txBox="1"/>
          <p:nvPr/>
        </p:nvSpPr>
        <p:spPr>
          <a:xfrm>
            <a:off x="3941064" y="2450592"/>
            <a:ext cx="1188720" cy="274320"/>
          </a:xfrm>
          <a:prstGeom prst="rect">
            <a:avLst/>
          </a:prstGeom>
          <a:noFill/>
          <a:ln/>
        </p:spPr>
        <p:txBody>
          <a:bodyPr wrap="square" lIns="0" tIns="0" rIns="0" bIns="0" rtlCol="0" anchor="t"/>
          <a:lstStyle/>
          <a:p>
            <a:pPr marL="0" indent="0">
              <a:buNone/>
            </a:pPr>
            <a:r>
              <a:rPr lang="en-US" sz="1150" dirty="0">
                <a:solidFill>
                  <a:srgbClr val="6B6890"/>
                </a:solidFill>
                <a:latin typeface="Calibri" pitchFamily="34" charset="0"/>
                <a:ea typeface="Calibri" pitchFamily="34" charset="-122"/>
                <a:cs typeface="Calibri" pitchFamily="34" charset="-120"/>
              </a:rPr>
              <a:t>14.10.–28.10.</a:t>
            </a:r>
            <a:endParaRPr lang="en-US" sz="1150" dirty="0"/>
          </a:p>
        </p:txBody>
      </p:sp>
      <p:sp>
        <p:nvSpPr>
          <p:cNvPr id="24" name="Text 21"/>
          <p:cNvSpPr txBox="1"/>
          <p:nvPr/>
        </p:nvSpPr>
        <p:spPr>
          <a:xfrm>
            <a:off x="3941064" y="2880360"/>
            <a:ext cx="1143000" cy="1188720"/>
          </a:xfrm>
          <a:prstGeom prst="rect">
            <a:avLst/>
          </a:prstGeom>
          <a:noFill/>
          <a:ln/>
        </p:spPr>
        <p:txBody>
          <a:bodyPr wrap="square" lIns="0" tIns="0" rIns="0" bIns="0" rtlCol="0" anchor="t"/>
          <a:lstStyle/>
          <a:p>
            <a:pPr marL="0" indent="0">
              <a:buNone/>
            </a:pPr>
            <a:r>
              <a:rPr lang="en-US" sz="1350" b="1" dirty="0">
                <a:solidFill>
                  <a:srgbClr val="1F1A4E"/>
                </a:solidFill>
                <a:latin typeface="Calibri" pitchFamily="34" charset="0"/>
                <a:ea typeface="Calibri" pitchFamily="34" charset="-122"/>
                <a:cs typeface="Calibri" pitchFamily="34" charset="-120"/>
              </a:rPr>
              <a:t>Architektur &amp; Prototyp</a:t>
            </a:r>
            <a:endParaRPr lang="en-US" sz="1350" dirty="0"/>
          </a:p>
        </p:txBody>
      </p:sp>
      <p:sp>
        <p:nvSpPr>
          <p:cNvPr id="25" name="Shape 22"/>
          <p:cNvSpPr/>
          <p:nvPr/>
        </p:nvSpPr>
        <p:spPr>
          <a:xfrm>
            <a:off x="3941064" y="4297680"/>
            <a:ext cx="685800" cy="384048"/>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26" name="Text 23"/>
          <p:cNvSpPr txBox="1"/>
          <p:nvPr/>
        </p:nvSpPr>
        <p:spPr>
          <a:xfrm>
            <a:off x="3941064" y="4297680"/>
            <a:ext cx="6858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P3</a:t>
            </a:r>
            <a:endParaRPr lang="en-US" sz="1300" dirty="0"/>
          </a:p>
        </p:txBody>
      </p:sp>
      <p:sp>
        <p:nvSpPr>
          <p:cNvPr id="27" name="Shape 24"/>
          <p:cNvSpPr/>
          <p:nvPr/>
        </p:nvSpPr>
        <p:spPr>
          <a:xfrm>
            <a:off x="5362956" y="1828800"/>
            <a:ext cx="1463040" cy="3108960"/>
          </a:xfrm>
          <a:prstGeom prst="roundRect">
            <a:avLst>
              <a:gd name="adj" fmla="val 75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8" name="Text 25"/>
          <p:cNvSpPr txBox="1"/>
          <p:nvPr/>
        </p:nvSpPr>
        <p:spPr>
          <a:xfrm>
            <a:off x="5545836" y="2057400"/>
            <a:ext cx="1188720" cy="365760"/>
          </a:xfrm>
          <a:prstGeom prst="rect">
            <a:avLst/>
          </a:prstGeom>
          <a:noFill/>
          <a:ln/>
        </p:spPr>
        <p:txBody>
          <a:bodyPr wrap="square" lIns="0" tIns="0" rIns="0" bIns="0" rtlCol="0" anchor="t"/>
          <a:lstStyle/>
          <a:p>
            <a:pPr marL="0" indent="0">
              <a:buNone/>
            </a:pPr>
            <a:r>
              <a:rPr lang="en-US" sz="1600" b="1" dirty="0">
                <a:solidFill>
                  <a:srgbClr val="1F1A4E"/>
                </a:solidFill>
                <a:latin typeface="Calibri" pitchFamily="34" charset="0"/>
                <a:ea typeface="Calibri" pitchFamily="34" charset="-122"/>
                <a:cs typeface="Calibri" pitchFamily="34" charset="-120"/>
              </a:rPr>
              <a:t>Sprint 3</a:t>
            </a:r>
            <a:endParaRPr lang="en-US" sz="1600" dirty="0"/>
          </a:p>
        </p:txBody>
      </p:sp>
      <p:sp>
        <p:nvSpPr>
          <p:cNvPr id="29" name="Text 26"/>
          <p:cNvSpPr txBox="1"/>
          <p:nvPr/>
        </p:nvSpPr>
        <p:spPr>
          <a:xfrm>
            <a:off x="5545836" y="2450592"/>
            <a:ext cx="1188720" cy="274320"/>
          </a:xfrm>
          <a:prstGeom prst="rect">
            <a:avLst/>
          </a:prstGeom>
          <a:noFill/>
          <a:ln/>
        </p:spPr>
        <p:txBody>
          <a:bodyPr wrap="square" lIns="0" tIns="0" rIns="0" bIns="0" rtlCol="0" anchor="t"/>
          <a:lstStyle/>
          <a:p>
            <a:pPr marL="0" indent="0">
              <a:buNone/>
            </a:pPr>
            <a:r>
              <a:rPr lang="en-US" sz="1150" dirty="0">
                <a:solidFill>
                  <a:srgbClr val="6B6890"/>
                </a:solidFill>
                <a:latin typeface="Calibri" pitchFamily="34" charset="0"/>
                <a:ea typeface="Calibri" pitchFamily="34" charset="-122"/>
                <a:cs typeface="Calibri" pitchFamily="34" charset="-120"/>
              </a:rPr>
              <a:t>28.10.–11.11.</a:t>
            </a:r>
            <a:endParaRPr lang="en-US" sz="1150" dirty="0"/>
          </a:p>
        </p:txBody>
      </p:sp>
      <p:sp>
        <p:nvSpPr>
          <p:cNvPr id="30" name="Text 27"/>
          <p:cNvSpPr txBox="1"/>
          <p:nvPr/>
        </p:nvSpPr>
        <p:spPr>
          <a:xfrm>
            <a:off x="5545836" y="2880360"/>
            <a:ext cx="1143000" cy="1188720"/>
          </a:xfrm>
          <a:prstGeom prst="rect">
            <a:avLst/>
          </a:prstGeom>
          <a:noFill/>
          <a:ln/>
        </p:spPr>
        <p:txBody>
          <a:bodyPr wrap="square" lIns="0" tIns="0" rIns="0" bIns="0" rtlCol="0" anchor="t"/>
          <a:lstStyle/>
          <a:p>
            <a:pPr marL="0" indent="0">
              <a:buNone/>
            </a:pPr>
            <a:r>
              <a:rPr lang="en-US" sz="1350" b="1" dirty="0">
                <a:solidFill>
                  <a:srgbClr val="1F1A4E"/>
                </a:solidFill>
                <a:latin typeface="Calibri" pitchFamily="34" charset="0"/>
                <a:ea typeface="Calibri" pitchFamily="34" charset="-122"/>
                <a:cs typeface="Calibri" pitchFamily="34" charset="-120"/>
              </a:rPr>
              <a:t>Kernfunktionen &amp; Feedback</a:t>
            </a:r>
            <a:endParaRPr lang="en-US" sz="1350" dirty="0"/>
          </a:p>
        </p:txBody>
      </p:sp>
      <p:sp>
        <p:nvSpPr>
          <p:cNvPr id="31" name="Shape 28"/>
          <p:cNvSpPr/>
          <p:nvPr/>
        </p:nvSpPr>
        <p:spPr>
          <a:xfrm>
            <a:off x="5545836" y="4297680"/>
            <a:ext cx="685800" cy="384048"/>
          </a:xfrm>
          <a:prstGeom prst="roundRect">
            <a:avLst>
              <a:gd name="adj" fmla="val 50000"/>
            </a:avLst>
          </a:prstGeom>
          <a:solidFill>
            <a:srgbClr val="E89A0C"/>
          </a:solidFill>
          <a:ln w="12700">
            <a:solidFill>
              <a:srgbClr val="E89A0C"/>
            </a:solidFill>
            <a:prstDash val="solid"/>
          </a:ln>
        </p:spPr>
        <p:txBody>
          <a:bodyPr/>
          <a:lstStyle/>
          <a:p>
            <a:endParaRPr lang="de-IN"/>
          </a:p>
        </p:txBody>
      </p:sp>
      <p:sp>
        <p:nvSpPr>
          <p:cNvPr id="32" name="Text 29"/>
          <p:cNvSpPr txBox="1"/>
          <p:nvPr/>
        </p:nvSpPr>
        <p:spPr>
          <a:xfrm>
            <a:off x="5545836" y="4297680"/>
            <a:ext cx="685800" cy="384048"/>
          </a:xfrm>
          <a:prstGeom prst="rect">
            <a:avLst/>
          </a:prstGeom>
          <a:noFill/>
          <a:ln/>
        </p:spPr>
        <p:txBody>
          <a:bodyPr wrap="square" lIns="0" tIns="0" rIns="0" bIns="0" rtlCol="0" anchor="ctr"/>
          <a:lstStyle/>
          <a:p>
            <a:pPr marL="0" indent="0" algn="ctr">
              <a:buNone/>
            </a:pPr>
            <a:r>
              <a:rPr lang="en-US" sz="1300" b="1" dirty="0">
                <a:solidFill>
                  <a:srgbClr val="1F1A4E"/>
                </a:solidFill>
                <a:latin typeface="Calibri" pitchFamily="34" charset="0"/>
                <a:ea typeface="Calibri" pitchFamily="34" charset="-122"/>
                <a:cs typeface="Calibri" pitchFamily="34" charset="-120"/>
              </a:rPr>
              <a:t>P4</a:t>
            </a:r>
            <a:endParaRPr lang="en-US" sz="1300" dirty="0"/>
          </a:p>
        </p:txBody>
      </p:sp>
      <p:sp>
        <p:nvSpPr>
          <p:cNvPr id="33" name="Shape 30"/>
          <p:cNvSpPr/>
          <p:nvPr/>
        </p:nvSpPr>
        <p:spPr>
          <a:xfrm>
            <a:off x="6967728" y="1828800"/>
            <a:ext cx="1463040" cy="3108960"/>
          </a:xfrm>
          <a:prstGeom prst="roundRect">
            <a:avLst>
              <a:gd name="adj" fmla="val 75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34" name="Text 31"/>
          <p:cNvSpPr txBox="1"/>
          <p:nvPr/>
        </p:nvSpPr>
        <p:spPr>
          <a:xfrm>
            <a:off x="7150608" y="2057400"/>
            <a:ext cx="1188720" cy="365760"/>
          </a:xfrm>
          <a:prstGeom prst="rect">
            <a:avLst/>
          </a:prstGeom>
          <a:noFill/>
          <a:ln/>
        </p:spPr>
        <p:txBody>
          <a:bodyPr wrap="square" lIns="0" tIns="0" rIns="0" bIns="0" rtlCol="0" anchor="t"/>
          <a:lstStyle/>
          <a:p>
            <a:pPr marL="0" indent="0">
              <a:buNone/>
            </a:pPr>
            <a:r>
              <a:rPr lang="en-US" sz="1600" b="1" dirty="0">
                <a:solidFill>
                  <a:srgbClr val="1F1A4E"/>
                </a:solidFill>
                <a:latin typeface="Calibri" pitchFamily="34" charset="0"/>
                <a:ea typeface="Calibri" pitchFamily="34" charset="-122"/>
                <a:cs typeface="Calibri" pitchFamily="34" charset="-120"/>
              </a:rPr>
              <a:t>Sprint 4</a:t>
            </a:r>
            <a:endParaRPr lang="en-US" sz="1600" dirty="0"/>
          </a:p>
        </p:txBody>
      </p:sp>
      <p:sp>
        <p:nvSpPr>
          <p:cNvPr id="35" name="Text 32"/>
          <p:cNvSpPr txBox="1"/>
          <p:nvPr/>
        </p:nvSpPr>
        <p:spPr>
          <a:xfrm>
            <a:off x="7150608" y="2450592"/>
            <a:ext cx="1188720" cy="274320"/>
          </a:xfrm>
          <a:prstGeom prst="rect">
            <a:avLst/>
          </a:prstGeom>
          <a:noFill/>
          <a:ln/>
        </p:spPr>
        <p:txBody>
          <a:bodyPr wrap="square" lIns="0" tIns="0" rIns="0" bIns="0" rtlCol="0" anchor="t"/>
          <a:lstStyle/>
          <a:p>
            <a:pPr marL="0" indent="0">
              <a:buNone/>
            </a:pPr>
            <a:r>
              <a:rPr lang="en-US" sz="1150" dirty="0">
                <a:solidFill>
                  <a:srgbClr val="6B6890"/>
                </a:solidFill>
                <a:latin typeface="Calibri" pitchFamily="34" charset="0"/>
                <a:ea typeface="Calibri" pitchFamily="34" charset="-122"/>
                <a:cs typeface="Calibri" pitchFamily="34" charset="-120"/>
              </a:rPr>
              <a:t>11.11.–25.11.</a:t>
            </a:r>
            <a:endParaRPr lang="en-US" sz="1150" dirty="0"/>
          </a:p>
        </p:txBody>
      </p:sp>
      <p:sp>
        <p:nvSpPr>
          <p:cNvPr id="36" name="Text 33"/>
          <p:cNvSpPr txBox="1"/>
          <p:nvPr/>
        </p:nvSpPr>
        <p:spPr>
          <a:xfrm>
            <a:off x="7150608" y="2880360"/>
            <a:ext cx="1143000" cy="1188720"/>
          </a:xfrm>
          <a:prstGeom prst="rect">
            <a:avLst/>
          </a:prstGeom>
          <a:noFill/>
          <a:ln/>
        </p:spPr>
        <p:txBody>
          <a:bodyPr wrap="square" lIns="0" tIns="0" rIns="0" bIns="0" rtlCol="0" anchor="t"/>
          <a:lstStyle/>
          <a:p>
            <a:pPr marL="0" indent="0">
              <a:buNone/>
            </a:pPr>
            <a:r>
              <a:rPr lang="en-US" sz="1350" b="1" dirty="0">
                <a:solidFill>
                  <a:srgbClr val="1F1A4E"/>
                </a:solidFill>
                <a:latin typeface="Calibri" pitchFamily="34" charset="0"/>
                <a:ea typeface="Calibri" pitchFamily="34" charset="-122"/>
                <a:cs typeface="Calibri" pitchFamily="34" charset="-120"/>
              </a:rPr>
              <a:t>Tests &amp; Qualität</a:t>
            </a:r>
            <a:endParaRPr lang="en-US" sz="1350" dirty="0"/>
          </a:p>
        </p:txBody>
      </p:sp>
      <p:sp>
        <p:nvSpPr>
          <p:cNvPr id="37" name="Shape 34"/>
          <p:cNvSpPr/>
          <p:nvPr/>
        </p:nvSpPr>
        <p:spPr>
          <a:xfrm>
            <a:off x="7150608" y="4297680"/>
            <a:ext cx="685800" cy="384048"/>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38" name="Text 35"/>
          <p:cNvSpPr txBox="1"/>
          <p:nvPr/>
        </p:nvSpPr>
        <p:spPr>
          <a:xfrm>
            <a:off x="7150608" y="4297680"/>
            <a:ext cx="6858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P5</a:t>
            </a:r>
            <a:endParaRPr lang="en-US" sz="1300" dirty="0"/>
          </a:p>
        </p:txBody>
      </p:sp>
      <p:sp>
        <p:nvSpPr>
          <p:cNvPr id="39" name="Shape 36"/>
          <p:cNvSpPr/>
          <p:nvPr/>
        </p:nvSpPr>
        <p:spPr>
          <a:xfrm>
            <a:off x="8572500" y="1828800"/>
            <a:ext cx="1463040" cy="3108960"/>
          </a:xfrm>
          <a:prstGeom prst="roundRect">
            <a:avLst>
              <a:gd name="adj" fmla="val 75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40" name="Text 37"/>
          <p:cNvSpPr txBox="1"/>
          <p:nvPr/>
        </p:nvSpPr>
        <p:spPr>
          <a:xfrm>
            <a:off x="8755380" y="2057400"/>
            <a:ext cx="1188720" cy="365760"/>
          </a:xfrm>
          <a:prstGeom prst="rect">
            <a:avLst/>
          </a:prstGeom>
          <a:noFill/>
          <a:ln/>
        </p:spPr>
        <p:txBody>
          <a:bodyPr wrap="square" lIns="0" tIns="0" rIns="0" bIns="0" rtlCol="0" anchor="t"/>
          <a:lstStyle/>
          <a:p>
            <a:pPr marL="0" indent="0">
              <a:buNone/>
            </a:pPr>
            <a:r>
              <a:rPr lang="en-US" sz="1600" b="1" dirty="0">
                <a:solidFill>
                  <a:srgbClr val="1F1A4E"/>
                </a:solidFill>
                <a:latin typeface="Calibri" pitchFamily="34" charset="0"/>
                <a:ea typeface="Calibri" pitchFamily="34" charset="-122"/>
                <a:cs typeface="Calibri" pitchFamily="34" charset="-120"/>
              </a:rPr>
              <a:t>Sprint 5</a:t>
            </a:r>
            <a:endParaRPr lang="en-US" sz="1600" dirty="0"/>
          </a:p>
        </p:txBody>
      </p:sp>
      <p:sp>
        <p:nvSpPr>
          <p:cNvPr id="41" name="Text 38"/>
          <p:cNvSpPr txBox="1"/>
          <p:nvPr/>
        </p:nvSpPr>
        <p:spPr>
          <a:xfrm>
            <a:off x="8755380" y="2450592"/>
            <a:ext cx="1188720" cy="274320"/>
          </a:xfrm>
          <a:prstGeom prst="rect">
            <a:avLst/>
          </a:prstGeom>
          <a:noFill/>
          <a:ln/>
        </p:spPr>
        <p:txBody>
          <a:bodyPr wrap="square" lIns="0" tIns="0" rIns="0" bIns="0" rtlCol="0" anchor="t"/>
          <a:lstStyle/>
          <a:p>
            <a:pPr marL="0" indent="0">
              <a:buNone/>
            </a:pPr>
            <a:r>
              <a:rPr lang="en-US" sz="1150" dirty="0">
                <a:solidFill>
                  <a:srgbClr val="6B6890"/>
                </a:solidFill>
                <a:latin typeface="Calibri" pitchFamily="34" charset="0"/>
                <a:ea typeface="Calibri" pitchFamily="34" charset="-122"/>
                <a:cs typeface="Calibri" pitchFamily="34" charset="-120"/>
              </a:rPr>
              <a:t>25.11.–09.12.</a:t>
            </a:r>
            <a:endParaRPr lang="en-US" sz="1150" dirty="0"/>
          </a:p>
        </p:txBody>
      </p:sp>
      <p:sp>
        <p:nvSpPr>
          <p:cNvPr id="42" name="Text 39"/>
          <p:cNvSpPr txBox="1"/>
          <p:nvPr/>
        </p:nvSpPr>
        <p:spPr>
          <a:xfrm>
            <a:off x="8755380" y="2880360"/>
            <a:ext cx="1143000" cy="1188720"/>
          </a:xfrm>
          <a:prstGeom prst="rect">
            <a:avLst/>
          </a:prstGeom>
          <a:noFill/>
          <a:ln/>
        </p:spPr>
        <p:txBody>
          <a:bodyPr wrap="square" lIns="0" tIns="0" rIns="0" bIns="0" rtlCol="0" anchor="t"/>
          <a:lstStyle/>
          <a:p>
            <a:pPr marL="0" indent="0">
              <a:buNone/>
            </a:pPr>
            <a:r>
              <a:rPr lang="en-US" sz="1350" b="1" dirty="0">
                <a:solidFill>
                  <a:srgbClr val="1F1A4E"/>
                </a:solidFill>
                <a:latin typeface="Calibri" pitchFamily="34" charset="0"/>
                <a:ea typeface="Calibri" pitchFamily="34" charset="-122"/>
                <a:cs typeface="Calibri" pitchFamily="34" charset="-120"/>
              </a:rPr>
              <a:t>Nutzertests &amp; Reifegrad</a:t>
            </a:r>
            <a:endParaRPr lang="en-US" sz="1350" dirty="0"/>
          </a:p>
        </p:txBody>
      </p:sp>
      <p:sp>
        <p:nvSpPr>
          <p:cNvPr id="43" name="Shape 40"/>
          <p:cNvSpPr/>
          <p:nvPr/>
        </p:nvSpPr>
        <p:spPr>
          <a:xfrm>
            <a:off x="8755380" y="4297680"/>
            <a:ext cx="685800" cy="384048"/>
          </a:xfrm>
          <a:prstGeom prst="roundRect">
            <a:avLst>
              <a:gd name="adj" fmla="val 50000"/>
            </a:avLst>
          </a:prstGeom>
          <a:solidFill>
            <a:srgbClr val="6C4FF0"/>
          </a:solidFill>
          <a:ln w="12700">
            <a:solidFill>
              <a:srgbClr val="6C4FF0"/>
            </a:solidFill>
            <a:prstDash val="solid"/>
          </a:ln>
        </p:spPr>
        <p:txBody>
          <a:bodyPr/>
          <a:lstStyle/>
          <a:p>
            <a:endParaRPr lang="de-IN"/>
          </a:p>
        </p:txBody>
      </p:sp>
      <p:sp>
        <p:nvSpPr>
          <p:cNvPr id="44" name="Text 41"/>
          <p:cNvSpPr txBox="1"/>
          <p:nvPr/>
        </p:nvSpPr>
        <p:spPr>
          <a:xfrm>
            <a:off x="8755380" y="4297680"/>
            <a:ext cx="6858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P6</a:t>
            </a:r>
            <a:endParaRPr lang="en-US" sz="1300" dirty="0"/>
          </a:p>
        </p:txBody>
      </p:sp>
      <p:sp>
        <p:nvSpPr>
          <p:cNvPr id="45" name="Shape 42"/>
          <p:cNvSpPr/>
          <p:nvPr/>
        </p:nvSpPr>
        <p:spPr>
          <a:xfrm>
            <a:off x="10177272" y="1828800"/>
            <a:ext cx="1463040" cy="3108960"/>
          </a:xfrm>
          <a:prstGeom prst="roundRect">
            <a:avLst>
              <a:gd name="adj" fmla="val 7500"/>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46" name="Text 43"/>
          <p:cNvSpPr txBox="1"/>
          <p:nvPr/>
        </p:nvSpPr>
        <p:spPr>
          <a:xfrm>
            <a:off x="10360152" y="2057400"/>
            <a:ext cx="1188720" cy="365760"/>
          </a:xfrm>
          <a:prstGeom prst="rect">
            <a:avLst/>
          </a:prstGeom>
          <a:noFill/>
          <a:ln/>
        </p:spPr>
        <p:txBody>
          <a:bodyPr wrap="square" lIns="0" tIns="0" rIns="0" bIns="0" rtlCol="0" anchor="t"/>
          <a:lstStyle/>
          <a:p>
            <a:pPr marL="0" indent="0">
              <a:buNone/>
            </a:pPr>
            <a:r>
              <a:rPr lang="en-US" sz="1600" b="1" dirty="0">
                <a:solidFill>
                  <a:srgbClr val="1F1A4E"/>
                </a:solidFill>
                <a:latin typeface="Calibri" pitchFamily="34" charset="0"/>
                <a:ea typeface="Calibri" pitchFamily="34" charset="-122"/>
                <a:cs typeface="Calibri" pitchFamily="34" charset="-120"/>
              </a:rPr>
              <a:t>Sprint 6</a:t>
            </a:r>
            <a:endParaRPr lang="en-US" sz="1600" dirty="0"/>
          </a:p>
        </p:txBody>
      </p:sp>
      <p:sp>
        <p:nvSpPr>
          <p:cNvPr id="47" name="Text 44"/>
          <p:cNvSpPr txBox="1"/>
          <p:nvPr/>
        </p:nvSpPr>
        <p:spPr>
          <a:xfrm>
            <a:off x="10360152" y="2450592"/>
            <a:ext cx="1188720" cy="274320"/>
          </a:xfrm>
          <a:prstGeom prst="rect">
            <a:avLst/>
          </a:prstGeom>
          <a:noFill/>
          <a:ln/>
        </p:spPr>
        <p:txBody>
          <a:bodyPr wrap="square" lIns="0" tIns="0" rIns="0" bIns="0" rtlCol="0" anchor="t"/>
          <a:lstStyle/>
          <a:p>
            <a:pPr marL="0" indent="0">
              <a:buNone/>
            </a:pPr>
            <a:r>
              <a:rPr lang="en-US" sz="1150" dirty="0">
                <a:solidFill>
                  <a:srgbClr val="6B6890"/>
                </a:solidFill>
                <a:latin typeface="Calibri" pitchFamily="34" charset="0"/>
                <a:ea typeface="Calibri" pitchFamily="34" charset="-122"/>
                <a:cs typeface="Calibri" pitchFamily="34" charset="-120"/>
              </a:rPr>
              <a:t>09.12.–16.12.</a:t>
            </a:r>
            <a:endParaRPr lang="en-US" sz="1150" dirty="0"/>
          </a:p>
        </p:txBody>
      </p:sp>
      <p:sp>
        <p:nvSpPr>
          <p:cNvPr id="48" name="Text 45"/>
          <p:cNvSpPr txBox="1"/>
          <p:nvPr/>
        </p:nvSpPr>
        <p:spPr>
          <a:xfrm>
            <a:off x="10360152" y="2880360"/>
            <a:ext cx="1143000" cy="1188720"/>
          </a:xfrm>
          <a:prstGeom prst="rect">
            <a:avLst/>
          </a:prstGeom>
          <a:noFill/>
          <a:ln/>
        </p:spPr>
        <p:txBody>
          <a:bodyPr wrap="square" lIns="0" tIns="0" rIns="0" bIns="0" rtlCol="0" anchor="t"/>
          <a:lstStyle/>
          <a:p>
            <a:pPr marL="0" indent="0">
              <a:buNone/>
            </a:pPr>
            <a:r>
              <a:rPr lang="en-US" sz="1350" b="1" dirty="0">
                <a:solidFill>
                  <a:srgbClr val="1F1A4E"/>
                </a:solidFill>
                <a:latin typeface="Calibri" pitchFamily="34" charset="0"/>
                <a:ea typeface="Calibri" pitchFamily="34" charset="-122"/>
                <a:cs typeface="Calibri" pitchFamily="34" charset="-120"/>
              </a:rPr>
              <a:t>Stabilisierung &amp; Abgabe</a:t>
            </a:r>
            <a:endParaRPr lang="en-US" sz="1350" dirty="0"/>
          </a:p>
        </p:txBody>
      </p:sp>
      <p:sp>
        <p:nvSpPr>
          <p:cNvPr id="49" name="Shape 46"/>
          <p:cNvSpPr/>
          <p:nvPr/>
        </p:nvSpPr>
        <p:spPr>
          <a:xfrm>
            <a:off x="10360152" y="4297680"/>
            <a:ext cx="685800" cy="384048"/>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50" name="Text 47"/>
          <p:cNvSpPr txBox="1"/>
          <p:nvPr/>
        </p:nvSpPr>
        <p:spPr>
          <a:xfrm>
            <a:off x="10360152" y="4297680"/>
            <a:ext cx="6858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P7</a:t>
            </a:r>
            <a:endParaRPr lang="en-US" sz="1300" dirty="0"/>
          </a:p>
        </p:txBody>
      </p:sp>
      <p:sp>
        <p:nvSpPr>
          <p:cNvPr id="51" name="Text 48"/>
          <p:cNvSpPr txBox="1"/>
          <p:nvPr/>
        </p:nvSpPr>
        <p:spPr>
          <a:xfrm>
            <a:off x="548640" y="1463040"/>
            <a:ext cx="1463040" cy="274320"/>
          </a:xfrm>
          <a:prstGeom prst="rect">
            <a:avLst/>
          </a:prstGeom>
          <a:noFill/>
          <a:ln/>
        </p:spPr>
        <p:txBody>
          <a:bodyPr wrap="square" lIns="0" tIns="0" rIns="0" bIns="0" rtlCol="0" anchor="t"/>
          <a:lstStyle/>
          <a:p>
            <a:pPr marL="0" indent="0" algn="ctr">
              <a:buNone/>
            </a:pPr>
            <a:r>
              <a:rPr lang="en-US" sz="1100" b="1" kern="0" spc="200" dirty="0">
                <a:solidFill>
                  <a:srgbClr val="E8524F"/>
                </a:solidFill>
                <a:latin typeface="Calibri" pitchFamily="34" charset="0"/>
                <a:ea typeface="Calibri" pitchFamily="34" charset="-122"/>
                <a:cs typeface="Calibri" pitchFamily="34" charset="-120"/>
              </a:rPr>
              <a:t>HEUTE</a:t>
            </a:r>
            <a:endParaRPr lang="en-US" sz="1100" dirty="0"/>
          </a:p>
        </p:txBody>
      </p:sp>
      <p:sp>
        <p:nvSpPr>
          <p:cNvPr id="52" name="Shape 49"/>
          <p:cNvSpPr/>
          <p:nvPr/>
        </p:nvSpPr>
        <p:spPr>
          <a:xfrm>
            <a:off x="548640" y="5257800"/>
            <a:ext cx="11091672" cy="822960"/>
          </a:xfrm>
          <a:prstGeom prst="roundRect">
            <a:avLst>
              <a:gd name="adj" fmla="val 13333"/>
            </a:avLst>
          </a:prstGeom>
          <a:solidFill>
            <a:srgbClr val="EEEAFF"/>
          </a:solidFill>
          <a:ln w="9525">
            <a:solidFill>
              <a:srgbClr val="EEEAFF"/>
            </a:solidFill>
            <a:prstDash val="solid"/>
          </a:ln>
        </p:spPr>
        <p:txBody>
          <a:bodyPr/>
          <a:lstStyle/>
          <a:p>
            <a:endParaRPr lang="de-IN"/>
          </a:p>
        </p:txBody>
      </p:sp>
      <p:sp>
        <p:nvSpPr>
          <p:cNvPr id="53" name="Shape 50"/>
          <p:cNvSpPr/>
          <p:nvPr/>
        </p:nvSpPr>
        <p:spPr>
          <a:xfrm>
            <a:off x="777240" y="5413248"/>
            <a:ext cx="512064" cy="512064"/>
          </a:xfrm>
          <a:prstGeom prst="ellipse">
            <a:avLst/>
          </a:prstGeom>
          <a:solidFill>
            <a:srgbClr val="6C4FF0"/>
          </a:solidFill>
          <a:ln w="12700">
            <a:solidFill>
              <a:srgbClr val="6C4FF0"/>
            </a:solidFill>
            <a:prstDash val="solid"/>
          </a:ln>
        </p:spPr>
        <p:txBody>
          <a:bodyPr/>
          <a:lstStyle/>
          <a:p>
            <a:endParaRPr lang="de-IN"/>
          </a:p>
        </p:txBody>
      </p:sp>
      <p:pic>
        <p:nvPicPr>
          <p:cNvPr id="54" name="Image 0" descr="preencoded.png"/>
          <p:cNvPicPr>
            <a:picLocks noChangeAspect="1"/>
          </p:cNvPicPr>
          <p:nvPr/>
        </p:nvPicPr>
        <p:blipFill>
          <a:blip r:embed="rId3"/>
          <a:stretch>
            <a:fillRect/>
          </a:stretch>
        </p:blipFill>
        <p:spPr>
          <a:xfrm>
            <a:off x="910377" y="5546385"/>
            <a:ext cx="245791" cy="245791"/>
          </a:xfrm>
          <a:prstGeom prst="rect">
            <a:avLst/>
          </a:prstGeom>
        </p:spPr>
      </p:pic>
      <p:sp>
        <p:nvSpPr>
          <p:cNvPr id="55" name="Text 51"/>
          <p:cNvSpPr txBox="1"/>
          <p:nvPr/>
        </p:nvSpPr>
        <p:spPr>
          <a:xfrm>
            <a:off x="1508760" y="5257800"/>
            <a:ext cx="9966960" cy="822960"/>
          </a:xfrm>
          <a:prstGeom prst="rect">
            <a:avLst/>
          </a:prstGeom>
          <a:noFill/>
          <a:ln/>
        </p:spPr>
        <p:txBody>
          <a:bodyPr wrap="square" lIns="0" tIns="0" rIns="0" bIns="0" rtlCol="0" anchor="ctr"/>
          <a:lstStyle/>
          <a:p>
            <a:pPr marL="0" indent="0">
              <a:buNone/>
            </a:pPr>
            <a:r>
              <a:rPr lang="en-US" sz="1500" dirty="0">
                <a:solidFill>
                  <a:srgbClr val="24204A"/>
                </a:solidFill>
                <a:latin typeface="Calibri" pitchFamily="34" charset="0"/>
                <a:ea typeface="Calibri" pitchFamily="34" charset="-122"/>
                <a:cs typeface="Calibri" pitchFamily="34" charset="-120"/>
              </a:rPr>
              <a:t>Jede Präsentation ist unser Sprint Review mit Feedback der Lehrenden. Sprint 6 dauert nur eine Woche.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4 · PRAKTIKEN</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Unsere Praktiken im Überblick</a:t>
            </a:r>
            <a:endParaRPr lang="en-US" sz="3000" dirty="0"/>
          </a:p>
        </p:txBody>
      </p:sp>
      <p:sp>
        <p:nvSpPr>
          <p:cNvPr id="4" name="Shape 2"/>
          <p:cNvSpPr/>
          <p:nvPr/>
        </p:nvSpPr>
        <p:spPr>
          <a:xfrm>
            <a:off x="10287000" y="502920"/>
            <a:ext cx="1371600" cy="384048"/>
          </a:xfrm>
          <a:prstGeom prst="roundRect">
            <a:avLst>
              <a:gd name="adj" fmla="val 50000"/>
            </a:avLst>
          </a:prstGeom>
          <a:solidFill>
            <a:srgbClr val="6C4FF0"/>
          </a:solidFill>
          <a:ln w="12700">
            <a:solidFill>
              <a:srgbClr val="6C4FF0"/>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Mahdi</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14</a:t>
            </a:r>
            <a:endParaRPr lang="en-US" sz="900" dirty="0"/>
          </a:p>
        </p:txBody>
      </p:sp>
      <p:sp>
        <p:nvSpPr>
          <p:cNvPr id="9" name="Shape 6"/>
          <p:cNvSpPr/>
          <p:nvPr/>
        </p:nvSpPr>
        <p:spPr>
          <a:xfrm>
            <a:off x="548640" y="1554480"/>
            <a:ext cx="3514039" cy="4526280"/>
          </a:xfrm>
          <a:prstGeom prst="roundRect">
            <a:avLst>
              <a:gd name="adj" fmla="val 3123"/>
            </a:avLst>
          </a:prstGeom>
          <a:solidFill>
            <a:srgbClr val="EEEAFF"/>
          </a:solidFill>
          <a:ln w="9525">
            <a:solidFill>
              <a:srgbClr val="EEEAFF"/>
            </a:solidFill>
            <a:prstDash val="solid"/>
          </a:ln>
        </p:spPr>
        <p:txBody>
          <a:bodyPr/>
          <a:lstStyle/>
          <a:p>
            <a:endParaRPr lang="de-IN"/>
          </a:p>
        </p:txBody>
      </p:sp>
      <p:sp>
        <p:nvSpPr>
          <p:cNvPr id="10" name="Shape 7"/>
          <p:cNvSpPr/>
          <p:nvPr/>
        </p:nvSpPr>
        <p:spPr>
          <a:xfrm>
            <a:off x="822960" y="1828800"/>
            <a:ext cx="640080" cy="640080"/>
          </a:xfrm>
          <a:prstGeom prst="ellipse">
            <a:avLst/>
          </a:prstGeom>
          <a:solidFill>
            <a:srgbClr val="6C4FF0"/>
          </a:solidFill>
          <a:ln w="12700">
            <a:solidFill>
              <a:srgbClr val="6C4FF0"/>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989381" y="1995221"/>
            <a:ext cx="307238" cy="307238"/>
          </a:xfrm>
          <a:prstGeom prst="rect">
            <a:avLst/>
          </a:prstGeom>
        </p:spPr>
      </p:pic>
      <p:sp>
        <p:nvSpPr>
          <p:cNvPr id="12" name="Text 8"/>
          <p:cNvSpPr txBox="1"/>
          <p:nvPr/>
        </p:nvSpPr>
        <p:spPr>
          <a:xfrm>
            <a:off x="1600200" y="1828800"/>
            <a:ext cx="2325319" cy="640080"/>
          </a:xfrm>
          <a:prstGeom prst="rect">
            <a:avLst/>
          </a:prstGeom>
          <a:noFill/>
          <a:ln/>
        </p:spPr>
        <p:txBody>
          <a:bodyPr wrap="square" lIns="0" tIns="0" rIns="0" bIns="0" rtlCol="0" anchor="ctr"/>
          <a:lstStyle/>
          <a:p>
            <a:pPr marL="0" indent="0">
              <a:buNone/>
            </a:pPr>
            <a:r>
              <a:rPr lang="en-US" sz="1800" b="1" dirty="0">
                <a:solidFill>
                  <a:srgbClr val="1F1A4E"/>
                </a:solidFill>
                <a:latin typeface="Calibri" pitchFamily="34" charset="0"/>
                <a:ea typeface="Calibri" pitchFamily="34" charset="-122"/>
                <a:cs typeface="Calibri" pitchFamily="34" charset="-120"/>
              </a:rPr>
              <a:t>Scrum</a:t>
            </a:r>
            <a:endParaRPr lang="en-US" sz="1800" dirty="0"/>
          </a:p>
        </p:txBody>
      </p:sp>
      <p:sp>
        <p:nvSpPr>
          <p:cNvPr id="13" name="Text 9"/>
          <p:cNvSpPr txBox="1"/>
          <p:nvPr/>
        </p:nvSpPr>
        <p:spPr>
          <a:xfrm>
            <a:off x="822960" y="2697480"/>
            <a:ext cx="3056839" cy="32004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Sprint Planning mittwochs nach jeder Präsentation</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Stand-up zweimal pro Woche, 15 Minuten</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Retrospektive mit Lessons-Learned-Log</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Moderation rotiert (Product Owner ≠ Scrum Master)</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Backlog nach MoSCoW, Story Points per Planning Poker</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Definition of Done und Burn-up-Diagramm</a:t>
            </a:r>
            <a:endParaRPr lang="en-US" sz="1300" dirty="0"/>
          </a:p>
        </p:txBody>
      </p:sp>
      <p:sp>
        <p:nvSpPr>
          <p:cNvPr id="14" name="Shape 10"/>
          <p:cNvSpPr/>
          <p:nvPr/>
        </p:nvSpPr>
        <p:spPr>
          <a:xfrm>
            <a:off x="4336999" y="1554480"/>
            <a:ext cx="3514039" cy="4526280"/>
          </a:xfrm>
          <a:prstGeom prst="roundRect">
            <a:avLst>
              <a:gd name="adj" fmla="val 3123"/>
            </a:avLst>
          </a:prstGeom>
          <a:solidFill>
            <a:srgbClr val="DDF3F0"/>
          </a:solidFill>
          <a:ln w="9525">
            <a:solidFill>
              <a:srgbClr val="DDF3F0"/>
            </a:solidFill>
            <a:prstDash val="solid"/>
          </a:ln>
        </p:spPr>
        <p:txBody>
          <a:bodyPr/>
          <a:lstStyle/>
          <a:p>
            <a:endParaRPr lang="de-IN"/>
          </a:p>
        </p:txBody>
      </p:sp>
      <p:sp>
        <p:nvSpPr>
          <p:cNvPr id="15" name="Shape 11"/>
          <p:cNvSpPr/>
          <p:nvPr/>
        </p:nvSpPr>
        <p:spPr>
          <a:xfrm>
            <a:off x="4611319" y="1828800"/>
            <a:ext cx="640080" cy="640080"/>
          </a:xfrm>
          <a:prstGeom prst="ellipse">
            <a:avLst/>
          </a:prstGeom>
          <a:solidFill>
            <a:srgbClr val="0E8F82"/>
          </a:solidFill>
          <a:ln w="12700">
            <a:solidFill>
              <a:srgbClr val="0E8F82"/>
            </a:solidFill>
            <a:prstDash val="solid"/>
          </a:ln>
        </p:spPr>
        <p:txBody>
          <a:bodyPr/>
          <a:lstStyle/>
          <a:p>
            <a:endParaRPr lang="de-IN"/>
          </a:p>
        </p:txBody>
      </p:sp>
      <p:pic>
        <p:nvPicPr>
          <p:cNvPr id="16" name="Image 1" descr="preencoded.png"/>
          <p:cNvPicPr>
            <a:picLocks noChangeAspect="1"/>
          </p:cNvPicPr>
          <p:nvPr/>
        </p:nvPicPr>
        <p:blipFill>
          <a:blip r:embed="rId4"/>
          <a:stretch>
            <a:fillRect/>
          </a:stretch>
        </p:blipFill>
        <p:spPr>
          <a:xfrm>
            <a:off x="4777740" y="1995221"/>
            <a:ext cx="307238" cy="307238"/>
          </a:xfrm>
          <a:prstGeom prst="rect">
            <a:avLst/>
          </a:prstGeom>
        </p:spPr>
      </p:pic>
      <p:sp>
        <p:nvSpPr>
          <p:cNvPr id="17" name="Text 12"/>
          <p:cNvSpPr txBox="1"/>
          <p:nvPr/>
        </p:nvSpPr>
        <p:spPr>
          <a:xfrm>
            <a:off x="5388559" y="1828800"/>
            <a:ext cx="2325319" cy="640080"/>
          </a:xfrm>
          <a:prstGeom prst="rect">
            <a:avLst/>
          </a:prstGeom>
          <a:noFill/>
          <a:ln/>
        </p:spPr>
        <p:txBody>
          <a:bodyPr wrap="square" lIns="0" tIns="0" rIns="0" bIns="0" rtlCol="0" anchor="ctr"/>
          <a:lstStyle/>
          <a:p>
            <a:pPr marL="0" indent="0">
              <a:buNone/>
            </a:pPr>
            <a:r>
              <a:rPr lang="en-US" sz="1800" b="1" dirty="0">
                <a:solidFill>
                  <a:srgbClr val="1F1A4E"/>
                </a:solidFill>
                <a:latin typeface="Calibri" pitchFamily="34" charset="0"/>
                <a:ea typeface="Calibri" pitchFamily="34" charset="-122"/>
                <a:cs typeface="Calibri" pitchFamily="34" charset="-120"/>
              </a:rPr>
              <a:t>Extreme Programming</a:t>
            </a:r>
            <a:endParaRPr lang="en-US" sz="1800" dirty="0"/>
          </a:p>
        </p:txBody>
      </p:sp>
      <p:sp>
        <p:nvSpPr>
          <p:cNvPr id="18" name="Text 13"/>
          <p:cNvSpPr txBox="1"/>
          <p:nvPr/>
        </p:nvSpPr>
        <p:spPr>
          <a:xfrm>
            <a:off x="4611319" y="2697480"/>
            <a:ext cx="3056839" cy="32004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Pair Programming für Planungsalgorithmus und Einarbeitung (Cockburn &amp; Williams, 2001)</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Test-first für das Regelmodul</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Continuous Integration mit GitHub Actions</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Gemeinsamer Coding-Standard nach PEP 8</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Code-Review per Pull Request (Rigby &amp; Bird, 2013)</a:t>
            </a:r>
            <a:endParaRPr lang="en-US" sz="1300" dirty="0"/>
          </a:p>
        </p:txBody>
      </p:sp>
      <p:sp>
        <p:nvSpPr>
          <p:cNvPr id="19" name="Shape 14"/>
          <p:cNvSpPr/>
          <p:nvPr/>
        </p:nvSpPr>
        <p:spPr>
          <a:xfrm>
            <a:off x="8125358" y="1554480"/>
            <a:ext cx="3514039" cy="4526280"/>
          </a:xfrm>
          <a:prstGeom prst="roundRect">
            <a:avLst>
              <a:gd name="adj" fmla="val 3123"/>
            </a:avLst>
          </a:prstGeom>
          <a:solidFill>
            <a:srgbClr val="FDE9E8"/>
          </a:solidFill>
          <a:ln w="9525">
            <a:solidFill>
              <a:srgbClr val="FDE9E8"/>
            </a:solidFill>
            <a:prstDash val="solid"/>
          </a:ln>
        </p:spPr>
        <p:txBody>
          <a:bodyPr/>
          <a:lstStyle/>
          <a:p>
            <a:endParaRPr lang="de-IN"/>
          </a:p>
        </p:txBody>
      </p:sp>
      <p:sp>
        <p:nvSpPr>
          <p:cNvPr id="20" name="Shape 15"/>
          <p:cNvSpPr/>
          <p:nvPr/>
        </p:nvSpPr>
        <p:spPr>
          <a:xfrm>
            <a:off x="8399678" y="1828800"/>
            <a:ext cx="640080" cy="640080"/>
          </a:xfrm>
          <a:prstGeom prst="ellipse">
            <a:avLst/>
          </a:prstGeom>
          <a:solidFill>
            <a:srgbClr val="E8524F"/>
          </a:solidFill>
          <a:ln w="12700">
            <a:solidFill>
              <a:srgbClr val="E8524F"/>
            </a:solidFill>
            <a:prstDash val="solid"/>
          </a:ln>
        </p:spPr>
        <p:txBody>
          <a:bodyPr/>
          <a:lstStyle/>
          <a:p>
            <a:endParaRPr lang="de-IN"/>
          </a:p>
        </p:txBody>
      </p:sp>
      <p:pic>
        <p:nvPicPr>
          <p:cNvPr id="21" name="Image 2" descr="preencoded.png"/>
          <p:cNvPicPr>
            <a:picLocks noChangeAspect="1"/>
          </p:cNvPicPr>
          <p:nvPr/>
        </p:nvPicPr>
        <p:blipFill>
          <a:blip r:embed="rId5"/>
          <a:stretch>
            <a:fillRect/>
          </a:stretch>
        </p:blipFill>
        <p:spPr>
          <a:xfrm>
            <a:off x="8566099" y="1995221"/>
            <a:ext cx="307238" cy="307238"/>
          </a:xfrm>
          <a:prstGeom prst="rect">
            <a:avLst/>
          </a:prstGeom>
        </p:spPr>
      </p:pic>
      <p:sp>
        <p:nvSpPr>
          <p:cNvPr id="22" name="Text 16"/>
          <p:cNvSpPr txBox="1"/>
          <p:nvPr/>
        </p:nvSpPr>
        <p:spPr>
          <a:xfrm>
            <a:off x="9176918" y="1828800"/>
            <a:ext cx="2325319" cy="640080"/>
          </a:xfrm>
          <a:prstGeom prst="rect">
            <a:avLst/>
          </a:prstGeom>
          <a:noFill/>
          <a:ln/>
        </p:spPr>
        <p:txBody>
          <a:bodyPr wrap="square" lIns="0" tIns="0" rIns="0" bIns="0" rtlCol="0" anchor="ctr"/>
          <a:lstStyle/>
          <a:p>
            <a:pPr marL="0" indent="0">
              <a:buNone/>
            </a:pPr>
            <a:r>
              <a:rPr lang="en-US" sz="1800" b="1" dirty="0">
                <a:solidFill>
                  <a:srgbClr val="1F1A4E"/>
                </a:solidFill>
                <a:latin typeface="Calibri" pitchFamily="34" charset="0"/>
                <a:ea typeface="Calibri" pitchFamily="34" charset="-122"/>
                <a:cs typeface="Calibri" pitchFamily="34" charset="-120"/>
              </a:rPr>
              <a:t>Lean Startup</a:t>
            </a:r>
            <a:endParaRPr lang="en-US" sz="1800" dirty="0"/>
          </a:p>
        </p:txBody>
      </p:sp>
      <p:sp>
        <p:nvSpPr>
          <p:cNvPr id="23" name="Text 17"/>
          <p:cNvSpPr txBox="1"/>
          <p:nvPr/>
        </p:nvSpPr>
        <p:spPr>
          <a:xfrm>
            <a:off x="8399678" y="2697480"/>
            <a:ext cx="3056839" cy="32004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Jeder Sprint ist ein Zyklus aus Bauen, Messen und Lernen (Ries, 2011)</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Pro Sprint Hypothesen auswählen und mit echten Personen prüfen</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Erkenntnisse werden zu Backlog-Änderungen</a:t>
            </a:r>
            <a:endParaRPr lang="en-US" sz="1300" dirty="0"/>
          </a:p>
          <a:p>
            <a:pPr marL="177800" indent="-177800">
              <a:spcAft>
                <a:spcPts val="600"/>
              </a:spcAft>
              <a:buSzPct val="100000"/>
              <a:buChar char="•"/>
            </a:pPr>
            <a:r>
              <a:rPr lang="en-US" sz="1300" dirty="0">
                <a:solidFill>
                  <a:srgbClr val="24204A"/>
                </a:solidFill>
                <a:latin typeface="Calibri" pitchFamily="34" charset="0"/>
                <a:ea typeface="Calibri" pitchFamily="34" charset="-122"/>
                <a:cs typeface="Calibri" pitchFamily="34" charset="-120"/>
              </a:rPr>
              <a:t>Annahmen außerhalb des Teams prüfen (Blank, 2013)</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5 · WERKZEUGE</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Werkzeuge für jede Aktivität</a:t>
            </a:r>
            <a:endParaRPr lang="en-US" sz="3000" dirty="0"/>
          </a:p>
        </p:txBody>
      </p:sp>
      <p:sp>
        <p:nvSpPr>
          <p:cNvPr id="4" name="Shape 2"/>
          <p:cNvSpPr/>
          <p:nvPr/>
        </p:nvSpPr>
        <p:spPr>
          <a:xfrm>
            <a:off x="10287000" y="502920"/>
            <a:ext cx="1371600" cy="384048"/>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Bennet</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15</a:t>
            </a:r>
            <a:endParaRPr lang="en-US" sz="900" dirty="0"/>
          </a:p>
        </p:txBody>
      </p:sp>
      <p:sp>
        <p:nvSpPr>
          <p:cNvPr id="9" name="Shape 6"/>
          <p:cNvSpPr/>
          <p:nvPr/>
        </p:nvSpPr>
        <p:spPr>
          <a:xfrm>
            <a:off x="548640" y="1554480"/>
            <a:ext cx="11091672" cy="777240"/>
          </a:xfrm>
          <a:prstGeom prst="roundRect">
            <a:avLst>
              <a:gd name="adj" fmla="val 14118"/>
            </a:avLst>
          </a:prstGeom>
          <a:solidFill>
            <a:srgbClr val="F6F5FB"/>
          </a:solidFill>
          <a:ln w="9525">
            <a:solidFill>
              <a:srgbClr val="F6F5FB"/>
            </a:solidFill>
            <a:prstDash val="solid"/>
          </a:ln>
        </p:spPr>
        <p:txBody>
          <a:bodyPr/>
          <a:lstStyle/>
          <a:p>
            <a:endParaRPr lang="de-IN"/>
          </a:p>
        </p:txBody>
      </p:sp>
      <p:sp>
        <p:nvSpPr>
          <p:cNvPr id="10" name="Shape 7"/>
          <p:cNvSpPr/>
          <p:nvPr/>
        </p:nvSpPr>
        <p:spPr>
          <a:xfrm>
            <a:off x="731520" y="1682496"/>
            <a:ext cx="521208" cy="521208"/>
          </a:xfrm>
          <a:prstGeom prst="ellipse">
            <a:avLst/>
          </a:prstGeom>
          <a:solidFill>
            <a:srgbClr val="E8524F"/>
          </a:solidFill>
          <a:ln w="12700">
            <a:solidFill>
              <a:srgbClr val="E8524F"/>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867034" y="1818010"/>
            <a:ext cx="250180" cy="250180"/>
          </a:xfrm>
          <a:prstGeom prst="rect">
            <a:avLst/>
          </a:prstGeom>
        </p:spPr>
      </p:pic>
      <p:sp>
        <p:nvSpPr>
          <p:cNvPr id="12" name="Text 8"/>
          <p:cNvSpPr txBox="1"/>
          <p:nvPr/>
        </p:nvSpPr>
        <p:spPr>
          <a:xfrm>
            <a:off x="1463040" y="1554480"/>
            <a:ext cx="2194560" cy="777240"/>
          </a:xfrm>
          <a:prstGeom prst="rect">
            <a:avLst/>
          </a:prstGeom>
          <a:noFill/>
          <a:ln/>
        </p:spPr>
        <p:txBody>
          <a:bodyPr wrap="square" lIns="0" tIns="0" rIns="0" bIns="0" rtlCol="0" anchor="ctr"/>
          <a:lstStyle/>
          <a:p>
            <a:pPr marL="0" indent="0">
              <a:buNone/>
            </a:pPr>
            <a:r>
              <a:rPr lang="en-US" sz="1600" b="1" dirty="0">
                <a:solidFill>
                  <a:srgbClr val="1F1A4E"/>
                </a:solidFill>
                <a:latin typeface="Calibri" pitchFamily="34" charset="0"/>
                <a:ea typeface="Calibri" pitchFamily="34" charset="-122"/>
                <a:cs typeface="Calibri" pitchFamily="34" charset="-120"/>
              </a:rPr>
              <a:t>Anforderungen</a:t>
            </a:r>
            <a:endParaRPr lang="en-US" sz="1600" dirty="0"/>
          </a:p>
        </p:txBody>
      </p:sp>
      <p:sp>
        <p:nvSpPr>
          <p:cNvPr id="13" name="Text 9"/>
          <p:cNvSpPr txBox="1"/>
          <p:nvPr/>
        </p:nvSpPr>
        <p:spPr>
          <a:xfrm>
            <a:off x="3657600" y="1554480"/>
            <a:ext cx="7772400" cy="777240"/>
          </a:xfrm>
          <a:prstGeom prst="rect">
            <a:avLst/>
          </a:prstGeom>
          <a:noFill/>
          <a:ln/>
        </p:spPr>
        <p:txBody>
          <a:bodyPr wrap="square" lIns="0" tIns="0" rIns="0" bIns="0" rtlCol="0" anchor="ctr"/>
          <a:lstStyle/>
          <a:p>
            <a:pPr marL="0" indent="0">
              <a:buNone/>
            </a:pPr>
            <a:r>
              <a:rPr lang="en-US" sz="1400" dirty="0">
                <a:solidFill>
                  <a:srgbClr val="24204A"/>
                </a:solidFill>
                <a:latin typeface="Calibri" pitchFamily="34" charset="0"/>
                <a:ea typeface="Calibri" pitchFamily="34" charset="-122"/>
                <a:cs typeface="Calibri" pitchFamily="34" charset="-120"/>
              </a:rPr>
              <a:t>GitHub Issues mit User-Story-Vorlage  ·  Markdown-Dokumente in /docs  ·  Online-Umfrage  ·  Feedback-Log</a:t>
            </a:r>
            <a:endParaRPr lang="en-US" sz="1400" dirty="0"/>
          </a:p>
        </p:txBody>
      </p:sp>
      <p:sp>
        <p:nvSpPr>
          <p:cNvPr id="14" name="Shape 10"/>
          <p:cNvSpPr/>
          <p:nvPr/>
        </p:nvSpPr>
        <p:spPr>
          <a:xfrm>
            <a:off x="548640" y="2468880"/>
            <a:ext cx="11091672" cy="777240"/>
          </a:xfrm>
          <a:prstGeom prst="roundRect">
            <a:avLst>
              <a:gd name="adj" fmla="val 14118"/>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5" name="Shape 11"/>
          <p:cNvSpPr/>
          <p:nvPr/>
        </p:nvSpPr>
        <p:spPr>
          <a:xfrm>
            <a:off x="731520" y="2596896"/>
            <a:ext cx="521208" cy="521208"/>
          </a:xfrm>
          <a:prstGeom prst="ellipse">
            <a:avLst/>
          </a:prstGeom>
          <a:solidFill>
            <a:srgbClr val="6C4FF0"/>
          </a:solidFill>
          <a:ln w="12700">
            <a:solidFill>
              <a:srgbClr val="6C4FF0"/>
            </a:solidFill>
            <a:prstDash val="solid"/>
          </a:ln>
        </p:spPr>
        <p:txBody>
          <a:bodyPr/>
          <a:lstStyle/>
          <a:p>
            <a:endParaRPr lang="de-IN"/>
          </a:p>
        </p:txBody>
      </p:sp>
      <p:pic>
        <p:nvPicPr>
          <p:cNvPr id="16" name="Image 1" descr="preencoded.png"/>
          <p:cNvPicPr>
            <a:picLocks noChangeAspect="1"/>
          </p:cNvPicPr>
          <p:nvPr/>
        </p:nvPicPr>
        <p:blipFill>
          <a:blip r:embed="rId4"/>
          <a:stretch>
            <a:fillRect/>
          </a:stretch>
        </p:blipFill>
        <p:spPr>
          <a:xfrm>
            <a:off x="867034" y="2732410"/>
            <a:ext cx="250180" cy="250180"/>
          </a:xfrm>
          <a:prstGeom prst="rect">
            <a:avLst/>
          </a:prstGeom>
        </p:spPr>
      </p:pic>
      <p:sp>
        <p:nvSpPr>
          <p:cNvPr id="17" name="Text 12"/>
          <p:cNvSpPr txBox="1"/>
          <p:nvPr/>
        </p:nvSpPr>
        <p:spPr>
          <a:xfrm>
            <a:off x="1463040" y="2468880"/>
            <a:ext cx="2194560" cy="777240"/>
          </a:xfrm>
          <a:prstGeom prst="rect">
            <a:avLst/>
          </a:prstGeom>
          <a:noFill/>
          <a:ln/>
        </p:spPr>
        <p:txBody>
          <a:bodyPr wrap="square" lIns="0" tIns="0" rIns="0" bIns="0" rtlCol="0" anchor="ctr"/>
          <a:lstStyle/>
          <a:p>
            <a:pPr marL="0" indent="0">
              <a:buNone/>
            </a:pPr>
            <a:r>
              <a:rPr lang="en-US" sz="1600" b="1" dirty="0">
                <a:solidFill>
                  <a:srgbClr val="1F1A4E"/>
                </a:solidFill>
                <a:latin typeface="Calibri" pitchFamily="34" charset="0"/>
                <a:ea typeface="Calibri" pitchFamily="34" charset="-122"/>
                <a:cs typeface="Calibri" pitchFamily="34" charset="-120"/>
              </a:rPr>
              <a:t>Entwurf</a:t>
            </a:r>
            <a:endParaRPr lang="en-US" sz="1600" dirty="0"/>
          </a:p>
        </p:txBody>
      </p:sp>
      <p:sp>
        <p:nvSpPr>
          <p:cNvPr id="18" name="Text 13"/>
          <p:cNvSpPr txBox="1"/>
          <p:nvPr/>
        </p:nvSpPr>
        <p:spPr>
          <a:xfrm>
            <a:off x="3657600" y="2468880"/>
            <a:ext cx="7772400" cy="777240"/>
          </a:xfrm>
          <a:prstGeom prst="rect">
            <a:avLst/>
          </a:prstGeom>
          <a:noFill/>
          <a:ln/>
        </p:spPr>
        <p:txBody>
          <a:bodyPr wrap="square" lIns="0" tIns="0" rIns="0" bIns="0" rtlCol="0" anchor="ctr"/>
          <a:lstStyle/>
          <a:p>
            <a:pPr marL="0" indent="0">
              <a:buNone/>
            </a:pPr>
            <a:r>
              <a:rPr lang="en-US" sz="1400" dirty="0">
                <a:solidFill>
                  <a:srgbClr val="24204A"/>
                </a:solidFill>
                <a:latin typeface="Calibri" pitchFamily="34" charset="0"/>
                <a:ea typeface="Calibri" pitchFamily="34" charset="-122"/>
                <a:cs typeface="Calibri" pitchFamily="34" charset="-120"/>
              </a:rPr>
              <a:t>draw.io (diagrams.net) für UML- und ER-Diagramme, versioniert im Repository</a:t>
            </a:r>
            <a:endParaRPr lang="en-US" sz="1400" dirty="0"/>
          </a:p>
        </p:txBody>
      </p:sp>
      <p:sp>
        <p:nvSpPr>
          <p:cNvPr id="19" name="Shape 14"/>
          <p:cNvSpPr/>
          <p:nvPr/>
        </p:nvSpPr>
        <p:spPr>
          <a:xfrm>
            <a:off x="548640" y="3383280"/>
            <a:ext cx="11091672" cy="777240"/>
          </a:xfrm>
          <a:prstGeom prst="roundRect">
            <a:avLst>
              <a:gd name="adj" fmla="val 14118"/>
            </a:avLst>
          </a:prstGeom>
          <a:solidFill>
            <a:srgbClr val="F6F5FB"/>
          </a:solidFill>
          <a:ln w="9525">
            <a:solidFill>
              <a:srgbClr val="F6F5FB"/>
            </a:solidFill>
            <a:prstDash val="solid"/>
          </a:ln>
        </p:spPr>
        <p:txBody>
          <a:bodyPr/>
          <a:lstStyle/>
          <a:p>
            <a:endParaRPr lang="de-IN"/>
          </a:p>
        </p:txBody>
      </p:sp>
      <p:sp>
        <p:nvSpPr>
          <p:cNvPr id="20" name="Shape 15"/>
          <p:cNvSpPr/>
          <p:nvPr/>
        </p:nvSpPr>
        <p:spPr>
          <a:xfrm>
            <a:off x="731520" y="3511296"/>
            <a:ext cx="521208" cy="521208"/>
          </a:xfrm>
          <a:prstGeom prst="ellipse">
            <a:avLst/>
          </a:prstGeom>
          <a:solidFill>
            <a:srgbClr val="0E8F82"/>
          </a:solidFill>
          <a:ln w="12700">
            <a:solidFill>
              <a:srgbClr val="0E8F82"/>
            </a:solidFill>
            <a:prstDash val="solid"/>
          </a:ln>
        </p:spPr>
        <p:txBody>
          <a:bodyPr/>
          <a:lstStyle/>
          <a:p>
            <a:endParaRPr lang="de-IN"/>
          </a:p>
        </p:txBody>
      </p:sp>
      <p:pic>
        <p:nvPicPr>
          <p:cNvPr id="21" name="Image 2" descr="preencoded.png"/>
          <p:cNvPicPr>
            <a:picLocks noChangeAspect="1"/>
          </p:cNvPicPr>
          <p:nvPr/>
        </p:nvPicPr>
        <p:blipFill>
          <a:blip r:embed="rId5"/>
          <a:stretch>
            <a:fillRect/>
          </a:stretch>
        </p:blipFill>
        <p:spPr>
          <a:xfrm>
            <a:off x="867034" y="3646810"/>
            <a:ext cx="250180" cy="250180"/>
          </a:xfrm>
          <a:prstGeom prst="rect">
            <a:avLst/>
          </a:prstGeom>
        </p:spPr>
      </p:pic>
      <p:sp>
        <p:nvSpPr>
          <p:cNvPr id="22" name="Text 16"/>
          <p:cNvSpPr txBox="1"/>
          <p:nvPr/>
        </p:nvSpPr>
        <p:spPr>
          <a:xfrm>
            <a:off x="1463040" y="3383280"/>
            <a:ext cx="2194560" cy="777240"/>
          </a:xfrm>
          <a:prstGeom prst="rect">
            <a:avLst/>
          </a:prstGeom>
          <a:noFill/>
          <a:ln/>
        </p:spPr>
        <p:txBody>
          <a:bodyPr wrap="square" lIns="0" tIns="0" rIns="0" bIns="0" rtlCol="0" anchor="ctr"/>
          <a:lstStyle/>
          <a:p>
            <a:pPr marL="0" indent="0">
              <a:buNone/>
            </a:pPr>
            <a:r>
              <a:rPr lang="en-US" sz="1600" b="1" dirty="0">
                <a:solidFill>
                  <a:srgbClr val="1F1A4E"/>
                </a:solidFill>
                <a:latin typeface="Calibri" pitchFamily="34" charset="0"/>
                <a:ea typeface="Calibri" pitchFamily="34" charset="-122"/>
                <a:cs typeface="Calibri" pitchFamily="34" charset="-120"/>
              </a:rPr>
              <a:t>Implementierung</a:t>
            </a:r>
            <a:endParaRPr lang="en-US" sz="1600" dirty="0"/>
          </a:p>
        </p:txBody>
      </p:sp>
      <p:sp>
        <p:nvSpPr>
          <p:cNvPr id="23" name="Text 17"/>
          <p:cNvSpPr txBox="1"/>
          <p:nvPr/>
        </p:nvSpPr>
        <p:spPr>
          <a:xfrm>
            <a:off x="3657600" y="3383280"/>
            <a:ext cx="7772400" cy="777240"/>
          </a:xfrm>
          <a:prstGeom prst="rect">
            <a:avLst/>
          </a:prstGeom>
          <a:noFill/>
          <a:ln/>
        </p:spPr>
        <p:txBody>
          <a:bodyPr wrap="square" lIns="0" tIns="0" rIns="0" bIns="0" rtlCol="0" anchor="ctr"/>
          <a:lstStyle/>
          <a:p>
            <a:pPr marL="0" indent="0">
              <a:buNone/>
            </a:pPr>
            <a:r>
              <a:rPr lang="en-US" sz="1400" dirty="0">
                <a:solidFill>
                  <a:srgbClr val="24204A"/>
                </a:solidFill>
                <a:latin typeface="Calibri" pitchFamily="34" charset="0"/>
                <a:ea typeface="Calibri" pitchFamily="34" charset="-122"/>
                <a:cs typeface="Calibri" pitchFamily="34" charset="-120"/>
              </a:rPr>
              <a:t>Python 3.12  ·  Django 5.2 LTS  ·  Bootstrap  ·  Google OR-Tools (CP-SAT)  ·  SQLite/PostgreSQL  ·  VS Code</a:t>
            </a:r>
            <a:endParaRPr lang="en-US" sz="1400" dirty="0"/>
          </a:p>
        </p:txBody>
      </p:sp>
      <p:sp>
        <p:nvSpPr>
          <p:cNvPr id="24" name="Shape 18"/>
          <p:cNvSpPr/>
          <p:nvPr/>
        </p:nvSpPr>
        <p:spPr>
          <a:xfrm>
            <a:off x="548640" y="4297680"/>
            <a:ext cx="11091672" cy="777240"/>
          </a:xfrm>
          <a:prstGeom prst="roundRect">
            <a:avLst>
              <a:gd name="adj" fmla="val 14118"/>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5" name="Shape 19"/>
          <p:cNvSpPr/>
          <p:nvPr/>
        </p:nvSpPr>
        <p:spPr>
          <a:xfrm>
            <a:off x="731520" y="4425696"/>
            <a:ext cx="521208" cy="521208"/>
          </a:xfrm>
          <a:prstGeom prst="ellipse">
            <a:avLst/>
          </a:prstGeom>
          <a:solidFill>
            <a:srgbClr val="E89A0C"/>
          </a:solidFill>
          <a:ln w="12700">
            <a:solidFill>
              <a:srgbClr val="E89A0C"/>
            </a:solidFill>
            <a:prstDash val="solid"/>
          </a:ln>
        </p:spPr>
        <p:txBody>
          <a:bodyPr/>
          <a:lstStyle/>
          <a:p>
            <a:endParaRPr lang="de-IN"/>
          </a:p>
        </p:txBody>
      </p:sp>
      <p:pic>
        <p:nvPicPr>
          <p:cNvPr id="26" name="Image 3" descr="preencoded.png"/>
          <p:cNvPicPr>
            <a:picLocks noChangeAspect="1"/>
          </p:cNvPicPr>
          <p:nvPr/>
        </p:nvPicPr>
        <p:blipFill>
          <a:blip r:embed="rId6"/>
          <a:stretch>
            <a:fillRect/>
          </a:stretch>
        </p:blipFill>
        <p:spPr>
          <a:xfrm>
            <a:off x="867034" y="4561210"/>
            <a:ext cx="250180" cy="250180"/>
          </a:xfrm>
          <a:prstGeom prst="rect">
            <a:avLst/>
          </a:prstGeom>
        </p:spPr>
      </p:pic>
      <p:sp>
        <p:nvSpPr>
          <p:cNvPr id="27" name="Text 20"/>
          <p:cNvSpPr txBox="1"/>
          <p:nvPr/>
        </p:nvSpPr>
        <p:spPr>
          <a:xfrm>
            <a:off x="1463040" y="4297680"/>
            <a:ext cx="2194560" cy="777240"/>
          </a:xfrm>
          <a:prstGeom prst="rect">
            <a:avLst/>
          </a:prstGeom>
          <a:noFill/>
          <a:ln/>
        </p:spPr>
        <p:txBody>
          <a:bodyPr wrap="square" lIns="0" tIns="0" rIns="0" bIns="0" rtlCol="0" anchor="ctr"/>
          <a:lstStyle/>
          <a:p>
            <a:pPr marL="0" indent="0">
              <a:buNone/>
            </a:pPr>
            <a:r>
              <a:rPr lang="en-US" sz="1600" b="1" dirty="0">
                <a:solidFill>
                  <a:srgbClr val="1F1A4E"/>
                </a:solidFill>
                <a:latin typeface="Calibri" pitchFamily="34" charset="0"/>
                <a:ea typeface="Calibri" pitchFamily="34" charset="-122"/>
                <a:cs typeface="Calibri" pitchFamily="34" charset="-120"/>
              </a:rPr>
              <a:t>Test</a:t>
            </a:r>
            <a:endParaRPr lang="en-US" sz="1600" dirty="0"/>
          </a:p>
        </p:txBody>
      </p:sp>
      <p:sp>
        <p:nvSpPr>
          <p:cNvPr id="28" name="Text 21"/>
          <p:cNvSpPr txBox="1"/>
          <p:nvPr/>
        </p:nvSpPr>
        <p:spPr>
          <a:xfrm>
            <a:off x="3657600" y="4297680"/>
            <a:ext cx="7772400" cy="777240"/>
          </a:xfrm>
          <a:prstGeom prst="rect">
            <a:avLst/>
          </a:prstGeom>
          <a:noFill/>
          <a:ln/>
        </p:spPr>
        <p:txBody>
          <a:bodyPr wrap="square" lIns="0" tIns="0" rIns="0" bIns="0" rtlCol="0" anchor="ctr"/>
          <a:lstStyle/>
          <a:p>
            <a:pPr marL="0" indent="0">
              <a:buNone/>
            </a:pPr>
            <a:r>
              <a:rPr lang="en-US" sz="1400" dirty="0">
                <a:solidFill>
                  <a:srgbClr val="24204A"/>
                </a:solidFill>
                <a:latin typeface="Calibri" pitchFamily="34" charset="0"/>
                <a:ea typeface="Calibri" pitchFamily="34" charset="-122"/>
                <a:cs typeface="Calibri" pitchFamily="34" charset="-120"/>
              </a:rPr>
              <a:t>pytest  ·  pytest-django  ·  coverage.py (Branch-Coverage)  ·  Ruff  ·  GitHub Actions</a:t>
            </a:r>
            <a:endParaRPr lang="en-US" sz="1400" dirty="0"/>
          </a:p>
        </p:txBody>
      </p:sp>
      <p:sp>
        <p:nvSpPr>
          <p:cNvPr id="29" name="Shape 22"/>
          <p:cNvSpPr/>
          <p:nvPr/>
        </p:nvSpPr>
        <p:spPr>
          <a:xfrm>
            <a:off x="548640" y="5212080"/>
            <a:ext cx="11091672" cy="777240"/>
          </a:xfrm>
          <a:prstGeom prst="roundRect">
            <a:avLst>
              <a:gd name="adj" fmla="val 14118"/>
            </a:avLst>
          </a:prstGeom>
          <a:solidFill>
            <a:srgbClr val="F6F5FB"/>
          </a:solidFill>
          <a:ln w="9525">
            <a:solidFill>
              <a:srgbClr val="F6F5FB"/>
            </a:solidFill>
            <a:prstDash val="solid"/>
          </a:ln>
        </p:spPr>
        <p:txBody>
          <a:bodyPr/>
          <a:lstStyle/>
          <a:p>
            <a:endParaRPr lang="de-IN"/>
          </a:p>
        </p:txBody>
      </p:sp>
      <p:sp>
        <p:nvSpPr>
          <p:cNvPr id="30" name="Shape 23"/>
          <p:cNvSpPr/>
          <p:nvPr/>
        </p:nvSpPr>
        <p:spPr>
          <a:xfrm>
            <a:off x="731520" y="5340096"/>
            <a:ext cx="521208" cy="521208"/>
          </a:xfrm>
          <a:prstGeom prst="ellipse">
            <a:avLst/>
          </a:prstGeom>
          <a:solidFill>
            <a:srgbClr val="1F1A4E"/>
          </a:solidFill>
          <a:ln w="12700">
            <a:solidFill>
              <a:srgbClr val="1F1A4E"/>
            </a:solidFill>
            <a:prstDash val="solid"/>
          </a:ln>
        </p:spPr>
        <p:txBody>
          <a:bodyPr/>
          <a:lstStyle/>
          <a:p>
            <a:endParaRPr lang="de-IN"/>
          </a:p>
        </p:txBody>
      </p:sp>
      <p:pic>
        <p:nvPicPr>
          <p:cNvPr id="31" name="Image 4" descr="preencoded.png"/>
          <p:cNvPicPr>
            <a:picLocks noChangeAspect="1"/>
          </p:cNvPicPr>
          <p:nvPr/>
        </p:nvPicPr>
        <p:blipFill>
          <a:blip r:embed="rId7"/>
          <a:stretch>
            <a:fillRect/>
          </a:stretch>
        </p:blipFill>
        <p:spPr>
          <a:xfrm>
            <a:off x="867034" y="5475610"/>
            <a:ext cx="250180" cy="250180"/>
          </a:xfrm>
          <a:prstGeom prst="rect">
            <a:avLst/>
          </a:prstGeom>
        </p:spPr>
      </p:pic>
      <p:sp>
        <p:nvSpPr>
          <p:cNvPr id="32" name="Text 24"/>
          <p:cNvSpPr txBox="1"/>
          <p:nvPr/>
        </p:nvSpPr>
        <p:spPr>
          <a:xfrm>
            <a:off x="1463040" y="5212080"/>
            <a:ext cx="2194560" cy="777240"/>
          </a:xfrm>
          <a:prstGeom prst="rect">
            <a:avLst/>
          </a:prstGeom>
          <a:noFill/>
          <a:ln/>
        </p:spPr>
        <p:txBody>
          <a:bodyPr wrap="square" lIns="0" tIns="0" rIns="0" bIns="0" rtlCol="0" anchor="ctr"/>
          <a:lstStyle/>
          <a:p>
            <a:pPr marL="0" indent="0">
              <a:buNone/>
            </a:pPr>
            <a:r>
              <a:rPr lang="en-US" sz="1600" b="1" dirty="0">
                <a:solidFill>
                  <a:srgbClr val="1F1A4E"/>
                </a:solidFill>
                <a:latin typeface="Calibri" pitchFamily="34" charset="0"/>
                <a:ea typeface="Calibri" pitchFamily="34" charset="-122"/>
                <a:cs typeface="Calibri" pitchFamily="34" charset="-120"/>
              </a:rPr>
              <a:t>Management</a:t>
            </a:r>
            <a:endParaRPr lang="en-US" sz="1600" dirty="0"/>
          </a:p>
        </p:txBody>
      </p:sp>
      <p:sp>
        <p:nvSpPr>
          <p:cNvPr id="33" name="Text 25"/>
          <p:cNvSpPr txBox="1"/>
          <p:nvPr/>
        </p:nvSpPr>
        <p:spPr>
          <a:xfrm>
            <a:off x="3657600" y="5212080"/>
            <a:ext cx="7772400" cy="777240"/>
          </a:xfrm>
          <a:prstGeom prst="rect">
            <a:avLst/>
          </a:prstGeom>
          <a:noFill/>
          <a:ln/>
        </p:spPr>
        <p:txBody>
          <a:bodyPr wrap="square" lIns="0" tIns="0" rIns="0" bIns="0" rtlCol="0" anchor="ctr"/>
          <a:lstStyle/>
          <a:p>
            <a:pPr marL="0" indent="0">
              <a:buNone/>
            </a:pPr>
            <a:r>
              <a:rPr lang="en-US" sz="1400" dirty="0">
                <a:solidFill>
                  <a:srgbClr val="24204A"/>
                </a:solidFill>
                <a:latin typeface="Calibri" pitchFamily="34" charset="0"/>
                <a:ea typeface="Calibri" pitchFamily="34" charset="-122"/>
                <a:cs typeface="Calibri" pitchFamily="34" charset="-120"/>
              </a:rPr>
              <a:t>GitHub (Versionsverwaltung)  ·  GitHub Projects (Board, Meilensteine, Aufwandsfelder, Burn-up)  ·  Entscheidungslog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5 · TECH-STACK</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Warum Python und Django?</a:t>
            </a:r>
            <a:endParaRPr lang="en-US" sz="3000" dirty="0"/>
          </a:p>
        </p:txBody>
      </p:sp>
      <p:sp>
        <p:nvSpPr>
          <p:cNvPr id="4" name="Shape 2"/>
          <p:cNvSpPr/>
          <p:nvPr/>
        </p:nvSpPr>
        <p:spPr>
          <a:xfrm>
            <a:off x="10287000" y="502920"/>
            <a:ext cx="1371600" cy="384048"/>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Bennet</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16</a:t>
            </a:r>
            <a:endParaRPr lang="en-US" sz="900" dirty="0"/>
          </a:p>
        </p:txBody>
      </p:sp>
      <p:sp>
        <p:nvSpPr>
          <p:cNvPr id="9" name="Shape 6"/>
          <p:cNvSpPr/>
          <p:nvPr/>
        </p:nvSpPr>
        <p:spPr>
          <a:xfrm>
            <a:off x="548640" y="1554480"/>
            <a:ext cx="3429000" cy="2103120"/>
          </a:xfrm>
          <a:prstGeom prst="roundRect">
            <a:avLst>
              <a:gd name="adj" fmla="val 5217"/>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0" name="Shape 7"/>
          <p:cNvSpPr/>
          <p:nvPr/>
        </p:nvSpPr>
        <p:spPr>
          <a:xfrm>
            <a:off x="822960" y="1828800"/>
            <a:ext cx="640080" cy="640080"/>
          </a:xfrm>
          <a:prstGeom prst="ellipse">
            <a:avLst/>
          </a:prstGeom>
          <a:solidFill>
            <a:srgbClr val="6C4FF0"/>
          </a:solidFill>
          <a:ln w="12700">
            <a:solidFill>
              <a:srgbClr val="6C4FF0"/>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989381" y="1995221"/>
            <a:ext cx="307238" cy="307238"/>
          </a:xfrm>
          <a:prstGeom prst="rect">
            <a:avLst/>
          </a:prstGeom>
        </p:spPr>
      </p:pic>
      <p:sp>
        <p:nvSpPr>
          <p:cNvPr id="12" name="Text 8"/>
          <p:cNvSpPr txBox="1"/>
          <p:nvPr/>
        </p:nvSpPr>
        <p:spPr>
          <a:xfrm>
            <a:off x="822960" y="2560320"/>
            <a:ext cx="2971800" cy="365760"/>
          </a:xfrm>
          <a:prstGeom prst="rect">
            <a:avLst/>
          </a:prstGeom>
          <a:noFill/>
          <a:ln/>
        </p:spPr>
        <p:txBody>
          <a:bodyPr wrap="square" lIns="0" tIns="0" rIns="0" bIns="0" rtlCol="0" anchor="t"/>
          <a:lstStyle/>
          <a:p>
            <a:pPr marL="0" indent="0">
              <a:buNone/>
            </a:pPr>
            <a:r>
              <a:rPr lang="en-US" sz="1700" b="1" dirty="0">
                <a:solidFill>
                  <a:srgbClr val="1F1A4E"/>
                </a:solidFill>
                <a:latin typeface="Calibri" pitchFamily="34" charset="0"/>
                <a:ea typeface="Calibri" pitchFamily="34" charset="-122"/>
                <a:cs typeface="Calibri" pitchFamily="34" charset="-120"/>
              </a:rPr>
              <a:t>Viel ist eingebaut</a:t>
            </a:r>
            <a:endParaRPr lang="en-US" sz="1700" dirty="0"/>
          </a:p>
        </p:txBody>
      </p:sp>
      <p:sp>
        <p:nvSpPr>
          <p:cNvPr id="13" name="Text 9"/>
          <p:cNvSpPr txBox="1"/>
          <p:nvPr/>
        </p:nvSpPr>
        <p:spPr>
          <a:xfrm>
            <a:off x="822960" y="2926080"/>
            <a:ext cx="2971800" cy="68580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Login, Rollen, Admin-Oberfläche, Formulare und Datenbankanbindung</a:t>
            </a:r>
            <a:endParaRPr lang="en-US" sz="1350" dirty="0"/>
          </a:p>
        </p:txBody>
      </p:sp>
      <p:sp>
        <p:nvSpPr>
          <p:cNvPr id="14" name="Shape 10"/>
          <p:cNvSpPr/>
          <p:nvPr/>
        </p:nvSpPr>
        <p:spPr>
          <a:xfrm>
            <a:off x="4160520" y="1554480"/>
            <a:ext cx="3429000" cy="2103120"/>
          </a:xfrm>
          <a:prstGeom prst="roundRect">
            <a:avLst>
              <a:gd name="adj" fmla="val 5217"/>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5" name="Shape 11"/>
          <p:cNvSpPr/>
          <p:nvPr/>
        </p:nvSpPr>
        <p:spPr>
          <a:xfrm>
            <a:off x="4434840" y="1828800"/>
            <a:ext cx="640080" cy="640080"/>
          </a:xfrm>
          <a:prstGeom prst="ellipse">
            <a:avLst/>
          </a:prstGeom>
          <a:solidFill>
            <a:srgbClr val="0E8F82"/>
          </a:solidFill>
          <a:ln w="12700">
            <a:solidFill>
              <a:srgbClr val="0E8F82"/>
            </a:solidFill>
            <a:prstDash val="solid"/>
          </a:ln>
        </p:spPr>
        <p:txBody>
          <a:bodyPr/>
          <a:lstStyle/>
          <a:p>
            <a:endParaRPr lang="de-IN"/>
          </a:p>
        </p:txBody>
      </p:sp>
      <p:pic>
        <p:nvPicPr>
          <p:cNvPr id="16" name="Image 1" descr="preencoded.png"/>
          <p:cNvPicPr>
            <a:picLocks noChangeAspect="1"/>
          </p:cNvPicPr>
          <p:nvPr/>
        </p:nvPicPr>
        <p:blipFill>
          <a:blip r:embed="rId4"/>
          <a:stretch>
            <a:fillRect/>
          </a:stretch>
        </p:blipFill>
        <p:spPr>
          <a:xfrm>
            <a:off x="4601261" y="1995221"/>
            <a:ext cx="307238" cy="307238"/>
          </a:xfrm>
          <a:prstGeom prst="rect">
            <a:avLst/>
          </a:prstGeom>
        </p:spPr>
      </p:pic>
      <p:sp>
        <p:nvSpPr>
          <p:cNvPr id="17" name="Text 12"/>
          <p:cNvSpPr txBox="1"/>
          <p:nvPr/>
        </p:nvSpPr>
        <p:spPr>
          <a:xfrm>
            <a:off x="4434840" y="2560320"/>
            <a:ext cx="2971800" cy="365760"/>
          </a:xfrm>
          <a:prstGeom prst="rect">
            <a:avLst/>
          </a:prstGeom>
          <a:noFill/>
          <a:ln/>
        </p:spPr>
        <p:txBody>
          <a:bodyPr wrap="square" lIns="0" tIns="0" rIns="0" bIns="0" rtlCol="0" anchor="t"/>
          <a:lstStyle/>
          <a:p>
            <a:pPr marL="0" indent="0">
              <a:buNone/>
            </a:pPr>
            <a:r>
              <a:rPr lang="en-US" sz="1700" b="1" dirty="0">
                <a:solidFill>
                  <a:srgbClr val="1F1A4E"/>
                </a:solidFill>
                <a:latin typeface="Calibri" pitchFamily="34" charset="0"/>
                <a:ea typeface="Calibri" pitchFamily="34" charset="-122"/>
                <a:cs typeface="Calibri" pitchFamily="34" charset="-120"/>
              </a:rPr>
              <a:t>Passt zum Entwurf</a:t>
            </a:r>
            <a:endParaRPr lang="en-US" sz="1700" dirty="0"/>
          </a:p>
        </p:txBody>
      </p:sp>
      <p:sp>
        <p:nvSpPr>
          <p:cNvPr id="18" name="Text 13"/>
          <p:cNvSpPr txBox="1"/>
          <p:nvPr/>
        </p:nvSpPr>
        <p:spPr>
          <a:xfrm>
            <a:off x="4434840" y="2926080"/>
            <a:ext cx="2971800" cy="68580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Modellklassen bilden das ER-Diagramm fast direkt ab</a:t>
            </a:r>
            <a:endParaRPr lang="en-US" sz="1350" dirty="0"/>
          </a:p>
        </p:txBody>
      </p:sp>
      <p:sp>
        <p:nvSpPr>
          <p:cNvPr id="19" name="Shape 14"/>
          <p:cNvSpPr/>
          <p:nvPr/>
        </p:nvSpPr>
        <p:spPr>
          <a:xfrm>
            <a:off x="548640" y="3840480"/>
            <a:ext cx="3429000" cy="2103120"/>
          </a:xfrm>
          <a:prstGeom prst="roundRect">
            <a:avLst>
              <a:gd name="adj" fmla="val 5217"/>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0" name="Shape 15"/>
          <p:cNvSpPr/>
          <p:nvPr/>
        </p:nvSpPr>
        <p:spPr>
          <a:xfrm>
            <a:off x="822960" y="4114800"/>
            <a:ext cx="640080" cy="640080"/>
          </a:xfrm>
          <a:prstGeom prst="ellipse">
            <a:avLst/>
          </a:prstGeom>
          <a:solidFill>
            <a:srgbClr val="E8524F"/>
          </a:solidFill>
          <a:ln w="12700">
            <a:solidFill>
              <a:srgbClr val="E8524F"/>
            </a:solidFill>
            <a:prstDash val="solid"/>
          </a:ln>
        </p:spPr>
        <p:txBody>
          <a:bodyPr/>
          <a:lstStyle/>
          <a:p>
            <a:endParaRPr lang="de-IN"/>
          </a:p>
        </p:txBody>
      </p:sp>
      <p:pic>
        <p:nvPicPr>
          <p:cNvPr id="21" name="Image 2" descr="preencoded.png"/>
          <p:cNvPicPr>
            <a:picLocks noChangeAspect="1"/>
          </p:cNvPicPr>
          <p:nvPr/>
        </p:nvPicPr>
        <p:blipFill>
          <a:blip r:embed="rId5"/>
          <a:stretch>
            <a:fillRect/>
          </a:stretch>
        </p:blipFill>
        <p:spPr>
          <a:xfrm>
            <a:off x="989381" y="4281221"/>
            <a:ext cx="307238" cy="307238"/>
          </a:xfrm>
          <a:prstGeom prst="rect">
            <a:avLst/>
          </a:prstGeom>
        </p:spPr>
      </p:pic>
      <p:sp>
        <p:nvSpPr>
          <p:cNvPr id="22" name="Text 16"/>
          <p:cNvSpPr txBox="1"/>
          <p:nvPr/>
        </p:nvSpPr>
        <p:spPr>
          <a:xfrm>
            <a:off x="822960" y="4846320"/>
            <a:ext cx="2971800" cy="365760"/>
          </a:xfrm>
          <a:prstGeom prst="rect">
            <a:avLst/>
          </a:prstGeom>
          <a:noFill/>
          <a:ln/>
        </p:spPr>
        <p:txBody>
          <a:bodyPr wrap="square" lIns="0" tIns="0" rIns="0" bIns="0" rtlCol="0" anchor="t"/>
          <a:lstStyle/>
          <a:p>
            <a:pPr marL="0" indent="0">
              <a:buNone/>
            </a:pPr>
            <a:r>
              <a:rPr lang="en-US" sz="1700" b="1" dirty="0">
                <a:solidFill>
                  <a:srgbClr val="1F1A4E"/>
                </a:solidFill>
                <a:latin typeface="Calibri" pitchFamily="34" charset="0"/>
                <a:ea typeface="Calibri" pitchFamily="34" charset="-122"/>
                <a:cs typeface="Calibri" pitchFamily="34" charset="-120"/>
              </a:rPr>
              <a:t>Bester Solver-Support</a:t>
            </a:r>
            <a:endParaRPr lang="en-US" sz="1700" dirty="0"/>
          </a:p>
        </p:txBody>
      </p:sp>
      <p:sp>
        <p:nvSpPr>
          <p:cNvPr id="23" name="Text 17"/>
          <p:cNvSpPr txBox="1"/>
          <p:nvPr/>
        </p:nvSpPr>
        <p:spPr>
          <a:xfrm>
            <a:off x="822960" y="5212080"/>
            <a:ext cx="2971800" cy="68580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Google OR-Tools ist für Python am besten dokumentiert</a:t>
            </a:r>
            <a:endParaRPr lang="en-US" sz="1350" dirty="0"/>
          </a:p>
        </p:txBody>
      </p:sp>
      <p:sp>
        <p:nvSpPr>
          <p:cNvPr id="24" name="Shape 18"/>
          <p:cNvSpPr/>
          <p:nvPr/>
        </p:nvSpPr>
        <p:spPr>
          <a:xfrm>
            <a:off x="4160520" y="3840480"/>
            <a:ext cx="3429000" cy="2103120"/>
          </a:xfrm>
          <a:prstGeom prst="roundRect">
            <a:avLst>
              <a:gd name="adj" fmla="val 5217"/>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5" name="Shape 19"/>
          <p:cNvSpPr/>
          <p:nvPr/>
        </p:nvSpPr>
        <p:spPr>
          <a:xfrm>
            <a:off x="4434840" y="4114800"/>
            <a:ext cx="640080" cy="640080"/>
          </a:xfrm>
          <a:prstGeom prst="ellipse">
            <a:avLst/>
          </a:prstGeom>
          <a:solidFill>
            <a:srgbClr val="E89A0C"/>
          </a:solidFill>
          <a:ln w="12700">
            <a:solidFill>
              <a:srgbClr val="E89A0C"/>
            </a:solidFill>
            <a:prstDash val="solid"/>
          </a:ln>
        </p:spPr>
        <p:txBody>
          <a:bodyPr/>
          <a:lstStyle/>
          <a:p>
            <a:endParaRPr lang="de-IN"/>
          </a:p>
        </p:txBody>
      </p:sp>
      <p:pic>
        <p:nvPicPr>
          <p:cNvPr id="26" name="Image 3" descr="preencoded.png"/>
          <p:cNvPicPr>
            <a:picLocks noChangeAspect="1"/>
          </p:cNvPicPr>
          <p:nvPr/>
        </p:nvPicPr>
        <p:blipFill>
          <a:blip r:embed="rId6"/>
          <a:stretch>
            <a:fillRect/>
          </a:stretch>
        </p:blipFill>
        <p:spPr>
          <a:xfrm>
            <a:off x="4601261" y="4281221"/>
            <a:ext cx="307238" cy="307238"/>
          </a:xfrm>
          <a:prstGeom prst="rect">
            <a:avLst/>
          </a:prstGeom>
        </p:spPr>
      </p:pic>
      <p:sp>
        <p:nvSpPr>
          <p:cNvPr id="27" name="Text 20"/>
          <p:cNvSpPr txBox="1"/>
          <p:nvPr/>
        </p:nvSpPr>
        <p:spPr>
          <a:xfrm>
            <a:off x="4434840" y="4846320"/>
            <a:ext cx="2971800" cy="365760"/>
          </a:xfrm>
          <a:prstGeom prst="rect">
            <a:avLst/>
          </a:prstGeom>
          <a:noFill/>
          <a:ln/>
        </p:spPr>
        <p:txBody>
          <a:bodyPr wrap="square" lIns="0" tIns="0" rIns="0" bIns="0" rtlCol="0" anchor="t"/>
          <a:lstStyle/>
          <a:p>
            <a:pPr marL="0" indent="0">
              <a:buNone/>
            </a:pPr>
            <a:r>
              <a:rPr lang="en-US" sz="1700" b="1" dirty="0">
                <a:solidFill>
                  <a:srgbClr val="1F1A4E"/>
                </a:solidFill>
                <a:latin typeface="Calibri" pitchFamily="34" charset="0"/>
                <a:ea typeface="Calibri" pitchFamily="34" charset="-122"/>
                <a:cs typeface="Calibri" pitchFamily="34" charset="-120"/>
              </a:rPr>
              <a:t>Bekannte Sprache</a:t>
            </a:r>
            <a:endParaRPr lang="en-US" sz="1700" dirty="0"/>
          </a:p>
        </p:txBody>
      </p:sp>
      <p:sp>
        <p:nvSpPr>
          <p:cNvPr id="28" name="Text 21"/>
          <p:cNvSpPr txBox="1"/>
          <p:nvPr/>
        </p:nvSpPr>
        <p:spPr>
          <a:xfrm>
            <a:off x="4434840" y="5212080"/>
            <a:ext cx="2971800" cy="68580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Python ist im Team gelernt – der Kurs rät von neuen Sprachen ab</a:t>
            </a:r>
            <a:endParaRPr lang="en-US" sz="1350" dirty="0"/>
          </a:p>
        </p:txBody>
      </p:sp>
      <p:sp>
        <p:nvSpPr>
          <p:cNvPr id="29" name="Shape 22"/>
          <p:cNvSpPr/>
          <p:nvPr/>
        </p:nvSpPr>
        <p:spPr>
          <a:xfrm>
            <a:off x="7863840" y="1554480"/>
            <a:ext cx="3776472" cy="1783080"/>
          </a:xfrm>
          <a:prstGeom prst="roundRect">
            <a:avLst>
              <a:gd name="adj" fmla="val 6154"/>
            </a:avLst>
          </a:prstGeom>
          <a:solidFill>
            <a:srgbClr val="F6F5FB"/>
          </a:solidFill>
          <a:ln w="9525">
            <a:solidFill>
              <a:srgbClr val="F6F5FB"/>
            </a:solidFill>
            <a:prstDash val="solid"/>
          </a:ln>
        </p:spPr>
        <p:txBody>
          <a:bodyPr/>
          <a:lstStyle/>
          <a:p>
            <a:endParaRPr lang="de-IN"/>
          </a:p>
        </p:txBody>
      </p:sp>
      <p:sp>
        <p:nvSpPr>
          <p:cNvPr id="30" name="Text 23"/>
          <p:cNvSpPr txBox="1"/>
          <p:nvPr/>
        </p:nvSpPr>
        <p:spPr>
          <a:xfrm>
            <a:off x="8138160" y="1691640"/>
            <a:ext cx="3291840" cy="320040"/>
          </a:xfrm>
          <a:prstGeom prst="rect">
            <a:avLst/>
          </a:prstGeom>
          <a:noFill/>
          <a:ln/>
        </p:spPr>
        <p:txBody>
          <a:bodyPr wrap="square" lIns="0" tIns="0" rIns="0" bIns="0" rtlCol="0" anchor="t"/>
          <a:lstStyle/>
          <a:p>
            <a:pPr marL="0" indent="0">
              <a:buNone/>
            </a:pPr>
            <a:r>
              <a:rPr lang="en-US" sz="1500" b="1" dirty="0">
                <a:solidFill>
                  <a:srgbClr val="1F1A4E"/>
                </a:solidFill>
                <a:latin typeface="Calibri" pitchFamily="34" charset="0"/>
                <a:ea typeface="Calibri" pitchFamily="34" charset="-122"/>
                <a:cs typeface="Calibri" pitchFamily="34" charset="-120"/>
              </a:rPr>
              <a:t>Betrachtete Alternative</a:t>
            </a:r>
            <a:endParaRPr lang="en-US" sz="1500" dirty="0"/>
          </a:p>
        </p:txBody>
      </p:sp>
      <p:sp>
        <p:nvSpPr>
          <p:cNvPr id="31" name="Text 24"/>
          <p:cNvSpPr txBox="1"/>
          <p:nvPr/>
        </p:nvSpPr>
        <p:spPr>
          <a:xfrm>
            <a:off x="8138160" y="2057400"/>
            <a:ext cx="3291840" cy="118872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C# mit ASP.NET Core: tragfähig, aber mehr Grundgerüst, aufwendigere Einrichtung von Login und Rollen, schwereres Hosting.</a:t>
            </a:r>
            <a:endParaRPr lang="en-US" sz="1300" dirty="0"/>
          </a:p>
        </p:txBody>
      </p:sp>
      <p:sp>
        <p:nvSpPr>
          <p:cNvPr id="32" name="Shape 25"/>
          <p:cNvSpPr/>
          <p:nvPr/>
        </p:nvSpPr>
        <p:spPr>
          <a:xfrm>
            <a:off x="7863840" y="3520440"/>
            <a:ext cx="3776472" cy="2560320"/>
          </a:xfrm>
          <a:prstGeom prst="roundRect">
            <a:avLst>
              <a:gd name="adj" fmla="val 4286"/>
            </a:avLst>
          </a:prstGeom>
          <a:solidFill>
            <a:srgbClr val="1F1A4E"/>
          </a:solidFill>
          <a:ln w="12700">
            <a:solidFill>
              <a:srgbClr val="1F1A4E"/>
            </a:solidFill>
            <a:prstDash val="solid"/>
          </a:ln>
        </p:spPr>
        <p:txBody>
          <a:bodyPr/>
          <a:lstStyle/>
          <a:p>
            <a:endParaRPr lang="de-IN"/>
          </a:p>
        </p:txBody>
      </p:sp>
      <p:sp>
        <p:nvSpPr>
          <p:cNvPr id="33" name="Text 26"/>
          <p:cNvSpPr txBox="1"/>
          <p:nvPr/>
        </p:nvSpPr>
        <p:spPr>
          <a:xfrm>
            <a:off x="8138160" y="3657600"/>
            <a:ext cx="329184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Lernkurve eingeplant</a:t>
            </a:r>
            <a:endParaRPr lang="en-US" sz="1500" dirty="0"/>
          </a:p>
        </p:txBody>
      </p:sp>
      <p:sp>
        <p:nvSpPr>
          <p:cNvPr id="34" name="Text 27"/>
          <p:cNvSpPr txBox="1"/>
          <p:nvPr/>
        </p:nvSpPr>
        <p:spPr>
          <a:xfrm>
            <a:off x="8138160" y="4114800"/>
            <a:ext cx="3291840"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Django-Tutorial für alle in Sprint 0</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OR-Tools-Spike bis P3</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Greedy-Algorithmus als Rückfalloption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5 · PROJEKT-TRACKING</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Projekt-Tracking in GitHub</a:t>
            </a:r>
            <a:endParaRPr lang="en-US" sz="3000" dirty="0"/>
          </a:p>
        </p:txBody>
      </p:sp>
      <p:sp>
        <p:nvSpPr>
          <p:cNvPr id="4" name="Shape 2"/>
          <p:cNvSpPr/>
          <p:nvPr/>
        </p:nvSpPr>
        <p:spPr>
          <a:xfrm>
            <a:off x="10287000" y="502920"/>
            <a:ext cx="1371600" cy="384048"/>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Bennet</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17</a:t>
            </a:r>
            <a:endParaRPr lang="en-US" sz="900" dirty="0"/>
          </a:p>
        </p:txBody>
      </p:sp>
      <p:sp>
        <p:nvSpPr>
          <p:cNvPr id="9" name="Shape 6"/>
          <p:cNvSpPr/>
          <p:nvPr/>
        </p:nvSpPr>
        <p:spPr>
          <a:xfrm>
            <a:off x="8778240" y="502920"/>
            <a:ext cx="1325880" cy="384048"/>
          </a:xfrm>
          <a:prstGeom prst="roundRect">
            <a:avLst>
              <a:gd name="adj" fmla="val 50000"/>
            </a:avLst>
          </a:prstGeom>
          <a:solidFill>
            <a:srgbClr val="FDE9E8"/>
          </a:solidFill>
          <a:ln w="12700">
            <a:solidFill>
              <a:srgbClr val="E8524F"/>
            </a:solidFill>
            <a:prstDash val="solid"/>
          </a:ln>
        </p:spPr>
        <p:txBody>
          <a:bodyPr/>
          <a:lstStyle/>
          <a:p>
            <a:endParaRPr lang="de-IN"/>
          </a:p>
        </p:txBody>
      </p:sp>
      <p:sp>
        <p:nvSpPr>
          <p:cNvPr id="10" name="Text 7"/>
          <p:cNvSpPr txBox="1"/>
          <p:nvPr/>
        </p:nvSpPr>
        <p:spPr>
          <a:xfrm>
            <a:off x="8778240" y="502920"/>
            <a:ext cx="1325880" cy="384048"/>
          </a:xfrm>
          <a:prstGeom prst="rect">
            <a:avLst/>
          </a:prstGeom>
          <a:noFill/>
          <a:ln/>
        </p:spPr>
        <p:txBody>
          <a:bodyPr wrap="square" lIns="0" tIns="0" rIns="0" bIns="0" rtlCol="0" anchor="ctr"/>
          <a:lstStyle/>
          <a:p>
            <a:pPr marL="0" indent="0" algn="ctr">
              <a:buNone/>
            </a:pPr>
            <a:r>
              <a:rPr lang="en-US" sz="1250" b="1" dirty="0">
                <a:solidFill>
                  <a:srgbClr val="E8524F"/>
                </a:solidFill>
                <a:latin typeface="Calibri" pitchFamily="34" charset="0"/>
                <a:ea typeface="Calibri" pitchFamily="34" charset="-122"/>
                <a:cs typeface="Calibri" pitchFamily="34" charset="-120"/>
              </a:rPr>
              <a:t>● Live-Demo</a:t>
            </a:r>
            <a:endParaRPr lang="en-US" sz="1250" dirty="0"/>
          </a:p>
        </p:txBody>
      </p:sp>
      <p:sp>
        <p:nvSpPr>
          <p:cNvPr id="11" name="Shape 8"/>
          <p:cNvSpPr/>
          <p:nvPr/>
        </p:nvSpPr>
        <p:spPr>
          <a:xfrm>
            <a:off x="548640" y="1554480"/>
            <a:ext cx="7223760" cy="4526280"/>
          </a:xfrm>
          <a:prstGeom prst="roundRect">
            <a:avLst>
              <a:gd name="adj" fmla="val 2424"/>
            </a:avLst>
          </a:prstGeom>
          <a:solidFill>
            <a:srgbClr val="F6F5FB"/>
          </a:solidFill>
          <a:ln w="9525">
            <a:solidFill>
              <a:srgbClr val="F6F5FB"/>
            </a:solidFill>
            <a:prstDash val="solid"/>
          </a:ln>
        </p:spPr>
        <p:txBody>
          <a:bodyPr/>
          <a:lstStyle/>
          <a:p>
            <a:endParaRPr lang="de-IN"/>
          </a:p>
        </p:txBody>
      </p:sp>
      <p:sp>
        <p:nvSpPr>
          <p:cNvPr id="12" name="Text 9"/>
          <p:cNvSpPr txBox="1"/>
          <p:nvPr/>
        </p:nvSpPr>
        <p:spPr>
          <a:xfrm>
            <a:off x="731520" y="1737360"/>
            <a:ext cx="1307592" cy="274320"/>
          </a:xfrm>
          <a:prstGeom prst="rect">
            <a:avLst/>
          </a:prstGeom>
          <a:noFill/>
          <a:ln/>
        </p:spPr>
        <p:txBody>
          <a:bodyPr wrap="square" lIns="0" tIns="0" rIns="0" bIns="0" rtlCol="0" anchor="t"/>
          <a:lstStyle/>
          <a:p>
            <a:pPr marL="0" indent="0">
              <a:buNone/>
            </a:pPr>
            <a:r>
              <a:rPr lang="en-US" sz="1150" b="1" dirty="0">
                <a:solidFill>
                  <a:srgbClr val="1F1A4E"/>
                </a:solidFill>
                <a:latin typeface="Calibri" pitchFamily="34" charset="0"/>
                <a:ea typeface="Calibri" pitchFamily="34" charset="-122"/>
                <a:cs typeface="Calibri" pitchFamily="34" charset="-120"/>
              </a:rPr>
              <a:t>Backlog</a:t>
            </a:r>
            <a:endParaRPr lang="en-US" sz="1150" dirty="0"/>
          </a:p>
        </p:txBody>
      </p:sp>
      <p:sp>
        <p:nvSpPr>
          <p:cNvPr id="13" name="Shape 10"/>
          <p:cNvSpPr/>
          <p:nvPr/>
        </p:nvSpPr>
        <p:spPr>
          <a:xfrm>
            <a:off x="731520" y="2057400"/>
            <a:ext cx="1307592" cy="3840480"/>
          </a:xfrm>
          <a:prstGeom prst="roundRect">
            <a:avLst>
              <a:gd name="adj" fmla="val 5594"/>
            </a:avLst>
          </a:prstGeom>
          <a:solidFill>
            <a:srgbClr val="ECEAF5"/>
          </a:solidFill>
          <a:ln w="12700">
            <a:solidFill>
              <a:srgbClr val="ECEAF5"/>
            </a:solidFill>
            <a:prstDash val="solid"/>
          </a:ln>
        </p:spPr>
        <p:txBody>
          <a:bodyPr/>
          <a:lstStyle/>
          <a:p>
            <a:endParaRPr lang="de-IN"/>
          </a:p>
        </p:txBody>
      </p:sp>
      <p:sp>
        <p:nvSpPr>
          <p:cNvPr id="14" name="Shape 11"/>
          <p:cNvSpPr/>
          <p:nvPr/>
        </p:nvSpPr>
        <p:spPr>
          <a:xfrm>
            <a:off x="804672" y="2176272"/>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15" name="Shape 12"/>
          <p:cNvSpPr/>
          <p:nvPr/>
        </p:nvSpPr>
        <p:spPr>
          <a:xfrm>
            <a:off x="896112" y="2286000"/>
            <a:ext cx="457200" cy="128016"/>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16" name="Shape 13"/>
          <p:cNvSpPr/>
          <p:nvPr/>
        </p:nvSpPr>
        <p:spPr>
          <a:xfrm>
            <a:off x="896112" y="2505456"/>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17" name="Shape 14"/>
          <p:cNvSpPr/>
          <p:nvPr/>
        </p:nvSpPr>
        <p:spPr>
          <a:xfrm>
            <a:off x="804672" y="2889504"/>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18" name="Shape 15"/>
          <p:cNvSpPr/>
          <p:nvPr/>
        </p:nvSpPr>
        <p:spPr>
          <a:xfrm>
            <a:off x="896112" y="2999232"/>
            <a:ext cx="457200" cy="128016"/>
          </a:xfrm>
          <a:prstGeom prst="roundRect">
            <a:avLst>
              <a:gd name="adj" fmla="val 50000"/>
            </a:avLst>
          </a:prstGeom>
          <a:solidFill>
            <a:srgbClr val="6C4FF0"/>
          </a:solidFill>
          <a:ln w="12700">
            <a:solidFill>
              <a:srgbClr val="6C4FF0"/>
            </a:solidFill>
            <a:prstDash val="solid"/>
          </a:ln>
        </p:spPr>
        <p:txBody>
          <a:bodyPr/>
          <a:lstStyle/>
          <a:p>
            <a:endParaRPr lang="de-IN"/>
          </a:p>
        </p:txBody>
      </p:sp>
      <p:sp>
        <p:nvSpPr>
          <p:cNvPr id="19" name="Shape 16"/>
          <p:cNvSpPr/>
          <p:nvPr/>
        </p:nvSpPr>
        <p:spPr>
          <a:xfrm>
            <a:off x="896112" y="3218688"/>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20" name="Shape 17"/>
          <p:cNvSpPr/>
          <p:nvPr/>
        </p:nvSpPr>
        <p:spPr>
          <a:xfrm>
            <a:off x="804672" y="3602736"/>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21" name="Shape 18"/>
          <p:cNvSpPr/>
          <p:nvPr/>
        </p:nvSpPr>
        <p:spPr>
          <a:xfrm>
            <a:off x="896112" y="3712464"/>
            <a:ext cx="457200" cy="128016"/>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22" name="Shape 19"/>
          <p:cNvSpPr/>
          <p:nvPr/>
        </p:nvSpPr>
        <p:spPr>
          <a:xfrm>
            <a:off x="896112" y="3931920"/>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23" name="Text 20"/>
          <p:cNvSpPr txBox="1"/>
          <p:nvPr/>
        </p:nvSpPr>
        <p:spPr>
          <a:xfrm>
            <a:off x="2130552" y="1737360"/>
            <a:ext cx="1307592" cy="274320"/>
          </a:xfrm>
          <a:prstGeom prst="rect">
            <a:avLst/>
          </a:prstGeom>
          <a:noFill/>
          <a:ln/>
        </p:spPr>
        <p:txBody>
          <a:bodyPr wrap="square" lIns="0" tIns="0" rIns="0" bIns="0" rtlCol="0" anchor="t"/>
          <a:lstStyle/>
          <a:p>
            <a:pPr marL="0" indent="0">
              <a:buNone/>
            </a:pPr>
            <a:r>
              <a:rPr lang="en-US" sz="1150" b="1" dirty="0">
                <a:solidFill>
                  <a:srgbClr val="1F1A4E"/>
                </a:solidFill>
                <a:latin typeface="Calibri" pitchFamily="34" charset="0"/>
                <a:ea typeface="Calibri" pitchFamily="34" charset="-122"/>
                <a:cs typeface="Calibri" pitchFamily="34" charset="-120"/>
              </a:rPr>
              <a:t>Sprint-Backlog</a:t>
            </a:r>
            <a:endParaRPr lang="en-US" sz="1150" dirty="0"/>
          </a:p>
        </p:txBody>
      </p:sp>
      <p:sp>
        <p:nvSpPr>
          <p:cNvPr id="24" name="Shape 21"/>
          <p:cNvSpPr/>
          <p:nvPr/>
        </p:nvSpPr>
        <p:spPr>
          <a:xfrm>
            <a:off x="2130552" y="2057400"/>
            <a:ext cx="1307592" cy="3840480"/>
          </a:xfrm>
          <a:prstGeom prst="roundRect">
            <a:avLst>
              <a:gd name="adj" fmla="val 5594"/>
            </a:avLst>
          </a:prstGeom>
          <a:solidFill>
            <a:srgbClr val="ECEAF5"/>
          </a:solidFill>
          <a:ln w="12700">
            <a:solidFill>
              <a:srgbClr val="ECEAF5"/>
            </a:solidFill>
            <a:prstDash val="solid"/>
          </a:ln>
        </p:spPr>
        <p:txBody>
          <a:bodyPr/>
          <a:lstStyle/>
          <a:p>
            <a:endParaRPr lang="de-IN"/>
          </a:p>
        </p:txBody>
      </p:sp>
      <p:sp>
        <p:nvSpPr>
          <p:cNvPr id="25" name="Shape 22"/>
          <p:cNvSpPr/>
          <p:nvPr/>
        </p:nvSpPr>
        <p:spPr>
          <a:xfrm>
            <a:off x="2203704" y="2176272"/>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26" name="Shape 23"/>
          <p:cNvSpPr/>
          <p:nvPr/>
        </p:nvSpPr>
        <p:spPr>
          <a:xfrm>
            <a:off x="2295144" y="2286000"/>
            <a:ext cx="457200" cy="128016"/>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27" name="Shape 24"/>
          <p:cNvSpPr/>
          <p:nvPr/>
        </p:nvSpPr>
        <p:spPr>
          <a:xfrm>
            <a:off x="2295144" y="2505456"/>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28" name="Shape 25"/>
          <p:cNvSpPr/>
          <p:nvPr/>
        </p:nvSpPr>
        <p:spPr>
          <a:xfrm>
            <a:off x="2203704" y="2889504"/>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29" name="Shape 26"/>
          <p:cNvSpPr/>
          <p:nvPr/>
        </p:nvSpPr>
        <p:spPr>
          <a:xfrm>
            <a:off x="2295144" y="2999232"/>
            <a:ext cx="457200" cy="128016"/>
          </a:xfrm>
          <a:prstGeom prst="roundRect">
            <a:avLst>
              <a:gd name="adj" fmla="val 50000"/>
            </a:avLst>
          </a:prstGeom>
          <a:solidFill>
            <a:srgbClr val="E89A0C"/>
          </a:solidFill>
          <a:ln w="12700">
            <a:solidFill>
              <a:srgbClr val="E89A0C"/>
            </a:solidFill>
            <a:prstDash val="solid"/>
          </a:ln>
        </p:spPr>
        <p:txBody>
          <a:bodyPr/>
          <a:lstStyle/>
          <a:p>
            <a:endParaRPr lang="de-IN"/>
          </a:p>
        </p:txBody>
      </p:sp>
      <p:sp>
        <p:nvSpPr>
          <p:cNvPr id="30" name="Shape 27"/>
          <p:cNvSpPr/>
          <p:nvPr/>
        </p:nvSpPr>
        <p:spPr>
          <a:xfrm>
            <a:off x="2295144" y="3218688"/>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31" name="Shape 28"/>
          <p:cNvSpPr/>
          <p:nvPr/>
        </p:nvSpPr>
        <p:spPr>
          <a:xfrm>
            <a:off x="2203704" y="3602736"/>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32" name="Shape 29"/>
          <p:cNvSpPr/>
          <p:nvPr/>
        </p:nvSpPr>
        <p:spPr>
          <a:xfrm>
            <a:off x="2295144" y="3712464"/>
            <a:ext cx="457200" cy="128016"/>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33" name="Shape 30"/>
          <p:cNvSpPr/>
          <p:nvPr/>
        </p:nvSpPr>
        <p:spPr>
          <a:xfrm>
            <a:off x="2295144" y="3931920"/>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34" name="Text 31"/>
          <p:cNvSpPr txBox="1"/>
          <p:nvPr/>
        </p:nvSpPr>
        <p:spPr>
          <a:xfrm>
            <a:off x="3529584" y="1737360"/>
            <a:ext cx="1307592" cy="274320"/>
          </a:xfrm>
          <a:prstGeom prst="rect">
            <a:avLst/>
          </a:prstGeom>
          <a:noFill/>
          <a:ln/>
        </p:spPr>
        <p:txBody>
          <a:bodyPr wrap="square" lIns="0" tIns="0" rIns="0" bIns="0" rtlCol="0" anchor="t"/>
          <a:lstStyle/>
          <a:p>
            <a:pPr marL="0" indent="0">
              <a:buNone/>
            </a:pPr>
            <a:r>
              <a:rPr lang="en-US" sz="1150" b="1" dirty="0">
                <a:solidFill>
                  <a:srgbClr val="1F1A4E"/>
                </a:solidFill>
                <a:latin typeface="Calibri" pitchFamily="34" charset="0"/>
                <a:ea typeface="Calibri" pitchFamily="34" charset="-122"/>
                <a:cs typeface="Calibri" pitchFamily="34" charset="-120"/>
              </a:rPr>
              <a:t>In Arbeit</a:t>
            </a:r>
            <a:endParaRPr lang="en-US" sz="1150" dirty="0"/>
          </a:p>
        </p:txBody>
      </p:sp>
      <p:sp>
        <p:nvSpPr>
          <p:cNvPr id="35" name="Shape 32"/>
          <p:cNvSpPr/>
          <p:nvPr/>
        </p:nvSpPr>
        <p:spPr>
          <a:xfrm>
            <a:off x="3529584" y="2057400"/>
            <a:ext cx="1307592" cy="3840480"/>
          </a:xfrm>
          <a:prstGeom prst="roundRect">
            <a:avLst>
              <a:gd name="adj" fmla="val 5594"/>
            </a:avLst>
          </a:prstGeom>
          <a:solidFill>
            <a:srgbClr val="ECEAF5"/>
          </a:solidFill>
          <a:ln w="12700">
            <a:solidFill>
              <a:srgbClr val="ECEAF5"/>
            </a:solidFill>
            <a:prstDash val="solid"/>
          </a:ln>
        </p:spPr>
        <p:txBody>
          <a:bodyPr/>
          <a:lstStyle/>
          <a:p>
            <a:endParaRPr lang="de-IN"/>
          </a:p>
        </p:txBody>
      </p:sp>
      <p:sp>
        <p:nvSpPr>
          <p:cNvPr id="36" name="Shape 33"/>
          <p:cNvSpPr/>
          <p:nvPr/>
        </p:nvSpPr>
        <p:spPr>
          <a:xfrm>
            <a:off x="3602736" y="2176272"/>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37" name="Shape 34"/>
          <p:cNvSpPr/>
          <p:nvPr/>
        </p:nvSpPr>
        <p:spPr>
          <a:xfrm>
            <a:off x="3694176" y="2286000"/>
            <a:ext cx="457200" cy="128016"/>
          </a:xfrm>
          <a:prstGeom prst="roundRect">
            <a:avLst>
              <a:gd name="adj" fmla="val 50000"/>
            </a:avLst>
          </a:prstGeom>
          <a:solidFill>
            <a:srgbClr val="6C4FF0"/>
          </a:solidFill>
          <a:ln w="12700">
            <a:solidFill>
              <a:srgbClr val="6C4FF0"/>
            </a:solidFill>
            <a:prstDash val="solid"/>
          </a:ln>
        </p:spPr>
        <p:txBody>
          <a:bodyPr/>
          <a:lstStyle/>
          <a:p>
            <a:endParaRPr lang="de-IN"/>
          </a:p>
        </p:txBody>
      </p:sp>
      <p:sp>
        <p:nvSpPr>
          <p:cNvPr id="38" name="Shape 35"/>
          <p:cNvSpPr/>
          <p:nvPr/>
        </p:nvSpPr>
        <p:spPr>
          <a:xfrm>
            <a:off x="3694176" y="2505456"/>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39" name="Shape 36"/>
          <p:cNvSpPr/>
          <p:nvPr/>
        </p:nvSpPr>
        <p:spPr>
          <a:xfrm>
            <a:off x="3602736" y="2889504"/>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40" name="Shape 37"/>
          <p:cNvSpPr/>
          <p:nvPr/>
        </p:nvSpPr>
        <p:spPr>
          <a:xfrm>
            <a:off x="3694176" y="2999232"/>
            <a:ext cx="457200" cy="128016"/>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41" name="Shape 38"/>
          <p:cNvSpPr/>
          <p:nvPr/>
        </p:nvSpPr>
        <p:spPr>
          <a:xfrm>
            <a:off x="3694176" y="3218688"/>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42" name="Text 39"/>
          <p:cNvSpPr txBox="1"/>
          <p:nvPr/>
        </p:nvSpPr>
        <p:spPr>
          <a:xfrm>
            <a:off x="4928616" y="1737360"/>
            <a:ext cx="1307592" cy="274320"/>
          </a:xfrm>
          <a:prstGeom prst="rect">
            <a:avLst/>
          </a:prstGeom>
          <a:noFill/>
          <a:ln/>
        </p:spPr>
        <p:txBody>
          <a:bodyPr wrap="square" lIns="0" tIns="0" rIns="0" bIns="0" rtlCol="0" anchor="t"/>
          <a:lstStyle/>
          <a:p>
            <a:pPr marL="0" indent="0">
              <a:buNone/>
            </a:pPr>
            <a:r>
              <a:rPr lang="en-US" sz="1150" b="1" dirty="0">
                <a:solidFill>
                  <a:srgbClr val="1F1A4E"/>
                </a:solidFill>
                <a:latin typeface="Calibri" pitchFamily="34" charset="0"/>
                <a:ea typeface="Calibri" pitchFamily="34" charset="-122"/>
                <a:cs typeface="Calibri" pitchFamily="34" charset="-120"/>
              </a:rPr>
              <a:t>Review</a:t>
            </a:r>
            <a:endParaRPr lang="en-US" sz="1150" dirty="0"/>
          </a:p>
        </p:txBody>
      </p:sp>
      <p:sp>
        <p:nvSpPr>
          <p:cNvPr id="43" name="Shape 40"/>
          <p:cNvSpPr/>
          <p:nvPr/>
        </p:nvSpPr>
        <p:spPr>
          <a:xfrm>
            <a:off x="4928616" y="2057400"/>
            <a:ext cx="1307592" cy="3840480"/>
          </a:xfrm>
          <a:prstGeom prst="roundRect">
            <a:avLst>
              <a:gd name="adj" fmla="val 5594"/>
            </a:avLst>
          </a:prstGeom>
          <a:solidFill>
            <a:srgbClr val="ECEAF5"/>
          </a:solidFill>
          <a:ln w="12700">
            <a:solidFill>
              <a:srgbClr val="ECEAF5"/>
            </a:solidFill>
            <a:prstDash val="solid"/>
          </a:ln>
        </p:spPr>
        <p:txBody>
          <a:bodyPr/>
          <a:lstStyle/>
          <a:p>
            <a:endParaRPr lang="de-IN"/>
          </a:p>
        </p:txBody>
      </p:sp>
      <p:sp>
        <p:nvSpPr>
          <p:cNvPr id="44" name="Shape 41"/>
          <p:cNvSpPr/>
          <p:nvPr/>
        </p:nvSpPr>
        <p:spPr>
          <a:xfrm>
            <a:off x="5001768" y="2176272"/>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45" name="Shape 42"/>
          <p:cNvSpPr/>
          <p:nvPr/>
        </p:nvSpPr>
        <p:spPr>
          <a:xfrm>
            <a:off x="5093208" y="2286000"/>
            <a:ext cx="457200" cy="128016"/>
          </a:xfrm>
          <a:prstGeom prst="roundRect">
            <a:avLst>
              <a:gd name="adj" fmla="val 50000"/>
            </a:avLst>
          </a:prstGeom>
          <a:solidFill>
            <a:srgbClr val="E89A0C"/>
          </a:solidFill>
          <a:ln w="12700">
            <a:solidFill>
              <a:srgbClr val="E89A0C"/>
            </a:solidFill>
            <a:prstDash val="solid"/>
          </a:ln>
        </p:spPr>
        <p:txBody>
          <a:bodyPr/>
          <a:lstStyle/>
          <a:p>
            <a:endParaRPr lang="de-IN"/>
          </a:p>
        </p:txBody>
      </p:sp>
      <p:sp>
        <p:nvSpPr>
          <p:cNvPr id="46" name="Shape 43"/>
          <p:cNvSpPr/>
          <p:nvPr/>
        </p:nvSpPr>
        <p:spPr>
          <a:xfrm>
            <a:off x="5093208" y="2505456"/>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47" name="Text 44"/>
          <p:cNvSpPr txBox="1"/>
          <p:nvPr/>
        </p:nvSpPr>
        <p:spPr>
          <a:xfrm>
            <a:off x="6327648" y="1737360"/>
            <a:ext cx="1307592" cy="274320"/>
          </a:xfrm>
          <a:prstGeom prst="rect">
            <a:avLst/>
          </a:prstGeom>
          <a:noFill/>
          <a:ln/>
        </p:spPr>
        <p:txBody>
          <a:bodyPr wrap="square" lIns="0" tIns="0" rIns="0" bIns="0" rtlCol="0" anchor="t"/>
          <a:lstStyle/>
          <a:p>
            <a:pPr marL="0" indent="0">
              <a:buNone/>
            </a:pPr>
            <a:r>
              <a:rPr lang="en-US" sz="1150" b="1" dirty="0">
                <a:solidFill>
                  <a:srgbClr val="1F1A4E"/>
                </a:solidFill>
                <a:latin typeface="Calibri" pitchFamily="34" charset="0"/>
                <a:ea typeface="Calibri" pitchFamily="34" charset="-122"/>
                <a:cs typeface="Calibri" pitchFamily="34" charset="-120"/>
              </a:rPr>
              <a:t>Erledigt</a:t>
            </a:r>
            <a:endParaRPr lang="en-US" sz="1150" dirty="0"/>
          </a:p>
        </p:txBody>
      </p:sp>
      <p:sp>
        <p:nvSpPr>
          <p:cNvPr id="48" name="Shape 45"/>
          <p:cNvSpPr/>
          <p:nvPr/>
        </p:nvSpPr>
        <p:spPr>
          <a:xfrm>
            <a:off x="6327648" y="2057400"/>
            <a:ext cx="1307592" cy="3840480"/>
          </a:xfrm>
          <a:prstGeom prst="roundRect">
            <a:avLst>
              <a:gd name="adj" fmla="val 5594"/>
            </a:avLst>
          </a:prstGeom>
          <a:solidFill>
            <a:srgbClr val="ECEAF5"/>
          </a:solidFill>
          <a:ln w="12700">
            <a:solidFill>
              <a:srgbClr val="ECEAF5"/>
            </a:solidFill>
            <a:prstDash val="solid"/>
          </a:ln>
        </p:spPr>
        <p:txBody>
          <a:bodyPr/>
          <a:lstStyle/>
          <a:p>
            <a:endParaRPr lang="de-IN"/>
          </a:p>
        </p:txBody>
      </p:sp>
      <p:sp>
        <p:nvSpPr>
          <p:cNvPr id="49" name="Shape 46"/>
          <p:cNvSpPr/>
          <p:nvPr/>
        </p:nvSpPr>
        <p:spPr>
          <a:xfrm>
            <a:off x="6400800" y="2176272"/>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50" name="Shape 47"/>
          <p:cNvSpPr/>
          <p:nvPr/>
        </p:nvSpPr>
        <p:spPr>
          <a:xfrm>
            <a:off x="6492240" y="2286000"/>
            <a:ext cx="457200" cy="128016"/>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1" name="Shape 48"/>
          <p:cNvSpPr/>
          <p:nvPr/>
        </p:nvSpPr>
        <p:spPr>
          <a:xfrm>
            <a:off x="6492240" y="2505456"/>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52" name="Shape 49"/>
          <p:cNvSpPr/>
          <p:nvPr/>
        </p:nvSpPr>
        <p:spPr>
          <a:xfrm>
            <a:off x="6400800" y="2889504"/>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53" name="Shape 50"/>
          <p:cNvSpPr/>
          <p:nvPr/>
        </p:nvSpPr>
        <p:spPr>
          <a:xfrm>
            <a:off x="6492240" y="2999232"/>
            <a:ext cx="457200" cy="128016"/>
          </a:xfrm>
          <a:prstGeom prst="roundRect">
            <a:avLst>
              <a:gd name="adj" fmla="val 50000"/>
            </a:avLst>
          </a:prstGeom>
          <a:solidFill>
            <a:srgbClr val="E8524F"/>
          </a:solidFill>
          <a:ln w="12700">
            <a:solidFill>
              <a:srgbClr val="E8524F"/>
            </a:solidFill>
            <a:prstDash val="solid"/>
          </a:ln>
        </p:spPr>
        <p:txBody>
          <a:bodyPr/>
          <a:lstStyle/>
          <a:p>
            <a:endParaRPr lang="de-IN"/>
          </a:p>
        </p:txBody>
      </p:sp>
      <p:sp>
        <p:nvSpPr>
          <p:cNvPr id="54" name="Shape 51"/>
          <p:cNvSpPr/>
          <p:nvPr/>
        </p:nvSpPr>
        <p:spPr>
          <a:xfrm>
            <a:off x="6492240" y="3218688"/>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55" name="Shape 52"/>
          <p:cNvSpPr/>
          <p:nvPr/>
        </p:nvSpPr>
        <p:spPr>
          <a:xfrm>
            <a:off x="6400800" y="3602736"/>
            <a:ext cx="1161288" cy="603504"/>
          </a:xfrm>
          <a:prstGeom prst="roundRect">
            <a:avLst>
              <a:gd name="adj" fmla="val 9091"/>
            </a:avLst>
          </a:prstGeom>
          <a:solidFill>
            <a:srgbClr val="FFFFFF"/>
          </a:solidFill>
          <a:ln w="6350">
            <a:solidFill>
              <a:srgbClr val="E4E2EF"/>
            </a:solidFill>
            <a:prstDash val="solid"/>
          </a:ln>
        </p:spPr>
        <p:txBody>
          <a:bodyPr/>
          <a:lstStyle/>
          <a:p>
            <a:endParaRPr lang="de-IN"/>
          </a:p>
        </p:txBody>
      </p:sp>
      <p:sp>
        <p:nvSpPr>
          <p:cNvPr id="56" name="Shape 53"/>
          <p:cNvSpPr/>
          <p:nvPr/>
        </p:nvSpPr>
        <p:spPr>
          <a:xfrm>
            <a:off x="6492240" y="3712464"/>
            <a:ext cx="457200" cy="128016"/>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57" name="Shape 54"/>
          <p:cNvSpPr/>
          <p:nvPr/>
        </p:nvSpPr>
        <p:spPr>
          <a:xfrm>
            <a:off x="6492240" y="3931920"/>
            <a:ext cx="850392" cy="82296"/>
          </a:xfrm>
          <a:prstGeom prst="roundRect">
            <a:avLst>
              <a:gd name="adj" fmla="val 44444"/>
            </a:avLst>
          </a:prstGeom>
          <a:solidFill>
            <a:srgbClr val="D9D6E8"/>
          </a:solidFill>
          <a:ln w="12700">
            <a:solidFill>
              <a:srgbClr val="D9D6E8"/>
            </a:solidFill>
            <a:prstDash val="solid"/>
          </a:ln>
        </p:spPr>
        <p:txBody>
          <a:bodyPr/>
          <a:lstStyle/>
          <a:p>
            <a:endParaRPr lang="de-IN"/>
          </a:p>
        </p:txBody>
      </p:sp>
      <p:sp>
        <p:nvSpPr>
          <p:cNvPr id="58" name="Text 55"/>
          <p:cNvSpPr txBox="1"/>
          <p:nvPr/>
        </p:nvSpPr>
        <p:spPr>
          <a:xfrm>
            <a:off x="8046720" y="1554480"/>
            <a:ext cx="3566160" cy="320040"/>
          </a:xfrm>
          <a:prstGeom prst="rect">
            <a:avLst/>
          </a:prstGeom>
          <a:noFill/>
          <a:ln/>
        </p:spPr>
        <p:txBody>
          <a:bodyPr wrap="square" lIns="0" tIns="0" rIns="0" bIns="0" rtlCol="0" anchor="t"/>
          <a:lstStyle/>
          <a:p>
            <a:pPr marL="0" indent="0">
              <a:buNone/>
            </a:pPr>
            <a:r>
              <a:rPr lang="en-US" sz="1500" b="1" dirty="0">
                <a:solidFill>
                  <a:srgbClr val="1F1A4E"/>
                </a:solidFill>
                <a:latin typeface="Calibri" pitchFamily="34" charset="0"/>
                <a:ea typeface="Calibri" pitchFamily="34" charset="-122"/>
                <a:cs typeface="Calibri" pitchFamily="34" charset="-120"/>
              </a:rPr>
              <a:t>Felder je Ticket</a:t>
            </a:r>
            <a:endParaRPr lang="en-US" sz="1500" dirty="0"/>
          </a:p>
        </p:txBody>
      </p:sp>
      <p:sp>
        <p:nvSpPr>
          <p:cNvPr id="59" name="Shape 56"/>
          <p:cNvSpPr/>
          <p:nvPr/>
        </p:nvSpPr>
        <p:spPr>
          <a:xfrm>
            <a:off x="8046720" y="1938528"/>
            <a:ext cx="1719072" cy="347472"/>
          </a:xfrm>
          <a:prstGeom prst="roundRect">
            <a:avLst>
              <a:gd name="adj" fmla="val 50000"/>
            </a:avLst>
          </a:prstGeom>
          <a:solidFill>
            <a:srgbClr val="FFFFFF"/>
          </a:solidFill>
          <a:ln w="15875">
            <a:solidFill>
              <a:srgbClr val="E8524F"/>
            </a:solidFill>
            <a:prstDash val="solid"/>
          </a:ln>
        </p:spPr>
        <p:txBody>
          <a:bodyPr/>
          <a:lstStyle/>
          <a:p>
            <a:endParaRPr lang="de-IN"/>
          </a:p>
        </p:txBody>
      </p:sp>
      <p:sp>
        <p:nvSpPr>
          <p:cNvPr id="60" name="Text 57"/>
          <p:cNvSpPr txBox="1"/>
          <p:nvPr/>
        </p:nvSpPr>
        <p:spPr>
          <a:xfrm>
            <a:off x="8046720" y="1938528"/>
            <a:ext cx="1719072" cy="347472"/>
          </a:xfrm>
          <a:prstGeom prst="rect">
            <a:avLst/>
          </a:prstGeom>
          <a:noFill/>
          <a:ln/>
        </p:spPr>
        <p:txBody>
          <a:bodyPr wrap="square" lIns="0" tIns="0" rIns="0" bIns="0" rtlCol="0" anchor="ctr"/>
          <a:lstStyle/>
          <a:p>
            <a:pPr marL="0" indent="0" algn="ctr">
              <a:buNone/>
            </a:pPr>
            <a:r>
              <a:rPr lang="en-US" sz="1200" b="1" dirty="0">
                <a:solidFill>
                  <a:srgbClr val="E8524F"/>
                </a:solidFill>
                <a:latin typeface="Calibri" pitchFamily="34" charset="0"/>
                <a:ea typeface="Calibri" pitchFamily="34" charset="-122"/>
                <a:cs typeface="Calibri" pitchFamily="34" charset="-120"/>
              </a:rPr>
              <a:t>Aktivität</a:t>
            </a:r>
            <a:endParaRPr lang="en-US" sz="1200" dirty="0"/>
          </a:p>
        </p:txBody>
      </p:sp>
      <p:sp>
        <p:nvSpPr>
          <p:cNvPr id="61" name="Shape 58"/>
          <p:cNvSpPr/>
          <p:nvPr/>
        </p:nvSpPr>
        <p:spPr>
          <a:xfrm>
            <a:off x="9857232" y="1938528"/>
            <a:ext cx="1719072" cy="347472"/>
          </a:xfrm>
          <a:prstGeom prst="roundRect">
            <a:avLst>
              <a:gd name="adj" fmla="val 50000"/>
            </a:avLst>
          </a:prstGeom>
          <a:solidFill>
            <a:srgbClr val="FFFFFF"/>
          </a:solidFill>
          <a:ln w="15875">
            <a:solidFill>
              <a:srgbClr val="6C4FF0"/>
            </a:solidFill>
            <a:prstDash val="solid"/>
          </a:ln>
        </p:spPr>
        <p:txBody>
          <a:bodyPr/>
          <a:lstStyle/>
          <a:p>
            <a:endParaRPr lang="de-IN"/>
          </a:p>
        </p:txBody>
      </p:sp>
      <p:sp>
        <p:nvSpPr>
          <p:cNvPr id="62" name="Text 59"/>
          <p:cNvSpPr txBox="1"/>
          <p:nvPr/>
        </p:nvSpPr>
        <p:spPr>
          <a:xfrm>
            <a:off x="9857232" y="1938528"/>
            <a:ext cx="1719072" cy="347472"/>
          </a:xfrm>
          <a:prstGeom prst="rect">
            <a:avLst/>
          </a:prstGeom>
          <a:noFill/>
          <a:ln/>
        </p:spPr>
        <p:txBody>
          <a:bodyPr wrap="square" lIns="0" tIns="0" rIns="0" bIns="0" rtlCol="0" anchor="ctr"/>
          <a:lstStyle/>
          <a:p>
            <a:pPr marL="0" indent="0" algn="ctr">
              <a:buNone/>
            </a:pPr>
            <a:r>
              <a:rPr lang="en-US" sz="1200" b="1" dirty="0">
                <a:solidFill>
                  <a:srgbClr val="6C4FF0"/>
                </a:solidFill>
                <a:latin typeface="Calibri" pitchFamily="34" charset="0"/>
                <a:ea typeface="Calibri" pitchFamily="34" charset="-122"/>
                <a:cs typeface="Calibri" pitchFamily="34" charset="-120"/>
              </a:rPr>
              <a:t>Priorität (MoSCoW)</a:t>
            </a:r>
            <a:endParaRPr lang="en-US" sz="1200" dirty="0"/>
          </a:p>
        </p:txBody>
      </p:sp>
      <p:sp>
        <p:nvSpPr>
          <p:cNvPr id="63" name="Shape 60"/>
          <p:cNvSpPr/>
          <p:nvPr/>
        </p:nvSpPr>
        <p:spPr>
          <a:xfrm>
            <a:off x="8046720" y="2395728"/>
            <a:ext cx="1719072" cy="347472"/>
          </a:xfrm>
          <a:prstGeom prst="roundRect">
            <a:avLst>
              <a:gd name="adj" fmla="val 50000"/>
            </a:avLst>
          </a:prstGeom>
          <a:solidFill>
            <a:srgbClr val="FFFFFF"/>
          </a:solidFill>
          <a:ln w="15875">
            <a:solidFill>
              <a:srgbClr val="0E8F82"/>
            </a:solidFill>
            <a:prstDash val="solid"/>
          </a:ln>
        </p:spPr>
        <p:txBody>
          <a:bodyPr/>
          <a:lstStyle/>
          <a:p>
            <a:endParaRPr lang="de-IN"/>
          </a:p>
        </p:txBody>
      </p:sp>
      <p:sp>
        <p:nvSpPr>
          <p:cNvPr id="64" name="Text 61"/>
          <p:cNvSpPr txBox="1"/>
          <p:nvPr/>
        </p:nvSpPr>
        <p:spPr>
          <a:xfrm>
            <a:off x="8046720" y="2395728"/>
            <a:ext cx="1719072" cy="347472"/>
          </a:xfrm>
          <a:prstGeom prst="rect">
            <a:avLst/>
          </a:prstGeom>
          <a:noFill/>
          <a:ln/>
        </p:spPr>
        <p:txBody>
          <a:bodyPr wrap="square" lIns="0" tIns="0" rIns="0" bIns="0" rtlCol="0" anchor="ctr"/>
          <a:lstStyle/>
          <a:p>
            <a:pPr marL="0" indent="0" algn="ctr">
              <a:buNone/>
            </a:pPr>
            <a:r>
              <a:rPr lang="en-US" sz="1200" b="1" dirty="0">
                <a:solidFill>
                  <a:srgbClr val="0E8F82"/>
                </a:solidFill>
                <a:latin typeface="Calibri" pitchFamily="34" charset="0"/>
                <a:ea typeface="Calibri" pitchFamily="34" charset="-122"/>
                <a:cs typeface="Calibri" pitchFamily="34" charset="-120"/>
              </a:rPr>
              <a:t>Story Points</a:t>
            </a:r>
            <a:endParaRPr lang="en-US" sz="1200" dirty="0"/>
          </a:p>
        </p:txBody>
      </p:sp>
      <p:sp>
        <p:nvSpPr>
          <p:cNvPr id="65" name="Shape 62"/>
          <p:cNvSpPr/>
          <p:nvPr/>
        </p:nvSpPr>
        <p:spPr>
          <a:xfrm>
            <a:off x="9857232" y="2395728"/>
            <a:ext cx="1719072" cy="347472"/>
          </a:xfrm>
          <a:prstGeom prst="roundRect">
            <a:avLst>
              <a:gd name="adj" fmla="val 50000"/>
            </a:avLst>
          </a:prstGeom>
          <a:solidFill>
            <a:srgbClr val="FFFFFF"/>
          </a:solidFill>
          <a:ln w="15875">
            <a:solidFill>
              <a:srgbClr val="E89A0C"/>
            </a:solidFill>
            <a:prstDash val="solid"/>
          </a:ln>
        </p:spPr>
        <p:txBody>
          <a:bodyPr/>
          <a:lstStyle/>
          <a:p>
            <a:endParaRPr lang="de-IN"/>
          </a:p>
        </p:txBody>
      </p:sp>
      <p:sp>
        <p:nvSpPr>
          <p:cNvPr id="66" name="Text 63"/>
          <p:cNvSpPr txBox="1"/>
          <p:nvPr/>
        </p:nvSpPr>
        <p:spPr>
          <a:xfrm>
            <a:off x="9857232" y="2395728"/>
            <a:ext cx="1719072" cy="347472"/>
          </a:xfrm>
          <a:prstGeom prst="rect">
            <a:avLst/>
          </a:prstGeom>
          <a:noFill/>
          <a:ln/>
        </p:spPr>
        <p:txBody>
          <a:bodyPr wrap="square" lIns="0" tIns="0" rIns="0" bIns="0" rtlCol="0" anchor="ctr"/>
          <a:lstStyle/>
          <a:p>
            <a:pPr marL="0" indent="0" algn="ctr">
              <a:buNone/>
            </a:pPr>
            <a:r>
              <a:rPr lang="en-US" sz="1200" b="1" dirty="0">
                <a:solidFill>
                  <a:srgbClr val="7A4F00"/>
                </a:solidFill>
                <a:latin typeface="Calibri" pitchFamily="34" charset="0"/>
                <a:ea typeface="Calibri" pitchFamily="34" charset="-122"/>
                <a:cs typeface="Calibri" pitchFamily="34" charset="-120"/>
              </a:rPr>
              <a:t>Stunden</a:t>
            </a:r>
            <a:endParaRPr lang="en-US" sz="1200" dirty="0"/>
          </a:p>
        </p:txBody>
      </p:sp>
      <p:sp>
        <p:nvSpPr>
          <p:cNvPr id="67" name="Shape 64"/>
          <p:cNvSpPr/>
          <p:nvPr/>
        </p:nvSpPr>
        <p:spPr>
          <a:xfrm>
            <a:off x="8046720" y="2852928"/>
            <a:ext cx="1719072" cy="347472"/>
          </a:xfrm>
          <a:prstGeom prst="roundRect">
            <a:avLst>
              <a:gd name="adj" fmla="val 50000"/>
            </a:avLst>
          </a:prstGeom>
          <a:solidFill>
            <a:srgbClr val="FFFFFF"/>
          </a:solidFill>
          <a:ln w="15875">
            <a:solidFill>
              <a:srgbClr val="1F1A4E"/>
            </a:solidFill>
            <a:prstDash val="solid"/>
          </a:ln>
        </p:spPr>
        <p:txBody>
          <a:bodyPr/>
          <a:lstStyle/>
          <a:p>
            <a:endParaRPr lang="de-IN"/>
          </a:p>
        </p:txBody>
      </p:sp>
      <p:sp>
        <p:nvSpPr>
          <p:cNvPr id="68" name="Text 65"/>
          <p:cNvSpPr txBox="1"/>
          <p:nvPr/>
        </p:nvSpPr>
        <p:spPr>
          <a:xfrm>
            <a:off x="8046720" y="2852928"/>
            <a:ext cx="1719072" cy="347472"/>
          </a:xfrm>
          <a:prstGeom prst="rect">
            <a:avLst/>
          </a:prstGeom>
          <a:noFill/>
          <a:ln/>
        </p:spPr>
        <p:txBody>
          <a:bodyPr wrap="square" lIns="0" tIns="0" rIns="0" bIns="0" rtlCol="0" anchor="ctr"/>
          <a:lstStyle/>
          <a:p>
            <a:pPr marL="0" indent="0" algn="ctr">
              <a:buNone/>
            </a:pPr>
            <a:r>
              <a:rPr lang="en-US" sz="1200" b="1" dirty="0">
                <a:solidFill>
                  <a:srgbClr val="1F1A4E"/>
                </a:solidFill>
                <a:latin typeface="Calibri" pitchFamily="34" charset="0"/>
                <a:ea typeface="Calibri" pitchFamily="34" charset="-122"/>
                <a:cs typeface="Calibri" pitchFamily="34" charset="-120"/>
              </a:rPr>
              <a:t>Sprint</a:t>
            </a:r>
            <a:endParaRPr lang="en-US" sz="1200" dirty="0"/>
          </a:p>
        </p:txBody>
      </p:sp>
      <p:sp>
        <p:nvSpPr>
          <p:cNvPr id="69" name="Text 66"/>
          <p:cNvSpPr txBox="1"/>
          <p:nvPr/>
        </p:nvSpPr>
        <p:spPr>
          <a:xfrm>
            <a:off x="8046720" y="3401568"/>
            <a:ext cx="3593592" cy="320040"/>
          </a:xfrm>
          <a:prstGeom prst="rect">
            <a:avLst/>
          </a:prstGeom>
          <a:noFill/>
          <a:ln/>
        </p:spPr>
        <p:txBody>
          <a:bodyPr wrap="square" lIns="0" tIns="0" rIns="0" bIns="0" rtlCol="0" anchor="t"/>
          <a:lstStyle/>
          <a:p>
            <a:pPr marL="0" indent="0">
              <a:buNone/>
            </a:pPr>
            <a:r>
              <a:rPr lang="en-US" sz="1300" dirty="0">
                <a:solidFill>
                  <a:srgbClr val="24204A"/>
                </a:solidFill>
                <a:latin typeface="Calibri" pitchFamily="34" charset="0"/>
                <a:ea typeface="Calibri" pitchFamily="34" charset="-122"/>
                <a:cs typeface="Calibri" pitchFamily="34" charset="-120"/>
              </a:rPr>
              <a:t>Meilensteine P1–P7 mit Präsentationsdatum</a:t>
            </a:r>
            <a:endParaRPr lang="en-US" sz="1300" dirty="0"/>
          </a:p>
        </p:txBody>
      </p:sp>
      <p:sp>
        <p:nvSpPr>
          <p:cNvPr id="70" name="Shape 67"/>
          <p:cNvSpPr/>
          <p:nvPr/>
        </p:nvSpPr>
        <p:spPr>
          <a:xfrm>
            <a:off x="8046720" y="3840480"/>
            <a:ext cx="3593592" cy="2240280"/>
          </a:xfrm>
          <a:prstGeom prst="roundRect">
            <a:avLst>
              <a:gd name="adj" fmla="val 4898"/>
            </a:avLst>
          </a:prstGeom>
          <a:solidFill>
            <a:srgbClr val="EEEAFF"/>
          </a:solidFill>
          <a:ln w="9525">
            <a:solidFill>
              <a:srgbClr val="EEEAFF"/>
            </a:solidFill>
            <a:prstDash val="solid"/>
          </a:ln>
        </p:spPr>
        <p:txBody>
          <a:bodyPr/>
          <a:lstStyle/>
          <a:p>
            <a:endParaRPr lang="de-IN"/>
          </a:p>
        </p:txBody>
      </p:sp>
      <p:sp>
        <p:nvSpPr>
          <p:cNvPr id="71" name="Text 68"/>
          <p:cNvSpPr txBox="1"/>
          <p:nvPr/>
        </p:nvSpPr>
        <p:spPr>
          <a:xfrm>
            <a:off x="8275320" y="3950208"/>
            <a:ext cx="3200400" cy="320040"/>
          </a:xfrm>
          <a:prstGeom prst="rect">
            <a:avLst/>
          </a:prstGeom>
          <a:noFill/>
          <a:ln/>
        </p:spPr>
        <p:txBody>
          <a:bodyPr wrap="square" lIns="0" tIns="0" rIns="0" bIns="0" rtlCol="0" anchor="t"/>
          <a:lstStyle/>
          <a:p>
            <a:pPr marL="0" indent="0">
              <a:buNone/>
            </a:pPr>
            <a:r>
              <a:rPr lang="en-US" sz="1400" b="1" dirty="0">
                <a:solidFill>
                  <a:srgbClr val="6C4FF0"/>
                </a:solidFill>
                <a:latin typeface="Calibri" pitchFamily="34" charset="0"/>
                <a:ea typeface="Calibri" pitchFamily="34" charset="-122"/>
                <a:cs typeface="Calibri" pitchFamily="34" charset="-120"/>
              </a:rPr>
              <a:t>In jeder Präsentation</a:t>
            </a:r>
            <a:endParaRPr lang="en-US" sz="1400" dirty="0"/>
          </a:p>
        </p:txBody>
      </p:sp>
      <p:pic>
        <p:nvPicPr>
          <p:cNvPr id="72" name="Image 0" descr="preencoded.png"/>
          <p:cNvPicPr>
            <a:picLocks noChangeAspect="1"/>
          </p:cNvPicPr>
          <p:nvPr/>
        </p:nvPicPr>
        <p:blipFill>
          <a:blip r:embed="rId3"/>
          <a:stretch>
            <a:fillRect/>
          </a:stretch>
        </p:blipFill>
        <p:spPr>
          <a:xfrm>
            <a:off x="8275320" y="4425696"/>
            <a:ext cx="256032" cy="256032"/>
          </a:xfrm>
          <a:prstGeom prst="rect">
            <a:avLst/>
          </a:prstGeom>
        </p:spPr>
      </p:pic>
      <p:sp>
        <p:nvSpPr>
          <p:cNvPr id="73" name="Text 69"/>
          <p:cNvSpPr txBox="1"/>
          <p:nvPr/>
        </p:nvSpPr>
        <p:spPr>
          <a:xfrm>
            <a:off x="8641080" y="4389120"/>
            <a:ext cx="2926080" cy="36576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Burn-up je Sprint</a:t>
            </a:r>
            <a:endParaRPr lang="en-US" sz="1350" dirty="0"/>
          </a:p>
        </p:txBody>
      </p:sp>
      <p:pic>
        <p:nvPicPr>
          <p:cNvPr id="74" name="Image 1" descr="preencoded.png"/>
          <p:cNvPicPr>
            <a:picLocks noChangeAspect="1"/>
          </p:cNvPicPr>
          <p:nvPr/>
        </p:nvPicPr>
        <p:blipFill>
          <a:blip r:embed="rId4"/>
          <a:stretch>
            <a:fillRect/>
          </a:stretch>
        </p:blipFill>
        <p:spPr>
          <a:xfrm>
            <a:off x="8275320" y="4928616"/>
            <a:ext cx="256032" cy="256032"/>
          </a:xfrm>
          <a:prstGeom prst="rect">
            <a:avLst/>
          </a:prstGeom>
        </p:spPr>
      </p:pic>
      <p:sp>
        <p:nvSpPr>
          <p:cNvPr id="75" name="Text 70"/>
          <p:cNvSpPr txBox="1"/>
          <p:nvPr/>
        </p:nvSpPr>
        <p:spPr>
          <a:xfrm>
            <a:off x="8641080" y="4892040"/>
            <a:ext cx="2926080" cy="36576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Commits je Person</a:t>
            </a:r>
            <a:endParaRPr lang="en-US" sz="1350" dirty="0"/>
          </a:p>
        </p:txBody>
      </p:sp>
      <p:pic>
        <p:nvPicPr>
          <p:cNvPr id="76" name="Image 2" descr="preencoded.png"/>
          <p:cNvPicPr>
            <a:picLocks noChangeAspect="1"/>
          </p:cNvPicPr>
          <p:nvPr/>
        </p:nvPicPr>
        <p:blipFill>
          <a:blip r:embed="rId5"/>
          <a:stretch>
            <a:fillRect/>
          </a:stretch>
        </p:blipFill>
        <p:spPr>
          <a:xfrm>
            <a:off x="8275320" y="5431536"/>
            <a:ext cx="256032" cy="256032"/>
          </a:xfrm>
          <a:prstGeom prst="rect">
            <a:avLst/>
          </a:prstGeom>
        </p:spPr>
      </p:pic>
      <p:sp>
        <p:nvSpPr>
          <p:cNvPr id="77" name="Text 71"/>
          <p:cNvSpPr txBox="1"/>
          <p:nvPr/>
        </p:nvSpPr>
        <p:spPr>
          <a:xfrm>
            <a:off x="8641080" y="5394960"/>
            <a:ext cx="2926080" cy="365760"/>
          </a:xfrm>
          <a:prstGeom prst="rect">
            <a:avLst/>
          </a:prstGeom>
          <a:noFill/>
          <a:ln/>
        </p:spPr>
        <p:txBody>
          <a:bodyPr wrap="square" lIns="0" tIns="0" rIns="0" bIns="0" rtlCol="0" anchor="t"/>
          <a:lstStyle/>
          <a:p>
            <a:pPr marL="0" indent="0">
              <a:buNone/>
            </a:pPr>
            <a:r>
              <a:rPr lang="en-US" sz="1350" dirty="0">
                <a:solidFill>
                  <a:srgbClr val="24204A"/>
                </a:solidFill>
                <a:latin typeface="Calibri" pitchFamily="34" charset="0"/>
                <a:ea typeface="Calibri" pitchFamily="34" charset="-122"/>
                <a:cs typeface="Calibri" pitchFamily="34" charset="-120"/>
              </a:rPr>
              <a:t>Aufwand je Person und Aktivität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5 · PROJEKTSTAND</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Sprint 0: geplant vs. erreicht</a:t>
            </a:r>
            <a:endParaRPr lang="en-US" sz="3000" dirty="0"/>
          </a:p>
        </p:txBody>
      </p:sp>
      <p:sp>
        <p:nvSpPr>
          <p:cNvPr id="4" name="Shape 2"/>
          <p:cNvSpPr/>
          <p:nvPr/>
        </p:nvSpPr>
        <p:spPr>
          <a:xfrm>
            <a:off x="10287000" y="502920"/>
            <a:ext cx="1371600" cy="384048"/>
          </a:xfrm>
          <a:prstGeom prst="roundRect">
            <a:avLst>
              <a:gd name="adj" fmla="val 50000"/>
            </a:avLst>
          </a:prstGeom>
          <a:solidFill>
            <a:srgbClr val="0E8F82"/>
          </a:solidFill>
          <a:ln w="12700">
            <a:solidFill>
              <a:srgbClr val="0E8F82"/>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Bennet</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18</a:t>
            </a:r>
            <a:endParaRPr lang="en-US" sz="900" dirty="0"/>
          </a:p>
        </p:txBody>
      </p:sp>
      <p:sp>
        <p:nvSpPr>
          <p:cNvPr id="9" name="Shape 6"/>
          <p:cNvSpPr/>
          <p:nvPr/>
        </p:nvSpPr>
        <p:spPr>
          <a:xfrm>
            <a:off x="548640" y="1554480"/>
            <a:ext cx="3514039" cy="4526280"/>
          </a:xfrm>
          <a:prstGeom prst="roundRect">
            <a:avLst>
              <a:gd name="adj" fmla="val 3123"/>
            </a:avLst>
          </a:prstGeom>
          <a:solidFill>
            <a:srgbClr val="DDF3F0"/>
          </a:solidFill>
          <a:ln w="9525">
            <a:solidFill>
              <a:srgbClr val="DDF3F0"/>
            </a:solidFill>
            <a:prstDash val="solid"/>
          </a:ln>
        </p:spPr>
        <p:txBody>
          <a:bodyPr/>
          <a:lstStyle/>
          <a:p>
            <a:endParaRPr lang="de-IN"/>
          </a:p>
        </p:txBody>
      </p:sp>
      <p:sp>
        <p:nvSpPr>
          <p:cNvPr id="10" name="Shape 7"/>
          <p:cNvSpPr/>
          <p:nvPr/>
        </p:nvSpPr>
        <p:spPr>
          <a:xfrm>
            <a:off x="822960" y="1810512"/>
            <a:ext cx="566928" cy="566928"/>
          </a:xfrm>
          <a:prstGeom prst="ellipse">
            <a:avLst/>
          </a:prstGeom>
          <a:solidFill>
            <a:srgbClr val="0E8F82"/>
          </a:solidFill>
          <a:ln w="12700">
            <a:solidFill>
              <a:srgbClr val="0E8F82"/>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970361" y="1957913"/>
            <a:ext cx="272125" cy="272125"/>
          </a:xfrm>
          <a:prstGeom prst="rect">
            <a:avLst/>
          </a:prstGeom>
        </p:spPr>
      </p:pic>
      <p:sp>
        <p:nvSpPr>
          <p:cNvPr id="12" name="Text 8"/>
          <p:cNvSpPr txBox="1"/>
          <p:nvPr/>
        </p:nvSpPr>
        <p:spPr>
          <a:xfrm>
            <a:off x="1554480" y="1810512"/>
            <a:ext cx="2325319" cy="566928"/>
          </a:xfrm>
          <a:prstGeom prst="rect">
            <a:avLst/>
          </a:prstGeom>
          <a:noFill/>
          <a:ln/>
        </p:spPr>
        <p:txBody>
          <a:bodyPr wrap="square" lIns="0" tIns="0" rIns="0" bIns="0" rtlCol="0" anchor="ctr"/>
          <a:lstStyle/>
          <a:p>
            <a:pPr marL="0" indent="0">
              <a:buNone/>
            </a:pPr>
            <a:r>
              <a:rPr lang="en-US" sz="1800" b="1" dirty="0">
                <a:solidFill>
                  <a:srgbClr val="1F1A4E"/>
                </a:solidFill>
                <a:latin typeface="Calibri" pitchFamily="34" charset="0"/>
                <a:ea typeface="Calibri" pitchFamily="34" charset="-122"/>
                <a:cs typeface="Calibri" pitchFamily="34" charset="-120"/>
              </a:rPr>
              <a:t>Erreicht</a:t>
            </a:r>
            <a:endParaRPr lang="en-US" sz="1800" dirty="0"/>
          </a:p>
        </p:txBody>
      </p:sp>
      <p:sp>
        <p:nvSpPr>
          <p:cNvPr id="13" name="Text 9"/>
          <p:cNvSpPr txBox="1"/>
          <p:nvPr/>
        </p:nvSpPr>
        <p:spPr>
          <a:xfrm>
            <a:off x="822960" y="2578608"/>
            <a:ext cx="3056839" cy="3337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Produktidee, Zielgruppe, Wertversprechen und MVP-Umfang</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Hypothesen H1–H7 mit Erfolgskriterien</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Rollenverteilung und Entscheidungsregeln</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Lebenszyklusmodell, Praktiken und Sprintplan</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Tech-Stack und Werkzeuge</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Plan zur Kundenansprache und Kontaktliste</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Umfrage für Mitarbeitende (aus Sprint 1 vorgezogen)</a:t>
            </a:r>
            <a:endParaRPr lang="en-US" sz="1300" dirty="0"/>
          </a:p>
        </p:txBody>
      </p:sp>
      <p:sp>
        <p:nvSpPr>
          <p:cNvPr id="14" name="Shape 10"/>
          <p:cNvSpPr/>
          <p:nvPr/>
        </p:nvSpPr>
        <p:spPr>
          <a:xfrm>
            <a:off x="4336999" y="1554480"/>
            <a:ext cx="3514039" cy="4526280"/>
          </a:xfrm>
          <a:prstGeom prst="roundRect">
            <a:avLst>
              <a:gd name="adj" fmla="val 3123"/>
            </a:avLst>
          </a:prstGeom>
          <a:solidFill>
            <a:srgbClr val="FDF1D8"/>
          </a:solidFill>
          <a:ln w="9525">
            <a:solidFill>
              <a:srgbClr val="FDF1D8"/>
            </a:solidFill>
            <a:prstDash val="solid"/>
          </a:ln>
        </p:spPr>
        <p:txBody>
          <a:bodyPr/>
          <a:lstStyle/>
          <a:p>
            <a:endParaRPr lang="de-IN"/>
          </a:p>
        </p:txBody>
      </p:sp>
      <p:sp>
        <p:nvSpPr>
          <p:cNvPr id="15" name="Shape 11"/>
          <p:cNvSpPr/>
          <p:nvPr/>
        </p:nvSpPr>
        <p:spPr>
          <a:xfrm>
            <a:off x="4611319" y="1810512"/>
            <a:ext cx="566928" cy="566928"/>
          </a:xfrm>
          <a:prstGeom prst="ellipse">
            <a:avLst/>
          </a:prstGeom>
          <a:solidFill>
            <a:srgbClr val="E89A0C"/>
          </a:solidFill>
          <a:ln w="12700">
            <a:solidFill>
              <a:srgbClr val="E89A0C"/>
            </a:solidFill>
            <a:prstDash val="solid"/>
          </a:ln>
        </p:spPr>
        <p:txBody>
          <a:bodyPr/>
          <a:lstStyle/>
          <a:p>
            <a:endParaRPr lang="de-IN"/>
          </a:p>
        </p:txBody>
      </p:sp>
      <p:pic>
        <p:nvPicPr>
          <p:cNvPr id="16" name="Image 1" descr="preencoded.png"/>
          <p:cNvPicPr>
            <a:picLocks noChangeAspect="1"/>
          </p:cNvPicPr>
          <p:nvPr/>
        </p:nvPicPr>
        <p:blipFill>
          <a:blip r:embed="rId4"/>
          <a:stretch>
            <a:fillRect/>
          </a:stretch>
        </p:blipFill>
        <p:spPr>
          <a:xfrm>
            <a:off x="4758720" y="1957913"/>
            <a:ext cx="272125" cy="272125"/>
          </a:xfrm>
          <a:prstGeom prst="rect">
            <a:avLst/>
          </a:prstGeom>
        </p:spPr>
      </p:pic>
      <p:sp>
        <p:nvSpPr>
          <p:cNvPr id="17" name="Text 12"/>
          <p:cNvSpPr txBox="1"/>
          <p:nvPr/>
        </p:nvSpPr>
        <p:spPr>
          <a:xfrm>
            <a:off x="5342839" y="1810512"/>
            <a:ext cx="2325319" cy="566928"/>
          </a:xfrm>
          <a:prstGeom prst="rect">
            <a:avLst/>
          </a:prstGeom>
          <a:noFill/>
          <a:ln/>
        </p:spPr>
        <p:txBody>
          <a:bodyPr wrap="square" lIns="0" tIns="0" rIns="0" bIns="0" rtlCol="0" anchor="ctr"/>
          <a:lstStyle/>
          <a:p>
            <a:pPr marL="0" indent="0">
              <a:buNone/>
            </a:pPr>
            <a:r>
              <a:rPr lang="en-US" sz="1800" b="1" dirty="0">
                <a:solidFill>
                  <a:srgbClr val="1F1A4E"/>
                </a:solidFill>
                <a:latin typeface="Calibri" pitchFamily="34" charset="0"/>
                <a:ea typeface="Calibri" pitchFamily="34" charset="-122"/>
                <a:cs typeface="Calibri" pitchFamily="34" charset="-120"/>
              </a:rPr>
              <a:t>In Arbeit</a:t>
            </a:r>
            <a:endParaRPr lang="en-US" sz="1800" dirty="0"/>
          </a:p>
        </p:txBody>
      </p:sp>
      <p:sp>
        <p:nvSpPr>
          <p:cNvPr id="18" name="Text 13"/>
          <p:cNvSpPr txBox="1"/>
          <p:nvPr/>
        </p:nvSpPr>
        <p:spPr>
          <a:xfrm>
            <a:off x="4611319" y="2578608"/>
            <a:ext cx="3056839" cy="3337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Repository und Board mit allen Tickets</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Django-Grundgerüst und Coding-Guidelines</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CI, Definition of Done, Pull-Request-Vorlage</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Entscheidungslog (ADR-001, ADR-002)</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Dokument zur Rollenverteilung</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Django-Tutorial für alle</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Erste Anfragen an Gesprächspartner:innen</a:t>
            </a:r>
            <a:endParaRPr lang="en-US" sz="1300" dirty="0"/>
          </a:p>
        </p:txBody>
      </p:sp>
      <p:sp>
        <p:nvSpPr>
          <p:cNvPr id="19" name="Shape 14"/>
          <p:cNvSpPr/>
          <p:nvPr/>
        </p:nvSpPr>
        <p:spPr>
          <a:xfrm>
            <a:off x="8125358" y="1554480"/>
            <a:ext cx="3514039" cy="4526280"/>
          </a:xfrm>
          <a:prstGeom prst="roundRect">
            <a:avLst>
              <a:gd name="adj" fmla="val 3123"/>
            </a:avLst>
          </a:prstGeom>
          <a:solidFill>
            <a:srgbClr val="EEEAFF"/>
          </a:solidFill>
          <a:ln w="9525">
            <a:solidFill>
              <a:srgbClr val="EEEAFF"/>
            </a:solidFill>
            <a:prstDash val="solid"/>
          </a:ln>
        </p:spPr>
        <p:txBody>
          <a:bodyPr/>
          <a:lstStyle/>
          <a:p>
            <a:endParaRPr lang="de-IN"/>
          </a:p>
        </p:txBody>
      </p:sp>
      <p:sp>
        <p:nvSpPr>
          <p:cNvPr id="20" name="Shape 15"/>
          <p:cNvSpPr/>
          <p:nvPr/>
        </p:nvSpPr>
        <p:spPr>
          <a:xfrm>
            <a:off x="8399678" y="1810512"/>
            <a:ext cx="566928" cy="566928"/>
          </a:xfrm>
          <a:prstGeom prst="ellipse">
            <a:avLst/>
          </a:prstGeom>
          <a:solidFill>
            <a:srgbClr val="6C4FF0"/>
          </a:solidFill>
          <a:ln w="12700">
            <a:solidFill>
              <a:srgbClr val="6C4FF0"/>
            </a:solidFill>
            <a:prstDash val="solid"/>
          </a:ln>
        </p:spPr>
        <p:txBody>
          <a:bodyPr/>
          <a:lstStyle/>
          <a:p>
            <a:endParaRPr lang="de-IN"/>
          </a:p>
        </p:txBody>
      </p:sp>
      <p:pic>
        <p:nvPicPr>
          <p:cNvPr id="21" name="Image 2" descr="preencoded.png"/>
          <p:cNvPicPr>
            <a:picLocks noChangeAspect="1"/>
          </p:cNvPicPr>
          <p:nvPr/>
        </p:nvPicPr>
        <p:blipFill>
          <a:blip r:embed="rId5"/>
          <a:stretch>
            <a:fillRect/>
          </a:stretch>
        </p:blipFill>
        <p:spPr>
          <a:xfrm>
            <a:off x="8547080" y="1957913"/>
            <a:ext cx="272125" cy="272125"/>
          </a:xfrm>
          <a:prstGeom prst="rect">
            <a:avLst/>
          </a:prstGeom>
        </p:spPr>
      </p:pic>
      <p:sp>
        <p:nvSpPr>
          <p:cNvPr id="22" name="Text 16"/>
          <p:cNvSpPr txBox="1"/>
          <p:nvPr/>
        </p:nvSpPr>
        <p:spPr>
          <a:xfrm>
            <a:off x="9131198" y="1810512"/>
            <a:ext cx="2325319" cy="566928"/>
          </a:xfrm>
          <a:prstGeom prst="rect">
            <a:avLst/>
          </a:prstGeom>
          <a:noFill/>
          <a:ln/>
        </p:spPr>
        <p:txBody>
          <a:bodyPr wrap="square" lIns="0" tIns="0" rIns="0" bIns="0" rtlCol="0" anchor="ctr"/>
          <a:lstStyle/>
          <a:p>
            <a:pPr marL="0" indent="0">
              <a:buNone/>
            </a:pPr>
            <a:r>
              <a:rPr lang="en-US" sz="1800" b="1" dirty="0">
                <a:solidFill>
                  <a:srgbClr val="1F1A4E"/>
                </a:solidFill>
                <a:latin typeface="Calibri" pitchFamily="34" charset="0"/>
                <a:ea typeface="Calibri" pitchFamily="34" charset="-122"/>
                <a:cs typeface="Calibri" pitchFamily="34" charset="-120"/>
              </a:rPr>
              <a:t>Sprint 1 bis 14.10.</a:t>
            </a:r>
            <a:endParaRPr lang="en-US" sz="1800" dirty="0"/>
          </a:p>
        </p:txBody>
      </p:sp>
      <p:sp>
        <p:nvSpPr>
          <p:cNvPr id="23" name="Text 17"/>
          <p:cNvSpPr txBox="1"/>
          <p:nvPr/>
        </p:nvSpPr>
        <p:spPr>
          <a:xfrm>
            <a:off x="8399678" y="2578608"/>
            <a:ext cx="3056839" cy="3337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Interviewleitfaden bis 07.10.</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 5 Interviews und ≥ 10 Umfrageantworten</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1–2 Gespräche mit Expert:innen</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Hypothesen auswerten</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Mehr als 12 detaillierte, testbare Anforderungen mit Begründung und Quelle</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Skizze der Systemstruktur</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Inspektions-Guideline für Anforderungen</a:t>
            </a:r>
            <a:endParaRPr lang="en-US" sz="1300" dirty="0"/>
          </a:p>
          <a:p>
            <a:pPr marL="177800" indent="-177800">
              <a:spcAft>
                <a:spcPts val="500"/>
              </a:spcAft>
              <a:buSzPct val="100000"/>
              <a:buChar char="•"/>
            </a:pPr>
            <a:r>
              <a:rPr lang="en-US" sz="1300" dirty="0">
                <a:solidFill>
                  <a:srgbClr val="24204A"/>
                </a:solidFill>
                <a:latin typeface="Calibri" pitchFamily="34" charset="0"/>
                <a:ea typeface="Calibri" pitchFamily="34" charset="-122"/>
                <a:cs typeface="Calibri" pitchFamily="34" charset="-120"/>
              </a:rPr>
              <a:t>Start des OR-Tools-Spikes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6 · QUALITÄTSSICHERUNG</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Qualität von Anfang an</a:t>
            </a:r>
            <a:endParaRPr lang="en-US" sz="3000" dirty="0"/>
          </a:p>
        </p:txBody>
      </p:sp>
      <p:sp>
        <p:nvSpPr>
          <p:cNvPr id="4" name="Shape 2"/>
          <p:cNvSpPr/>
          <p:nvPr/>
        </p:nvSpPr>
        <p:spPr>
          <a:xfrm>
            <a:off x="10287000" y="502920"/>
            <a:ext cx="1371600" cy="384048"/>
          </a:xfrm>
          <a:prstGeom prst="roundRect">
            <a:avLst>
              <a:gd name="adj" fmla="val 50000"/>
            </a:avLst>
          </a:prstGeom>
          <a:solidFill>
            <a:srgbClr val="E89A0C"/>
          </a:solidFill>
          <a:ln w="12700">
            <a:solidFill>
              <a:srgbClr val="E89A0C"/>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1F1A4E"/>
                </a:solidFill>
                <a:latin typeface="Calibri" pitchFamily="34" charset="0"/>
                <a:ea typeface="Calibri" pitchFamily="34" charset="-122"/>
                <a:cs typeface="Calibri" pitchFamily="34" charset="-120"/>
              </a:rPr>
              <a:t>Anil</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19</a:t>
            </a:r>
            <a:endParaRPr lang="en-US" sz="900" dirty="0"/>
          </a:p>
        </p:txBody>
      </p:sp>
      <p:sp>
        <p:nvSpPr>
          <p:cNvPr id="9" name="Shape 6"/>
          <p:cNvSpPr/>
          <p:nvPr/>
        </p:nvSpPr>
        <p:spPr>
          <a:xfrm>
            <a:off x="548640" y="1600200"/>
            <a:ext cx="1572768" cy="1325880"/>
          </a:xfrm>
          <a:prstGeom prst="roundRect">
            <a:avLst>
              <a:gd name="adj" fmla="val 827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0" name="Shape 7"/>
          <p:cNvSpPr/>
          <p:nvPr/>
        </p:nvSpPr>
        <p:spPr>
          <a:xfrm>
            <a:off x="1060704" y="1764792"/>
            <a:ext cx="548640" cy="548640"/>
          </a:xfrm>
          <a:prstGeom prst="ellipse">
            <a:avLst/>
          </a:prstGeom>
          <a:solidFill>
            <a:srgbClr val="E8524F"/>
          </a:solidFill>
          <a:ln w="12700">
            <a:solidFill>
              <a:srgbClr val="E8524F"/>
            </a:solidFill>
            <a:prstDash val="solid"/>
          </a:ln>
        </p:spPr>
        <p:txBody>
          <a:bodyPr/>
          <a:lstStyle/>
          <a:p>
            <a:endParaRPr lang="de-IN"/>
          </a:p>
        </p:txBody>
      </p:sp>
      <p:pic>
        <p:nvPicPr>
          <p:cNvPr id="11" name="Image 0" descr="preencoded.png"/>
          <p:cNvPicPr>
            <a:picLocks noChangeAspect="1"/>
          </p:cNvPicPr>
          <p:nvPr/>
        </p:nvPicPr>
        <p:blipFill>
          <a:blip r:embed="rId3"/>
          <a:stretch>
            <a:fillRect/>
          </a:stretch>
        </p:blipFill>
        <p:spPr>
          <a:xfrm>
            <a:off x="1203350" y="1907438"/>
            <a:ext cx="263347" cy="263347"/>
          </a:xfrm>
          <a:prstGeom prst="rect">
            <a:avLst/>
          </a:prstGeom>
        </p:spPr>
      </p:pic>
      <p:sp>
        <p:nvSpPr>
          <p:cNvPr id="12" name="Text 8"/>
          <p:cNvSpPr txBox="1"/>
          <p:nvPr/>
        </p:nvSpPr>
        <p:spPr>
          <a:xfrm>
            <a:off x="548640" y="2423160"/>
            <a:ext cx="1572768" cy="365760"/>
          </a:xfrm>
          <a:prstGeom prst="rect">
            <a:avLst/>
          </a:prstGeom>
          <a:noFill/>
          <a:ln/>
        </p:spPr>
        <p:txBody>
          <a:bodyPr wrap="square" lIns="0" tIns="0" rIns="0" bIns="0" rtlCol="0" anchor="t"/>
          <a:lstStyle/>
          <a:p>
            <a:pPr marL="0" indent="0" algn="ctr">
              <a:buNone/>
            </a:pPr>
            <a:r>
              <a:rPr lang="en-US" sz="1400" b="1" dirty="0">
                <a:solidFill>
                  <a:srgbClr val="1F1A4E"/>
                </a:solidFill>
                <a:latin typeface="Calibri" pitchFamily="34" charset="0"/>
                <a:ea typeface="Calibri" pitchFamily="34" charset="-122"/>
                <a:cs typeface="Calibri" pitchFamily="34" charset="-120"/>
              </a:rPr>
              <a:t>Ticket</a:t>
            </a:r>
            <a:endParaRPr lang="en-US" sz="1400" dirty="0"/>
          </a:p>
        </p:txBody>
      </p:sp>
      <p:pic>
        <p:nvPicPr>
          <p:cNvPr id="13" name="Image 1" descr="preencoded.png"/>
          <p:cNvPicPr>
            <a:picLocks noChangeAspect="1"/>
          </p:cNvPicPr>
          <p:nvPr/>
        </p:nvPicPr>
        <p:blipFill>
          <a:blip r:embed="rId4"/>
          <a:stretch>
            <a:fillRect/>
          </a:stretch>
        </p:blipFill>
        <p:spPr>
          <a:xfrm>
            <a:off x="2212848" y="2103120"/>
            <a:ext cx="155448" cy="274320"/>
          </a:xfrm>
          <a:prstGeom prst="rect">
            <a:avLst/>
          </a:prstGeom>
        </p:spPr>
      </p:pic>
      <p:sp>
        <p:nvSpPr>
          <p:cNvPr id="14" name="Shape 9"/>
          <p:cNvSpPr/>
          <p:nvPr/>
        </p:nvSpPr>
        <p:spPr>
          <a:xfrm>
            <a:off x="2450592" y="1600200"/>
            <a:ext cx="1572768" cy="1325880"/>
          </a:xfrm>
          <a:prstGeom prst="roundRect">
            <a:avLst>
              <a:gd name="adj" fmla="val 827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15" name="Shape 10"/>
          <p:cNvSpPr/>
          <p:nvPr/>
        </p:nvSpPr>
        <p:spPr>
          <a:xfrm>
            <a:off x="2962656" y="1764792"/>
            <a:ext cx="548640" cy="548640"/>
          </a:xfrm>
          <a:prstGeom prst="ellipse">
            <a:avLst/>
          </a:prstGeom>
          <a:solidFill>
            <a:srgbClr val="6C4FF0"/>
          </a:solidFill>
          <a:ln w="12700">
            <a:solidFill>
              <a:srgbClr val="6C4FF0"/>
            </a:solidFill>
            <a:prstDash val="solid"/>
          </a:ln>
        </p:spPr>
        <p:txBody>
          <a:bodyPr/>
          <a:lstStyle/>
          <a:p>
            <a:endParaRPr lang="de-IN"/>
          </a:p>
        </p:txBody>
      </p:sp>
      <p:pic>
        <p:nvPicPr>
          <p:cNvPr id="16" name="Image 2" descr="preencoded.png"/>
          <p:cNvPicPr>
            <a:picLocks noChangeAspect="1"/>
          </p:cNvPicPr>
          <p:nvPr/>
        </p:nvPicPr>
        <p:blipFill>
          <a:blip r:embed="rId5"/>
          <a:stretch>
            <a:fillRect/>
          </a:stretch>
        </p:blipFill>
        <p:spPr>
          <a:xfrm>
            <a:off x="3105302" y="1907438"/>
            <a:ext cx="263347" cy="263347"/>
          </a:xfrm>
          <a:prstGeom prst="rect">
            <a:avLst/>
          </a:prstGeom>
        </p:spPr>
      </p:pic>
      <p:sp>
        <p:nvSpPr>
          <p:cNvPr id="17" name="Text 11"/>
          <p:cNvSpPr txBox="1"/>
          <p:nvPr/>
        </p:nvSpPr>
        <p:spPr>
          <a:xfrm>
            <a:off x="2450592" y="2423160"/>
            <a:ext cx="1572768" cy="365760"/>
          </a:xfrm>
          <a:prstGeom prst="rect">
            <a:avLst/>
          </a:prstGeom>
          <a:noFill/>
          <a:ln/>
        </p:spPr>
        <p:txBody>
          <a:bodyPr wrap="square" lIns="0" tIns="0" rIns="0" bIns="0" rtlCol="0" anchor="t"/>
          <a:lstStyle/>
          <a:p>
            <a:pPr marL="0" indent="0" algn="ctr">
              <a:buNone/>
            </a:pPr>
            <a:r>
              <a:rPr lang="en-US" sz="1400" b="1" dirty="0">
                <a:solidFill>
                  <a:srgbClr val="1F1A4E"/>
                </a:solidFill>
                <a:latin typeface="Calibri" pitchFamily="34" charset="0"/>
                <a:ea typeface="Calibri" pitchFamily="34" charset="-122"/>
                <a:cs typeface="Calibri" pitchFamily="34" charset="-120"/>
              </a:rPr>
              <a:t>Branch</a:t>
            </a:r>
            <a:endParaRPr lang="en-US" sz="1400" dirty="0"/>
          </a:p>
        </p:txBody>
      </p:sp>
      <p:pic>
        <p:nvPicPr>
          <p:cNvPr id="18" name="Image 3" descr="preencoded.png"/>
          <p:cNvPicPr>
            <a:picLocks noChangeAspect="1"/>
          </p:cNvPicPr>
          <p:nvPr/>
        </p:nvPicPr>
        <p:blipFill>
          <a:blip r:embed="rId4"/>
          <a:stretch>
            <a:fillRect/>
          </a:stretch>
        </p:blipFill>
        <p:spPr>
          <a:xfrm>
            <a:off x="4114800" y="2103120"/>
            <a:ext cx="155448" cy="274320"/>
          </a:xfrm>
          <a:prstGeom prst="rect">
            <a:avLst/>
          </a:prstGeom>
        </p:spPr>
      </p:pic>
      <p:sp>
        <p:nvSpPr>
          <p:cNvPr id="19" name="Shape 12"/>
          <p:cNvSpPr/>
          <p:nvPr/>
        </p:nvSpPr>
        <p:spPr>
          <a:xfrm>
            <a:off x="4352544" y="1600200"/>
            <a:ext cx="1572768" cy="1325880"/>
          </a:xfrm>
          <a:prstGeom prst="roundRect">
            <a:avLst>
              <a:gd name="adj" fmla="val 827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0" name="Shape 13"/>
          <p:cNvSpPr/>
          <p:nvPr/>
        </p:nvSpPr>
        <p:spPr>
          <a:xfrm>
            <a:off x="4864608" y="1764792"/>
            <a:ext cx="548640" cy="548640"/>
          </a:xfrm>
          <a:prstGeom prst="ellipse">
            <a:avLst/>
          </a:prstGeom>
          <a:solidFill>
            <a:srgbClr val="0E8F82"/>
          </a:solidFill>
          <a:ln w="12700">
            <a:solidFill>
              <a:srgbClr val="0E8F82"/>
            </a:solidFill>
            <a:prstDash val="solid"/>
          </a:ln>
        </p:spPr>
        <p:txBody>
          <a:bodyPr/>
          <a:lstStyle/>
          <a:p>
            <a:endParaRPr lang="de-IN"/>
          </a:p>
        </p:txBody>
      </p:sp>
      <p:pic>
        <p:nvPicPr>
          <p:cNvPr id="21" name="Image 4" descr="preencoded.png"/>
          <p:cNvPicPr>
            <a:picLocks noChangeAspect="1"/>
          </p:cNvPicPr>
          <p:nvPr/>
        </p:nvPicPr>
        <p:blipFill>
          <a:blip r:embed="rId6"/>
          <a:stretch>
            <a:fillRect/>
          </a:stretch>
        </p:blipFill>
        <p:spPr>
          <a:xfrm>
            <a:off x="5007254" y="1907438"/>
            <a:ext cx="263347" cy="263347"/>
          </a:xfrm>
          <a:prstGeom prst="rect">
            <a:avLst/>
          </a:prstGeom>
        </p:spPr>
      </p:pic>
      <p:sp>
        <p:nvSpPr>
          <p:cNvPr id="22" name="Text 14"/>
          <p:cNvSpPr txBox="1"/>
          <p:nvPr/>
        </p:nvSpPr>
        <p:spPr>
          <a:xfrm>
            <a:off x="4352544" y="2423160"/>
            <a:ext cx="1572768" cy="365760"/>
          </a:xfrm>
          <a:prstGeom prst="rect">
            <a:avLst/>
          </a:prstGeom>
          <a:noFill/>
          <a:ln/>
        </p:spPr>
        <p:txBody>
          <a:bodyPr wrap="square" lIns="0" tIns="0" rIns="0" bIns="0" rtlCol="0" anchor="t"/>
          <a:lstStyle/>
          <a:p>
            <a:pPr marL="0" indent="0" algn="ctr">
              <a:buNone/>
            </a:pPr>
            <a:r>
              <a:rPr lang="en-US" sz="1400" b="1" dirty="0">
                <a:solidFill>
                  <a:srgbClr val="1F1A4E"/>
                </a:solidFill>
                <a:latin typeface="Calibri" pitchFamily="34" charset="0"/>
                <a:ea typeface="Calibri" pitchFamily="34" charset="-122"/>
                <a:cs typeface="Calibri" pitchFamily="34" charset="-120"/>
              </a:rPr>
              <a:t>Pull Request</a:t>
            </a:r>
            <a:endParaRPr lang="en-US" sz="1400" dirty="0"/>
          </a:p>
        </p:txBody>
      </p:sp>
      <p:pic>
        <p:nvPicPr>
          <p:cNvPr id="23" name="Image 5" descr="preencoded.png"/>
          <p:cNvPicPr>
            <a:picLocks noChangeAspect="1"/>
          </p:cNvPicPr>
          <p:nvPr/>
        </p:nvPicPr>
        <p:blipFill>
          <a:blip r:embed="rId4"/>
          <a:stretch>
            <a:fillRect/>
          </a:stretch>
        </p:blipFill>
        <p:spPr>
          <a:xfrm>
            <a:off x="6016752" y="2103120"/>
            <a:ext cx="155448" cy="274320"/>
          </a:xfrm>
          <a:prstGeom prst="rect">
            <a:avLst/>
          </a:prstGeom>
        </p:spPr>
      </p:pic>
      <p:sp>
        <p:nvSpPr>
          <p:cNvPr id="24" name="Shape 15"/>
          <p:cNvSpPr/>
          <p:nvPr/>
        </p:nvSpPr>
        <p:spPr>
          <a:xfrm>
            <a:off x="6254496" y="1600200"/>
            <a:ext cx="1572768" cy="1325880"/>
          </a:xfrm>
          <a:prstGeom prst="roundRect">
            <a:avLst>
              <a:gd name="adj" fmla="val 827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25" name="Shape 16"/>
          <p:cNvSpPr/>
          <p:nvPr/>
        </p:nvSpPr>
        <p:spPr>
          <a:xfrm>
            <a:off x="6766560" y="1764792"/>
            <a:ext cx="548640" cy="548640"/>
          </a:xfrm>
          <a:prstGeom prst="ellipse">
            <a:avLst/>
          </a:prstGeom>
          <a:solidFill>
            <a:srgbClr val="E89A0C"/>
          </a:solidFill>
          <a:ln w="12700">
            <a:solidFill>
              <a:srgbClr val="E89A0C"/>
            </a:solidFill>
            <a:prstDash val="solid"/>
          </a:ln>
        </p:spPr>
        <p:txBody>
          <a:bodyPr/>
          <a:lstStyle/>
          <a:p>
            <a:endParaRPr lang="de-IN"/>
          </a:p>
        </p:txBody>
      </p:sp>
      <p:pic>
        <p:nvPicPr>
          <p:cNvPr id="26" name="Image 6" descr="preencoded.png"/>
          <p:cNvPicPr>
            <a:picLocks noChangeAspect="1"/>
          </p:cNvPicPr>
          <p:nvPr/>
        </p:nvPicPr>
        <p:blipFill>
          <a:blip r:embed="rId7"/>
          <a:stretch>
            <a:fillRect/>
          </a:stretch>
        </p:blipFill>
        <p:spPr>
          <a:xfrm>
            <a:off x="6909206" y="1907438"/>
            <a:ext cx="263347" cy="263347"/>
          </a:xfrm>
          <a:prstGeom prst="rect">
            <a:avLst/>
          </a:prstGeom>
        </p:spPr>
      </p:pic>
      <p:sp>
        <p:nvSpPr>
          <p:cNvPr id="27" name="Text 17"/>
          <p:cNvSpPr txBox="1"/>
          <p:nvPr/>
        </p:nvSpPr>
        <p:spPr>
          <a:xfrm>
            <a:off x="6254496" y="2423160"/>
            <a:ext cx="1572768" cy="365760"/>
          </a:xfrm>
          <a:prstGeom prst="rect">
            <a:avLst/>
          </a:prstGeom>
          <a:noFill/>
          <a:ln/>
        </p:spPr>
        <p:txBody>
          <a:bodyPr wrap="square" lIns="0" tIns="0" rIns="0" bIns="0" rtlCol="0" anchor="t"/>
          <a:lstStyle/>
          <a:p>
            <a:pPr marL="0" indent="0" algn="ctr">
              <a:buNone/>
            </a:pPr>
            <a:r>
              <a:rPr lang="en-US" sz="1400" b="1" dirty="0">
                <a:solidFill>
                  <a:srgbClr val="1F1A4E"/>
                </a:solidFill>
                <a:latin typeface="Calibri" pitchFamily="34" charset="0"/>
                <a:ea typeface="Calibri" pitchFamily="34" charset="-122"/>
                <a:cs typeface="Calibri" pitchFamily="34" charset="-120"/>
              </a:rPr>
              <a:t>Review</a:t>
            </a:r>
            <a:endParaRPr lang="en-US" sz="1400" dirty="0"/>
          </a:p>
        </p:txBody>
      </p:sp>
      <p:pic>
        <p:nvPicPr>
          <p:cNvPr id="28" name="Image 7" descr="preencoded.png"/>
          <p:cNvPicPr>
            <a:picLocks noChangeAspect="1"/>
          </p:cNvPicPr>
          <p:nvPr/>
        </p:nvPicPr>
        <p:blipFill>
          <a:blip r:embed="rId4"/>
          <a:stretch>
            <a:fillRect/>
          </a:stretch>
        </p:blipFill>
        <p:spPr>
          <a:xfrm>
            <a:off x="7918704" y="2103120"/>
            <a:ext cx="155448" cy="274320"/>
          </a:xfrm>
          <a:prstGeom prst="rect">
            <a:avLst/>
          </a:prstGeom>
        </p:spPr>
      </p:pic>
      <p:sp>
        <p:nvSpPr>
          <p:cNvPr id="29" name="Shape 18"/>
          <p:cNvSpPr/>
          <p:nvPr/>
        </p:nvSpPr>
        <p:spPr>
          <a:xfrm>
            <a:off x="8156448" y="1600200"/>
            <a:ext cx="1572768" cy="1325880"/>
          </a:xfrm>
          <a:prstGeom prst="roundRect">
            <a:avLst>
              <a:gd name="adj" fmla="val 827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30" name="Shape 19"/>
          <p:cNvSpPr/>
          <p:nvPr/>
        </p:nvSpPr>
        <p:spPr>
          <a:xfrm>
            <a:off x="8668512" y="1764792"/>
            <a:ext cx="548640" cy="548640"/>
          </a:xfrm>
          <a:prstGeom prst="ellipse">
            <a:avLst/>
          </a:prstGeom>
          <a:solidFill>
            <a:srgbClr val="0E8F82"/>
          </a:solidFill>
          <a:ln w="12700">
            <a:solidFill>
              <a:srgbClr val="0E8F82"/>
            </a:solidFill>
            <a:prstDash val="solid"/>
          </a:ln>
        </p:spPr>
        <p:txBody>
          <a:bodyPr/>
          <a:lstStyle/>
          <a:p>
            <a:endParaRPr lang="de-IN"/>
          </a:p>
        </p:txBody>
      </p:sp>
      <p:pic>
        <p:nvPicPr>
          <p:cNvPr id="31" name="Image 8" descr="preencoded.png"/>
          <p:cNvPicPr>
            <a:picLocks noChangeAspect="1"/>
          </p:cNvPicPr>
          <p:nvPr/>
        </p:nvPicPr>
        <p:blipFill>
          <a:blip r:embed="rId8"/>
          <a:stretch>
            <a:fillRect/>
          </a:stretch>
        </p:blipFill>
        <p:spPr>
          <a:xfrm>
            <a:off x="8811158" y="1907438"/>
            <a:ext cx="263347" cy="263347"/>
          </a:xfrm>
          <a:prstGeom prst="rect">
            <a:avLst/>
          </a:prstGeom>
        </p:spPr>
      </p:pic>
      <p:sp>
        <p:nvSpPr>
          <p:cNvPr id="32" name="Text 20"/>
          <p:cNvSpPr txBox="1"/>
          <p:nvPr/>
        </p:nvSpPr>
        <p:spPr>
          <a:xfrm>
            <a:off x="8156448" y="2423160"/>
            <a:ext cx="1572768" cy="365760"/>
          </a:xfrm>
          <a:prstGeom prst="rect">
            <a:avLst/>
          </a:prstGeom>
          <a:noFill/>
          <a:ln/>
        </p:spPr>
        <p:txBody>
          <a:bodyPr wrap="square" lIns="0" tIns="0" rIns="0" bIns="0" rtlCol="0" anchor="t"/>
          <a:lstStyle/>
          <a:p>
            <a:pPr marL="0" indent="0" algn="ctr">
              <a:buNone/>
            </a:pPr>
            <a:r>
              <a:rPr lang="en-US" sz="1400" b="1" dirty="0">
                <a:solidFill>
                  <a:srgbClr val="1F1A4E"/>
                </a:solidFill>
                <a:latin typeface="Calibri" pitchFamily="34" charset="0"/>
                <a:ea typeface="Calibri" pitchFamily="34" charset="-122"/>
                <a:cs typeface="Calibri" pitchFamily="34" charset="-120"/>
              </a:rPr>
              <a:t>CI grün</a:t>
            </a:r>
            <a:endParaRPr lang="en-US" sz="1400" dirty="0"/>
          </a:p>
        </p:txBody>
      </p:sp>
      <p:pic>
        <p:nvPicPr>
          <p:cNvPr id="33" name="Image 9" descr="preencoded.png"/>
          <p:cNvPicPr>
            <a:picLocks noChangeAspect="1"/>
          </p:cNvPicPr>
          <p:nvPr/>
        </p:nvPicPr>
        <p:blipFill>
          <a:blip r:embed="rId4"/>
          <a:stretch>
            <a:fillRect/>
          </a:stretch>
        </p:blipFill>
        <p:spPr>
          <a:xfrm>
            <a:off x="9820656" y="2103120"/>
            <a:ext cx="155448" cy="274320"/>
          </a:xfrm>
          <a:prstGeom prst="rect">
            <a:avLst/>
          </a:prstGeom>
        </p:spPr>
      </p:pic>
      <p:sp>
        <p:nvSpPr>
          <p:cNvPr id="34" name="Shape 21"/>
          <p:cNvSpPr/>
          <p:nvPr/>
        </p:nvSpPr>
        <p:spPr>
          <a:xfrm>
            <a:off x="10058400" y="1600200"/>
            <a:ext cx="1572768" cy="1325880"/>
          </a:xfrm>
          <a:prstGeom prst="roundRect">
            <a:avLst>
              <a:gd name="adj" fmla="val 8276"/>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35" name="Shape 22"/>
          <p:cNvSpPr/>
          <p:nvPr/>
        </p:nvSpPr>
        <p:spPr>
          <a:xfrm>
            <a:off x="10570464" y="1764792"/>
            <a:ext cx="548640" cy="548640"/>
          </a:xfrm>
          <a:prstGeom prst="ellipse">
            <a:avLst/>
          </a:prstGeom>
          <a:solidFill>
            <a:srgbClr val="1F1A4E"/>
          </a:solidFill>
          <a:ln w="12700">
            <a:solidFill>
              <a:srgbClr val="1F1A4E"/>
            </a:solidFill>
            <a:prstDash val="solid"/>
          </a:ln>
        </p:spPr>
        <p:txBody>
          <a:bodyPr/>
          <a:lstStyle/>
          <a:p>
            <a:endParaRPr lang="de-IN"/>
          </a:p>
        </p:txBody>
      </p:sp>
      <p:pic>
        <p:nvPicPr>
          <p:cNvPr id="36" name="Image 10" descr="preencoded.png"/>
          <p:cNvPicPr>
            <a:picLocks noChangeAspect="1"/>
          </p:cNvPicPr>
          <p:nvPr/>
        </p:nvPicPr>
        <p:blipFill>
          <a:blip r:embed="rId9"/>
          <a:stretch>
            <a:fillRect/>
          </a:stretch>
        </p:blipFill>
        <p:spPr>
          <a:xfrm>
            <a:off x="10713110" y="1907438"/>
            <a:ext cx="263347" cy="263347"/>
          </a:xfrm>
          <a:prstGeom prst="rect">
            <a:avLst/>
          </a:prstGeom>
        </p:spPr>
      </p:pic>
      <p:sp>
        <p:nvSpPr>
          <p:cNvPr id="37" name="Text 23"/>
          <p:cNvSpPr txBox="1"/>
          <p:nvPr/>
        </p:nvSpPr>
        <p:spPr>
          <a:xfrm>
            <a:off x="10058400" y="2423160"/>
            <a:ext cx="1572768" cy="365760"/>
          </a:xfrm>
          <a:prstGeom prst="rect">
            <a:avLst/>
          </a:prstGeom>
          <a:noFill/>
          <a:ln/>
        </p:spPr>
        <p:txBody>
          <a:bodyPr wrap="square" lIns="0" tIns="0" rIns="0" bIns="0" rtlCol="0" anchor="t"/>
          <a:lstStyle/>
          <a:p>
            <a:pPr marL="0" indent="0" algn="ctr">
              <a:buNone/>
            </a:pPr>
            <a:r>
              <a:rPr lang="en-US" sz="1400" b="1" dirty="0">
                <a:solidFill>
                  <a:srgbClr val="1F1A4E"/>
                </a:solidFill>
                <a:latin typeface="Calibri" pitchFamily="34" charset="0"/>
                <a:ea typeface="Calibri" pitchFamily="34" charset="-122"/>
                <a:cs typeface="Calibri" pitchFamily="34" charset="-120"/>
              </a:rPr>
              <a:t>Merge</a:t>
            </a:r>
            <a:endParaRPr lang="en-US" sz="1400" dirty="0"/>
          </a:p>
        </p:txBody>
      </p:sp>
      <p:sp>
        <p:nvSpPr>
          <p:cNvPr id="38" name="Shape 24"/>
          <p:cNvSpPr/>
          <p:nvPr/>
        </p:nvSpPr>
        <p:spPr>
          <a:xfrm>
            <a:off x="548640" y="3246120"/>
            <a:ext cx="5394960" cy="2834640"/>
          </a:xfrm>
          <a:prstGeom prst="roundRect">
            <a:avLst>
              <a:gd name="adj" fmla="val 3871"/>
            </a:avLst>
          </a:prstGeom>
          <a:solidFill>
            <a:srgbClr val="FDF1D8"/>
          </a:solidFill>
          <a:ln w="9525">
            <a:solidFill>
              <a:srgbClr val="FDF1D8"/>
            </a:solidFill>
            <a:prstDash val="solid"/>
          </a:ln>
        </p:spPr>
        <p:txBody>
          <a:bodyPr/>
          <a:lstStyle/>
          <a:p>
            <a:endParaRPr lang="de-IN"/>
          </a:p>
        </p:txBody>
      </p:sp>
      <p:sp>
        <p:nvSpPr>
          <p:cNvPr id="39" name="Text 25"/>
          <p:cNvSpPr txBox="1"/>
          <p:nvPr/>
        </p:nvSpPr>
        <p:spPr>
          <a:xfrm>
            <a:off x="822960" y="3401568"/>
            <a:ext cx="4846320" cy="365760"/>
          </a:xfrm>
          <a:prstGeom prst="rect">
            <a:avLst/>
          </a:prstGeom>
          <a:noFill/>
          <a:ln/>
        </p:spPr>
        <p:txBody>
          <a:bodyPr wrap="square" lIns="0" tIns="0" rIns="0" bIns="0" rtlCol="0" anchor="t"/>
          <a:lstStyle/>
          <a:p>
            <a:pPr marL="0" indent="0">
              <a:buNone/>
            </a:pPr>
            <a:r>
              <a:rPr lang="en-US" sz="1800" b="1" dirty="0">
                <a:solidFill>
                  <a:srgbClr val="1F1A4E"/>
                </a:solidFill>
                <a:latin typeface="Calibri" pitchFamily="34" charset="0"/>
                <a:ea typeface="Calibri" pitchFamily="34" charset="-122"/>
                <a:cs typeface="Calibri" pitchFamily="34" charset="-120"/>
              </a:rPr>
              <a:t>Definition of Done</a:t>
            </a:r>
            <a:endParaRPr lang="en-US" sz="1800" dirty="0"/>
          </a:p>
        </p:txBody>
      </p:sp>
      <p:pic>
        <p:nvPicPr>
          <p:cNvPr id="40" name="Image 11" descr="preencoded.png"/>
          <p:cNvPicPr>
            <a:picLocks noChangeAspect="1"/>
          </p:cNvPicPr>
          <p:nvPr/>
        </p:nvPicPr>
        <p:blipFill>
          <a:blip r:embed="rId10"/>
          <a:stretch>
            <a:fillRect/>
          </a:stretch>
        </p:blipFill>
        <p:spPr>
          <a:xfrm>
            <a:off x="822960" y="3977640"/>
            <a:ext cx="246888" cy="246888"/>
          </a:xfrm>
          <a:prstGeom prst="rect">
            <a:avLst/>
          </a:prstGeom>
        </p:spPr>
      </p:pic>
      <p:sp>
        <p:nvSpPr>
          <p:cNvPr id="41" name="Text 26"/>
          <p:cNvSpPr txBox="1"/>
          <p:nvPr/>
        </p:nvSpPr>
        <p:spPr>
          <a:xfrm>
            <a:off x="1188720" y="3931920"/>
            <a:ext cx="457200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Review durch ein anderes Teammitglied</a:t>
            </a:r>
            <a:endParaRPr lang="en-US" sz="1400" dirty="0"/>
          </a:p>
        </p:txBody>
      </p:sp>
      <p:pic>
        <p:nvPicPr>
          <p:cNvPr id="42" name="Image 12" descr="preencoded.png"/>
          <p:cNvPicPr>
            <a:picLocks noChangeAspect="1"/>
          </p:cNvPicPr>
          <p:nvPr/>
        </p:nvPicPr>
        <p:blipFill>
          <a:blip r:embed="rId10"/>
          <a:stretch>
            <a:fillRect/>
          </a:stretch>
        </p:blipFill>
        <p:spPr>
          <a:xfrm>
            <a:off x="822960" y="4480560"/>
            <a:ext cx="246888" cy="246888"/>
          </a:xfrm>
          <a:prstGeom prst="rect">
            <a:avLst/>
          </a:prstGeom>
        </p:spPr>
      </p:pic>
      <p:sp>
        <p:nvSpPr>
          <p:cNvPr id="43" name="Text 27"/>
          <p:cNvSpPr txBox="1"/>
          <p:nvPr/>
        </p:nvSpPr>
        <p:spPr>
          <a:xfrm>
            <a:off x="1188720" y="4434840"/>
            <a:ext cx="457200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Ruff und alle Tests laufen in der CI grün</a:t>
            </a:r>
            <a:endParaRPr lang="en-US" sz="1400" dirty="0"/>
          </a:p>
        </p:txBody>
      </p:sp>
      <p:pic>
        <p:nvPicPr>
          <p:cNvPr id="44" name="Image 13" descr="preencoded.png"/>
          <p:cNvPicPr>
            <a:picLocks noChangeAspect="1"/>
          </p:cNvPicPr>
          <p:nvPr/>
        </p:nvPicPr>
        <p:blipFill>
          <a:blip r:embed="rId10"/>
          <a:stretch>
            <a:fillRect/>
          </a:stretch>
        </p:blipFill>
        <p:spPr>
          <a:xfrm>
            <a:off x="822960" y="4983480"/>
            <a:ext cx="246888" cy="246888"/>
          </a:xfrm>
          <a:prstGeom prst="rect">
            <a:avLst/>
          </a:prstGeom>
        </p:spPr>
      </p:pic>
      <p:sp>
        <p:nvSpPr>
          <p:cNvPr id="45" name="Text 28"/>
          <p:cNvSpPr txBox="1"/>
          <p:nvPr/>
        </p:nvSpPr>
        <p:spPr>
          <a:xfrm>
            <a:off x="1188720" y="4937760"/>
            <a:ext cx="457200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Akzeptanzkriterien sind erfüllt</a:t>
            </a:r>
            <a:endParaRPr lang="en-US" sz="1400" dirty="0"/>
          </a:p>
        </p:txBody>
      </p:sp>
      <p:pic>
        <p:nvPicPr>
          <p:cNvPr id="46" name="Image 14" descr="preencoded.png"/>
          <p:cNvPicPr>
            <a:picLocks noChangeAspect="1"/>
          </p:cNvPicPr>
          <p:nvPr/>
        </p:nvPicPr>
        <p:blipFill>
          <a:blip r:embed="rId10"/>
          <a:stretch>
            <a:fillRect/>
          </a:stretch>
        </p:blipFill>
        <p:spPr>
          <a:xfrm>
            <a:off x="822960" y="5486400"/>
            <a:ext cx="246888" cy="246888"/>
          </a:xfrm>
          <a:prstGeom prst="rect">
            <a:avLst/>
          </a:prstGeom>
        </p:spPr>
      </p:pic>
      <p:sp>
        <p:nvSpPr>
          <p:cNvPr id="47" name="Text 29"/>
          <p:cNvSpPr txBox="1"/>
          <p:nvPr/>
        </p:nvSpPr>
        <p:spPr>
          <a:xfrm>
            <a:off x="1188720" y="5440680"/>
            <a:ext cx="4572000" cy="411480"/>
          </a:xfrm>
          <a:prstGeom prst="rect">
            <a:avLst/>
          </a:prstGeom>
          <a:noFill/>
          <a:ln/>
        </p:spPr>
        <p:txBody>
          <a:bodyPr wrap="square" lIns="0" tIns="0" rIns="0" bIns="0" rtlCol="0" anchor="t"/>
          <a:lstStyle/>
          <a:p>
            <a:pPr marL="0" indent="0">
              <a:buNone/>
            </a:pPr>
            <a:r>
              <a:rPr lang="en-US" sz="1400" dirty="0">
                <a:solidFill>
                  <a:srgbClr val="24204A"/>
                </a:solidFill>
                <a:latin typeface="Calibri" pitchFamily="34" charset="0"/>
                <a:ea typeface="Calibri" pitchFamily="34" charset="-122"/>
                <a:cs typeface="Calibri" pitchFamily="34" charset="-120"/>
              </a:rPr>
              <a:t>Ticket ist mit Anforderung und ggf. Feedback-Quelle verlinkt</a:t>
            </a:r>
            <a:endParaRPr lang="en-US" sz="1400" dirty="0"/>
          </a:p>
        </p:txBody>
      </p:sp>
      <p:sp>
        <p:nvSpPr>
          <p:cNvPr id="48" name="Shape 30"/>
          <p:cNvSpPr/>
          <p:nvPr/>
        </p:nvSpPr>
        <p:spPr>
          <a:xfrm>
            <a:off x="6217920" y="3246120"/>
            <a:ext cx="5422392" cy="2834640"/>
          </a:xfrm>
          <a:prstGeom prst="roundRect">
            <a:avLst>
              <a:gd name="adj" fmla="val 3871"/>
            </a:avLst>
          </a:prstGeom>
          <a:solidFill>
            <a:srgbClr val="FFFFFF"/>
          </a:solidFill>
          <a:ln w="9525">
            <a:solidFill>
              <a:srgbClr val="E4E2EF"/>
            </a:solidFill>
            <a:prstDash val="solid"/>
          </a:ln>
          <a:effectLst>
            <a:outerShdw blurRad="101600" dist="25400" dir="5400000" algn="bl" rotWithShape="0">
              <a:srgbClr val="000000">
                <a:alpha val="10000"/>
              </a:srgbClr>
            </a:outerShdw>
          </a:effectLst>
        </p:spPr>
        <p:txBody>
          <a:bodyPr/>
          <a:lstStyle/>
          <a:p>
            <a:endParaRPr lang="de-IN"/>
          </a:p>
        </p:txBody>
      </p:sp>
      <p:sp>
        <p:nvSpPr>
          <p:cNvPr id="49" name="Text 31"/>
          <p:cNvSpPr txBox="1"/>
          <p:nvPr/>
        </p:nvSpPr>
        <p:spPr>
          <a:xfrm>
            <a:off x="6492240" y="3401568"/>
            <a:ext cx="4937760" cy="365760"/>
          </a:xfrm>
          <a:prstGeom prst="rect">
            <a:avLst/>
          </a:prstGeom>
          <a:noFill/>
          <a:ln/>
        </p:spPr>
        <p:txBody>
          <a:bodyPr wrap="square" lIns="0" tIns="0" rIns="0" bIns="0" rtlCol="0" anchor="t"/>
          <a:lstStyle/>
          <a:p>
            <a:pPr marL="0" indent="0">
              <a:buNone/>
            </a:pPr>
            <a:r>
              <a:rPr lang="en-US" sz="1800" b="1" dirty="0">
                <a:solidFill>
                  <a:srgbClr val="1F1A4E"/>
                </a:solidFill>
                <a:latin typeface="Calibri" pitchFamily="34" charset="0"/>
                <a:ea typeface="Calibri" pitchFamily="34" charset="-122"/>
                <a:cs typeface="Calibri" pitchFamily="34" charset="-120"/>
              </a:rPr>
              <a:t>Qualitätssicherung im Semester</a:t>
            </a:r>
            <a:endParaRPr lang="en-US" sz="1800" dirty="0"/>
          </a:p>
        </p:txBody>
      </p:sp>
      <p:sp>
        <p:nvSpPr>
          <p:cNvPr id="50" name="Text 32"/>
          <p:cNvSpPr txBox="1"/>
          <p:nvPr/>
        </p:nvSpPr>
        <p:spPr>
          <a:xfrm>
            <a:off x="6492240" y="3931920"/>
            <a:ext cx="4937760" cy="2011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24204A"/>
                </a:solidFill>
                <a:latin typeface="Calibri" pitchFamily="34" charset="0"/>
                <a:ea typeface="Calibri" pitchFamily="34" charset="-122"/>
                <a:cs typeface="Calibri" pitchFamily="34" charset="-120"/>
              </a:rPr>
              <a:t>Inspektion der Anforderungen auf Testbarkeit (ab Sprint 1)</a:t>
            </a:r>
            <a:endParaRPr lang="en-US" sz="1400" dirty="0"/>
          </a:p>
          <a:p>
            <a:pPr marL="177800" indent="-177800">
              <a:spcAft>
                <a:spcPts val="500"/>
              </a:spcAft>
              <a:buSzPct val="100000"/>
              <a:buChar char="•"/>
            </a:pPr>
            <a:r>
              <a:rPr lang="en-US" sz="1400" dirty="0">
                <a:solidFill>
                  <a:srgbClr val="24204A"/>
                </a:solidFill>
                <a:latin typeface="Calibri" pitchFamily="34" charset="0"/>
                <a:ea typeface="Calibri" pitchFamily="34" charset="-122"/>
                <a:cs typeface="Calibri" pitchFamily="34" charset="-120"/>
              </a:rPr>
              <a:t>Unit- und Komponententests mit pytest</a:t>
            </a:r>
            <a:endParaRPr lang="en-US" sz="1400" dirty="0"/>
          </a:p>
          <a:p>
            <a:pPr marL="177800" indent="-177800">
              <a:spcAft>
                <a:spcPts val="500"/>
              </a:spcAft>
              <a:buSzPct val="100000"/>
              <a:buChar char="•"/>
            </a:pPr>
            <a:r>
              <a:rPr lang="en-US" sz="1400" dirty="0">
                <a:solidFill>
                  <a:srgbClr val="24204A"/>
                </a:solidFill>
                <a:latin typeface="Calibri" pitchFamily="34" charset="0"/>
                <a:ea typeface="Calibri" pitchFamily="34" charset="-122"/>
                <a:cs typeface="Calibri" pitchFamily="34" charset="-120"/>
              </a:rPr>
              <a:t>Akzeptanztests aus den Akzeptanzkriterien</a:t>
            </a:r>
            <a:endParaRPr lang="en-US" sz="1400" dirty="0"/>
          </a:p>
          <a:p>
            <a:pPr marL="177800" indent="-177800">
              <a:spcAft>
                <a:spcPts val="500"/>
              </a:spcAft>
              <a:buSzPct val="100000"/>
              <a:buChar char="•"/>
            </a:pPr>
            <a:r>
              <a:rPr lang="en-US" sz="1400" dirty="0">
                <a:solidFill>
                  <a:srgbClr val="24204A"/>
                </a:solidFill>
                <a:latin typeface="Calibri" pitchFamily="34" charset="0"/>
                <a:ea typeface="Calibri" pitchFamily="34" charset="-122"/>
                <a:cs typeface="Calibri" pitchFamily="34" charset="-120"/>
              </a:rPr>
              <a:t>Coverage-Messung (Statement und Branch)</a:t>
            </a:r>
            <a:endParaRPr lang="en-US" sz="1400" dirty="0"/>
          </a:p>
          <a:p>
            <a:pPr marL="177800" indent="-177800">
              <a:spcAft>
                <a:spcPts val="500"/>
              </a:spcAft>
              <a:buSzPct val="100000"/>
              <a:buChar char="•"/>
            </a:pPr>
            <a:r>
              <a:rPr lang="en-US" sz="1400" dirty="0">
                <a:solidFill>
                  <a:srgbClr val="24204A"/>
                </a:solidFill>
                <a:latin typeface="Calibri" pitchFamily="34" charset="0"/>
                <a:ea typeface="Calibri" pitchFamily="34" charset="-122"/>
                <a:cs typeface="Calibri" pitchFamily="34" charset="-120"/>
              </a:rPr>
              <a:t>Defekte als Issues mit Label „bug“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6 · RISIKEN</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Risiken und Gegenmaßnahmen</a:t>
            </a:r>
            <a:endParaRPr lang="en-US" sz="3000" dirty="0"/>
          </a:p>
        </p:txBody>
      </p:sp>
      <p:sp>
        <p:nvSpPr>
          <p:cNvPr id="4" name="Shape 2"/>
          <p:cNvSpPr/>
          <p:nvPr/>
        </p:nvSpPr>
        <p:spPr>
          <a:xfrm>
            <a:off x="10287000" y="502920"/>
            <a:ext cx="1371600" cy="384048"/>
          </a:xfrm>
          <a:prstGeom prst="roundRect">
            <a:avLst>
              <a:gd name="adj" fmla="val 50000"/>
            </a:avLst>
          </a:prstGeom>
          <a:solidFill>
            <a:srgbClr val="E89A0C"/>
          </a:solidFill>
          <a:ln w="12700">
            <a:solidFill>
              <a:srgbClr val="E89A0C"/>
            </a:solidFill>
            <a:prstDash val="solid"/>
          </a:ln>
        </p:spPr>
        <p:txBody>
          <a:bodyPr/>
          <a:lstStyle/>
          <a:p>
            <a:endParaRPr lang="de-IN"/>
          </a:p>
        </p:txBody>
      </p:sp>
      <p:sp>
        <p:nvSpPr>
          <p:cNvPr id="5" name="Text 3"/>
          <p:cNvSpPr txBox="1"/>
          <p:nvPr/>
        </p:nvSpPr>
        <p:spPr>
          <a:xfrm>
            <a:off x="10287000" y="502920"/>
            <a:ext cx="1371600" cy="384048"/>
          </a:xfrm>
          <a:prstGeom prst="rect">
            <a:avLst/>
          </a:prstGeom>
          <a:noFill/>
          <a:ln/>
        </p:spPr>
        <p:txBody>
          <a:bodyPr wrap="square" lIns="0" tIns="0" rIns="0" bIns="0" rtlCol="0" anchor="ctr"/>
          <a:lstStyle/>
          <a:p>
            <a:pPr marL="0" indent="0" algn="ctr">
              <a:buNone/>
            </a:pPr>
            <a:r>
              <a:rPr lang="en-US" sz="1300" b="1" dirty="0">
                <a:solidFill>
                  <a:srgbClr val="1F1A4E"/>
                </a:solidFill>
                <a:latin typeface="Calibri" pitchFamily="34" charset="0"/>
                <a:ea typeface="Calibri" pitchFamily="34" charset="-122"/>
                <a:cs typeface="Calibri" pitchFamily="34" charset="-120"/>
              </a:rPr>
              <a:t>Anil</a:t>
            </a:r>
            <a:endParaRPr lang="en-US" sz="1300" dirty="0"/>
          </a:p>
        </p:txBody>
      </p:sp>
      <p:sp>
        <p:nvSpPr>
          <p:cNvPr id="6" name="Text 4"/>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7" name="Text 5"/>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4352544"/>
        </p:xfrm>
        <a:graphic>
          <a:graphicData uri="http://schemas.openxmlformats.org/drawingml/2006/table">
            <a:tbl>
              <a:tblPr/>
              <a:tblGrid>
                <a:gridCol w="35661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5788152">
                  <a:extLst>
                    <a:ext uri="{9D8B030D-6E8A-4147-A177-3AD203B41FA5}">
                      <a16:colId xmlns:a16="http://schemas.microsoft.com/office/drawing/2014/main" val="20003"/>
                    </a:ext>
                  </a:extLst>
                </a:gridCol>
              </a:tblGrid>
              <a:tr h="38404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Risiko</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1F1A4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W</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1F1A4E"/>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1F1A4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Gegenmaßnahme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1F1A4E"/>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F1A4E"/>
                          </a:solidFill>
                          <a:latin typeface="Calibri" pitchFamily="34" charset="0"/>
                          <a:ea typeface="Calibri" pitchFamily="34" charset="-122"/>
                          <a:cs typeface="Calibri" pitchFamily="34" charset="-120"/>
                        </a:rPr>
                        <a:t>Zu wenige Gesprächspartner:innen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lgn="ctr">
                        <a:buNone/>
                      </a:pPr>
                      <a:r>
                        <a:rPr lang="en-US" sz="1300" b="1" dirty="0">
                          <a:solidFill>
                            <a:srgbClr val="7A4F00"/>
                          </a:solidFill>
                          <a:latin typeface="Calibri" pitchFamily="34" charset="0"/>
                          <a:ea typeface="Calibri" pitchFamily="34" charset="-122"/>
                          <a:cs typeface="Calibri" pitchFamily="34" charset="-120"/>
                        </a:rPr>
                        <a:t>mittel</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lgn="ctr">
                        <a:buNone/>
                      </a:pPr>
                      <a:r>
                        <a:rPr lang="en-US" sz="1300" b="1" dirty="0">
                          <a:solidFill>
                            <a:srgbClr val="E8524F"/>
                          </a:solidFill>
                          <a:latin typeface="Calibri" pitchFamily="34" charset="0"/>
                          <a:ea typeface="Calibri" pitchFamily="34" charset="-122"/>
                          <a:cs typeface="Calibri" pitchFamily="34" charset="-120"/>
                        </a:rPr>
                        <a:t>hoch</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Doppelt so viele anfragen, kleine Betriebe als Plan B, Feedback-Panel</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1F1A4E"/>
                          </a:solidFill>
                          <a:latin typeface="Calibri" pitchFamily="34" charset="0"/>
                          <a:ea typeface="Calibri" pitchFamily="34" charset="-122"/>
                          <a:cs typeface="Calibri" pitchFamily="34" charset="-120"/>
                        </a:rPr>
                        <a:t>Lernkurve bei Django und OR-Tools</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E8524F"/>
                          </a:solidFill>
                          <a:latin typeface="Calibri" pitchFamily="34" charset="0"/>
                          <a:ea typeface="Calibri" pitchFamily="34" charset="-122"/>
                          <a:cs typeface="Calibri" pitchFamily="34" charset="-120"/>
                        </a:rPr>
                        <a:t>hoch</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E8524F"/>
                          </a:solidFill>
                          <a:latin typeface="Calibri" pitchFamily="34" charset="0"/>
                          <a:ea typeface="Calibri" pitchFamily="34" charset="-122"/>
                          <a:cs typeface="Calibri" pitchFamily="34" charset="-120"/>
                        </a:rPr>
                        <a:t>hoch</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Tutorial für alle, Pair Programming, Spike bis P3, Greedy-Algorithmus als Rückfalloption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F1A4E"/>
                          </a:solidFill>
                          <a:latin typeface="Calibri" pitchFamily="34" charset="0"/>
                          <a:ea typeface="Calibri" pitchFamily="34" charset="-122"/>
                          <a:cs typeface="Calibri" pitchFamily="34" charset="-120"/>
                        </a:rPr>
                        <a:t>Planungsumfang wächst durch zusätzliche Regeln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lgn="ctr">
                        <a:buNone/>
                      </a:pPr>
                      <a:r>
                        <a:rPr lang="en-US" sz="1300" b="1" dirty="0">
                          <a:solidFill>
                            <a:srgbClr val="7A4F00"/>
                          </a:solidFill>
                          <a:latin typeface="Calibri" pitchFamily="34" charset="0"/>
                          <a:ea typeface="Calibri" pitchFamily="34" charset="-122"/>
                          <a:cs typeface="Calibri" pitchFamily="34" charset="-120"/>
                        </a:rPr>
                        <a:t>mittel</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lgn="ctr">
                        <a:buNone/>
                      </a:pPr>
                      <a:r>
                        <a:rPr lang="en-US" sz="1300" b="1" dirty="0">
                          <a:solidFill>
                            <a:srgbClr val="E8524F"/>
                          </a:solidFill>
                          <a:latin typeface="Calibri" pitchFamily="34" charset="0"/>
                          <a:ea typeface="Calibri" pitchFamily="34" charset="-122"/>
                          <a:cs typeface="Calibri" pitchFamily="34" charset="-120"/>
                        </a:rPr>
                        <a:t>hoch</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MVP-Regeln festgeschrieben, Weiteres als Future Work, Priorisierung nach MoSCoW</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1F1A4E"/>
                          </a:solidFill>
                          <a:latin typeface="Calibri" pitchFamily="34" charset="0"/>
                          <a:ea typeface="Calibri" pitchFamily="34" charset="-122"/>
                          <a:cs typeface="Calibri" pitchFamily="34" charset="-120"/>
                        </a:rPr>
                        <a:t>Überlastung durch die Doppelrolle</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7A4F00"/>
                          </a:solidFill>
                          <a:latin typeface="Calibri" pitchFamily="34" charset="0"/>
                          <a:ea typeface="Calibri" pitchFamily="34" charset="-122"/>
                          <a:cs typeface="Calibri" pitchFamily="34" charset="-120"/>
                        </a:rPr>
                        <a:t>mittel</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7A4F00"/>
                          </a:solidFill>
                          <a:latin typeface="Calibri" pitchFamily="34" charset="0"/>
                          <a:ea typeface="Calibri" pitchFamily="34" charset="-122"/>
                          <a:cs typeface="Calibri" pitchFamily="34" charset="-120"/>
                        </a:rPr>
                        <a:t>mittel</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Moderation rotiert, alle führen Interviews</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1F1A4E"/>
                          </a:solidFill>
                          <a:latin typeface="Calibri" pitchFamily="34" charset="0"/>
                          <a:ea typeface="Calibri" pitchFamily="34" charset="-122"/>
                          <a:cs typeface="Calibri" pitchFamily="34" charset="-120"/>
                        </a:rPr>
                        <a:t>Ausfall eines Teammitglieds (Prüfungen, Krankheit)</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lgn="ctr">
                        <a:buNone/>
                      </a:pPr>
                      <a:r>
                        <a:rPr lang="en-US" sz="1300" b="1" dirty="0">
                          <a:solidFill>
                            <a:srgbClr val="7A4F00"/>
                          </a:solidFill>
                          <a:latin typeface="Calibri" pitchFamily="34" charset="0"/>
                          <a:ea typeface="Calibri" pitchFamily="34" charset="-122"/>
                          <a:cs typeface="Calibri" pitchFamily="34" charset="-120"/>
                        </a:rPr>
                        <a:t>mittel</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lgn="ctr">
                        <a:buNone/>
                      </a:pPr>
                      <a:r>
                        <a:rPr lang="en-US" sz="1300" b="1" dirty="0">
                          <a:solidFill>
                            <a:srgbClr val="E8524F"/>
                          </a:solidFill>
                          <a:latin typeface="Calibri" pitchFamily="34" charset="0"/>
                          <a:ea typeface="Calibri" pitchFamily="34" charset="-122"/>
                          <a:cs typeface="Calibri" pitchFamily="34" charset="-120"/>
                        </a:rPr>
                        <a:t>hoch</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Code-Reviews, gemeinsame Verantwortung für den Code, Wissen im Repository dokumentiert</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1F1A4E"/>
                          </a:solidFill>
                          <a:latin typeface="Calibri" pitchFamily="34" charset="0"/>
                          <a:ea typeface="Calibri" pitchFamily="34" charset="-122"/>
                          <a:cs typeface="Calibri" pitchFamily="34" charset="-120"/>
                        </a:rPr>
                        <a:t>Datenschutz (DSGVO) bei Interviews und in der App</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0E8F82"/>
                          </a:solidFill>
                          <a:latin typeface="Calibri" pitchFamily="34" charset="0"/>
                          <a:ea typeface="Calibri" pitchFamily="34" charset="-122"/>
                          <a:cs typeface="Calibri" pitchFamily="34" charset="-120"/>
                        </a:rPr>
                        <a:t>gering</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E8524F"/>
                          </a:solidFill>
                          <a:latin typeface="Calibri" pitchFamily="34" charset="0"/>
                          <a:ea typeface="Calibri" pitchFamily="34" charset="-122"/>
                          <a:cs typeface="Calibri" pitchFamily="34" charset="-120"/>
                        </a:rPr>
                        <a:t>hoch</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Anonyme Protokolle, Datensparsamkeit, eingeschränkte Sichtbarkeit der Verfügbarkeiten</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buNone/>
                      </a:pPr>
                      <a:r>
                        <a:rPr lang="en-US" sz="1300" b="1" dirty="0">
                          <a:solidFill>
                            <a:srgbClr val="1F1A4E"/>
                          </a:solidFill>
                          <a:latin typeface="Calibri" pitchFamily="34" charset="0"/>
                          <a:ea typeface="Calibri" pitchFamily="34" charset="-122"/>
                          <a:cs typeface="Calibri" pitchFamily="34" charset="-120"/>
                        </a:rPr>
                        <a:t>Hosting erst spät getestet</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lgn="ctr">
                        <a:buNone/>
                      </a:pPr>
                      <a:r>
                        <a:rPr lang="en-US" sz="1300" b="1" dirty="0">
                          <a:solidFill>
                            <a:srgbClr val="7A4F00"/>
                          </a:solidFill>
                          <a:latin typeface="Calibri" pitchFamily="34" charset="0"/>
                          <a:ea typeface="Calibri" pitchFamily="34" charset="-122"/>
                          <a:cs typeface="Calibri" pitchFamily="34" charset="-120"/>
                        </a:rPr>
                        <a:t>mittel</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lgn="ctr">
                        <a:buNone/>
                      </a:pPr>
                      <a:r>
                        <a:rPr lang="en-US" sz="1300" b="1" dirty="0">
                          <a:solidFill>
                            <a:srgbClr val="7A4F00"/>
                          </a:solidFill>
                          <a:latin typeface="Calibri" pitchFamily="34" charset="0"/>
                          <a:ea typeface="Calibri" pitchFamily="34" charset="-122"/>
                          <a:cs typeface="Calibri" pitchFamily="34" charset="-120"/>
                        </a:rPr>
                        <a:t>mittel</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tc>
                  <a:txBody>
                    <a:bodyPr/>
                    <a:lstStyle/>
                    <a:p>
                      <a:pPr marL="0" indent="0">
                        <a:buNone/>
                      </a:pPr>
                      <a:r>
                        <a:rPr lang="en-US" sz="1300" dirty="0">
                          <a:solidFill>
                            <a:srgbClr val="24204A"/>
                          </a:solidFill>
                          <a:latin typeface="Calibri" pitchFamily="34" charset="0"/>
                          <a:ea typeface="Calibri" pitchFamily="34" charset="-122"/>
                          <a:cs typeface="Calibri" pitchFamily="34" charset="-120"/>
                        </a:rPr>
                        <a:t>Erstes Deployment bereits in Sprint 3</a:t>
                      </a:r>
                      <a:endParaRPr lang="en-US" sz="1300" dirty="0">
                        <a:latin typeface="Calibri" charset="0"/>
                        <a:ea typeface="Calibri" charset="0"/>
                        <a:cs typeface="Calibri" charset="0"/>
                      </a:endParaRPr>
                    </a:p>
                  </a:txBody>
                  <a:tcPr marL="101600" marR="101600" marT="38100" marB="38100" anchor="ctr">
                    <a:lnL w="9525" cap="flat" cmpd="sng" algn="ctr">
                      <a:solidFill>
                        <a:srgbClr val="E4E2EF"/>
                      </a:solidFill>
                      <a:prstDash val="solid"/>
                      <a:round/>
                      <a:headEnd type="none" w="med" len="med"/>
                      <a:tailEnd type="none" w="med" len="med"/>
                    </a:lnL>
                    <a:lnR w="9525" cap="flat" cmpd="sng" algn="ctr">
                      <a:solidFill>
                        <a:srgbClr val="E4E2EF"/>
                      </a:solidFill>
                      <a:prstDash val="solid"/>
                      <a:round/>
                      <a:headEnd type="none" w="med" len="med"/>
                      <a:tailEnd type="none" w="med" len="med"/>
                    </a:lnR>
                    <a:lnT w="9525" cap="flat" cmpd="sng" algn="ctr">
                      <a:solidFill>
                        <a:srgbClr val="E4E2EF"/>
                      </a:solidFill>
                      <a:prstDash val="solid"/>
                      <a:round/>
                      <a:headEnd type="none" w="med" len="med"/>
                      <a:tailEnd type="none" w="med" len="med"/>
                    </a:lnT>
                    <a:lnB w="9525" cap="flat" cmpd="sng" algn="ctr">
                      <a:solidFill>
                        <a:srgbClr val="E4E2EF"/>
                      </a:solidFill>
                      <a:prstDash val="solid"/>
                      <a:round/>
                      <a:headEnd type="none" w="med" len="med"/>
                      <a:tailEnd type="none" w="med" len="med"/>
                    </a:lnB>
                    <a:solidFill>
                      <a:srgbClr val="F6F5FB"/>
                    </a:solidFill>
                  </a:tcPr>
                </a:tc>
                <a:extLst>
                  <a:ext uri="{0D108BD9-81ED-4DB2-BD59-A6C34878D82A}">
                    <a16:rowId xmlns:a16="http://schemas.microsoft.com/office/drawing/2014/main" val="10007"/>
                  </a:ext>
                </a:extLst>
              </a:tr>
            </a:tbl>
          </a:graphicData>
        </a:graphic>
      </p:graphicFrame>
      <p:sp>
        <p:nvSpPr>
          <p:cNvPr id="10" name="Text 6"/>
          <p:cNvSpPr txBox="1"/>
          <p:nvPr/>
        </p:nvSpPr>
        <p:spPr>
          <a:xfrm>
            <a:off x="548640" y="6016752"/>
            <a:ext cx="10972800" cy="320040"/>
          </a:xfrm>
          <a:prstGeom prst="rect">
            <a:avLst/>
          </a:prstGeom>
          <a:noFill/>
          <a:ln/>
        </p:spPr>
        <p:txBody>
          <a:bodyPr wrap="square" lIns="0" tIns="0" rIns="0" bIns="0" rtlCol="0" anchor="t"/>
          <a:lstStyle/>
          <a:p>
            <a:pPr marL="0" indent="0">
              <a:buNone/>
            </a:pPr>
            <a:r>
              <a:rPr lang="en-US" sz="1300" i="1" dirty="0">
                <a:solidFill>
                  <a:srgbClr val="6B6890"/>
                </a:solidFill>
                <a:latin typeface="Calibri" pitchFamily="34" charset="0"/>
                <a:ea typeface="Calibri" pitchFamily="34" charset="-122"/>
                <a:cs typeface="Calibri" pitchFamily="34" charset="-120"/>
              </a:rPr>
              <a:t>W = Wahrscheinlichkeit, A = Auswirkung. Die Liste prüfen wir in jeder Retrospektive.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686800" cy="274320"/>
          </a:xfrm>
          <a:prstGeom prst="rect">
            <a:avLst/>
          </a:prstGeom>
          <a:noFill/>
          <a:ln/>
        </p:spPr>
        <p:txBody>
          <a:bodyPr wrap="square" lIns="0" tIns="0" rIns="0" bIns="0" rtlCol="0" anchor="t"/>
          <a:lstStyle/>
          <a:p>
            <a:pPr marL="0" indent="0">
              <a:buNone/>
            </a:pPr>
            <a:r>
              <a:rPr lang="en-US" sz="1200" b="1" kern="0" spc="200" dirty="0">
                <a:solidFill>
                  <a:srgbClr val="6C4FF0"/>
                </a:solidFill>
                <a:latin typeface="Calibri" pitchFamily="34" charset="0"/>
                <a:ea typeface="Calibri" pitchFamily="34" charset="-122"/>
                <a:cs typeface="Calibri" pitchFamily="34" charset="-120"/>
              </a:rPr>
              <a:t>QUELLEN</a:t>
            </a:r>
            <a:endParaRPr lang="en-US" sz="1200" dirty="0"/>
          </a:p>
        </p:txBody>
      </p:sp>
      <p:sp>
        <p:nvSpPr>
          <p:cNvPr id="3" name="Text 1"/>
          <p:cNvSpPr txBox="1"/>
          <p:nvPr/>
        </p:nvSpPr>
        <p:spPr>
          <a:xfrm>
            <a:off x="548640" y="621792"/>
            <a:ext cx="9326880" cy="685800"/>
          </a:xfrm>
          <a:prstGeom prst="rect">
            <a:avLst/>
          </a:prstGeom>
          <a:noFill/>
          <a:ln/>
        </p:spPr>
        <p:txBody>
          <a:bodyPr wrap="square" lIns="0" tIns="0" rIns="0" bIns="0" rtlCol="0" anchor="ctr"/>
          <a:lstStyle/>
          <a:p>
            <a:pPr marL="0" indent="0">
              <a:buNone/>
            </a:pPr>
            <a:r>
              <a:rPr lang="en-US" sz="3000" b="1" dirty="0">
                <a:solidFill>
                  <a:srgbClr val="1F1A4E"/>
                </a:solidFill>
                <a:latin typeface="Calibri" pitchFamily="34" charset="0"/>
                <a:ea typeface="Calibri" pitchFamily="34" charset="-122"/>
                <a:cs typeface="Calibri" pitchFamily="34" charset="-120"/>
              </a:rPr>
              <a:t>Literatur</a:t>
            </a:r>
            <a:endParaRPr lang="en-US" sz="3000" dirty="0"/>
          </a:p>
        </p:txBody>
      </p:sp>
      <p:sp>
        <p:nvSpPr>
          <p:cNvPr id="4" name="Text 2"/>
          <p:cNvSpPr txBox="1"/>
          <p:nvPr/>
        </p:nvSpPr>
        <p:spPr>
          <a:xfrm>
            <a:off x="548640" y="6419088"/>
            <a:ext cx="5486400" cy="228600"/>
          </a:xfrm>
          <a:prstGeom prst="rect">
            <a:avLst/>
          </a:prstGeom>
          <a:noFill/>
          <a:ln/>
        </p:spPr>
        <p:txBody>
          <a:bodyPr wrap="square" lIns="0" tIns="0" rIns="0" bIns="0" rtlCol="0" anchor="t"/>
          <a:lstStyle/>
          <a:p>
            <a:pPr marL="0" indent="0">
              <a:buNone/>
            </a:pPr>
            <a:r>
              <a:rPr lang="en-US" sz="900" dirty="0">
                <a:solidFill>
                  <a:srgbClr val="6B6890"/>
                </a:solidFill>
                <a:latin typeface="Calibri" pitchFamily="34" charset="0"/>
                <a:ea typeface="Calibri" pitchFamily="34" charset="-122"/>
                <a:cs typeface="Calibri" pitchFamily="34" charset="-120"/>
              </a:rPr>
              <a:t>ShiftPlanner  ·  P1 Idee &amp; Team  ·  30.09.2026</a:t>
            </a:r>
            <a:endParaRPr lang="en-US" sz="900" dirty="0"/>
          </a:p>
        </p:txBody>
      </p:sp>
      <p:sp>
        <p:nvSpPr>
          <p:cNvPr id="5" name="Text 3"/>
          <p:cNvSpPr txBox="1"/>
          <p:nvPr/>
        </p:nvSpPr>
        <p:spPr>
          <a:xfrm>
            <a:off x="11183112" y="6419088"/>
            <a:ext cx="457200" cy="228600"/>
          </a:xfrm>
          <a:prstGeom prst="rect">
            <a:avLst/>
          </a:prstGeom>
          <a:noFill/>
          <a:ln/>
        </p:spPr>
        <p:txBody>
          <a:bodyPr wrap="square" lIns="0" tIns="0" rIns="0" bIns="0" rtlCol="0" anchor="t"/>
          <a:lstStyle/>
          <a:p>
            <a:pPr marL="0" indent="0" algn="r">
              <a:buNone/>
            </a:pPr>
            <a:r>
              <a:rPr lang="en-US" sz="900" dirty="0">
                <a:solidFill>
                  <a:srgbClr val="6B6890"/>
                </a:solidFill>
                <a:latin typeface="Calibri" pitchFamily="34" charset="0"/>
                <a:ea typeface="Calibri" pitchFamily="34" charset="-122"/>
                <a:cs typeface="Calibri" pitchFamily="34" charset="-120"/>
              </a:rPr>
              <a:t>21</a:t>
            </a:r>
            <a:endParaRPr lang="en-US" sz="900" dirty="0"/>
          </a:p>
        </p:txBody>
      </p:sp>
      <p:sp>
        <p:nvSpPr>
          <p:cNvPr id="7" name="Text 4"/>
          <p:cNvSpPr txBox="1"/>
          <p:nvPr/>
        </p:nvSpPr>
        <p:spPr>
          <a:xfrm>
            <a:off x="548640" y="1554480"/>
            <a:ext cx="5408676" cy="4572000"/>
          </a:xfrm>
          <a:prstGeom prst="rect">
            <a:avLst/>
          </a:prstGeom>
          <a:noFill/>
          <a:ln/>
        </p:spPr>
        <p:txBody>
          <a:bodyPr wrap="square" lIns="0" tIns="0" rIns="0" bIns="0" rtlCol="0" anchor="t"/>
          <a:lstStyle/>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Blank, S. (2013). Why the lean start-up changes everything. Harvard Business Review, 91(5), 63–72.</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Boehm, B., &amp; Turner, R. (2003). Using risk to balance agile and plan-driven methods. Computer, 36(6), 57–66.</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Brooke, J. (1996). SUS: A “quick and dirty” usability scale. In P. W. Jordan, B. Thomas, B. A. Weerdmeester &amp; I. L. McClelland (Hrsg.), Usability evaluation in industry (S. 189–194). Taylor &amp; Francis.</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Cockburn, A., &amp; Williams, L. (2001). The costs and benefits of pair programming. In G. Succi &amp; M. Marchesi (Hrsg.), Extreme programming examined. Addison-Wesley.</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Fitzpatrick, R. (2013). The Mom Test. CreateSpace.</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Petersen, K., &amp; Wohlin, C. (2009). A comparison of issues and advantages in agile and incremental development between state of the art and an industrial case. Journal of Systems and Software, 82(9), 1479–1490.</a:t>
            </a:r>
            <a:endParaRPr lang="en-US" sz="1300" dirty="0"/>
          </a:p>
        </p:txBody>
      </p:sp>
      <p:sp>
        <p:nvSpPr>
          <p:cNvPr id="8" name="Text 5"/>
          <p:cNvSpPr txBox="1"/>
          <p:nvPr/>
        </p:nvSpPr>
        <p:spPr>
          <a:xfrm>
            <a:off x="6231636" y="1554480"/>
            <a:ext cx="5408676" cy="4572000"/>
          </a:xfrm>
          <a:prstGeom prst="rect">
            <a:avLst/>
          </a:prstGeom>
          <a:noFill/>
          <a:ln/>
        </p:spPr>
        <p:txBody>
          <a:bodyPr wrap="square" lIns="0" tIns="0" rIns="0" bIns="0" rtlCol="0" anchor="t"/>
          <a:lstStyle/>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Petersen, K., &amp; Wohlin, C. (2010). The effect of moving from a plan-driven to an incremental software development approach with agile practices: An industrial case study. Empirical Software Engineering, 15(6), 654–693.</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Ries, E. (2011). The lean startup. Crown Business.</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Rigby, P. C., &amp; Bird, C. (2013). Convergent contemporary software peer review practices. In Proceedings of ESEC/FSE 2013 (S. 202–212). ACM.</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Schwaber, K., &amp; Sutherland, J. (2020). The Scrum Guide. https://scrumguides.org</a:t>
            </a:r>
            <a:endParaRPr lang="en-US" sz="1300" dirty="0"/>
          </a:p>
          <a:p>
            <a:pPr marL="0" indent="0">
              <a:spcAft>
                <a:spcPts val="900"/>
              </a:spcAft>
              <a:buNone/>
            </a:pPr>
            <a:r>
              <a:rPr lang="en-US" sz="1300" dirty="0">
                <a:solidFill>
                  <a:srgbClr val="24204A"/>
                </a:solidFill>
                <a:latin typeface="Calibri" pitchFamily="34" charset="0"/>
                <a:ea typeface="Calibri" pitchFamily="34" charset="-122"/>
                <a:cs typeface="Calibri" pitchFamily="34" charset="-120"/>
              </a:rPr>
              <a:t>van Rossum, G., Warsaw, B., &amp; Coghlan, N. (2001). PEP 8 – Style guide for Python code. https://peps.python.org/pep-0008/</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1F1A4E"/>
        </a:solidFill>
        <a:effectLst/>
      </p:bgPr>
    </p:bg>
    <p:spTree>
      <p:nvGrpSpPr>
        <p:cNvPr id="1" name=""/>
        <p:cNvGrpSpPr/>
        <p:nvPr/>
      </p:nvGrpSpPr>
      <p:grpSpPr>
        <a:xfrm>
          <a:off x="0" y="0"/>
          <a:ext cx="0" cy="0"/>
          <a:chOff x="0" y="0"/>
          <a:chExt cx="0" cy="0"/>
        </a:xfrm>
      </p:grpSpPr>
      <p:sp>
        <p:nvSpPr>
          <p:cNvPr id="2" name="Text 0"/>
          <p:cNvSpPr txBox="1"/>
          <p:nvPr/>
        </p:nvSpPr>
        <p:spPr>
          <a:xfrm>
            <a:off x="640080" y="1554480"/>
            <a:ext cx="6766560" cy="109728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Danke!</a:t>
            </a:r>
            <a:endParaRPr lang="en-US" sz="6400" dirty="0"/>
          </a:p>
        </p:txBody>
      </p:sp>
      <p:sp>
        <p:nvSpPr>
          <p:cNvPr id="3" name="Text 1"/>
          <p:cNvSpPr txBox="1"/>
          <p:nvPr/>
        </p:nvSpPr>
        <p:spPr>
          <a:xfrm>
            <a:off x="640080" y="2743200"/>
            <a:ext cx="6583680" cy="548640"/>
          </a:xfrm>
          <a:prstGeom prst="rect">
            <a:avLst/>
          </a:prstGeom>
          <a:noFill/>
          <a:ln/>
        </p:spPr>
        <p:txBody>
          <a:bodyPr wrap="square" lIns="0" tIns="0" rIns="0" bIns="0" rtlCol="0" anchor="t"/>
          <a:lstStyle/>
          <a:p>
            <a:pPr marL="0" indent="0">
              <a:buNone/>
            </a:pPr>
            <a:r>
              <a:rPr lang="en-US" sz="2400" dirty="0">
                <a:solidFill>
                  <a:srgbClr val="E6E3FF"/>
                </a:solidFill>
                <a:latin typeface="Calibri" pitchFamily="34" charset="0"/>
                <a:ea typeface="Calibri" pitchFamily="34" charset="-122"/>
                <a:cs typeface="Calibri" pitchFamily="34" charset="-120"/>
              </a:rPr>
              <a:t>Wir freuen uns auf Ihre Fragen und Ihr Feedback.</a:t>
            </a:r>
            <a:endParaRPr lang="en-US" sz="2400" dirty="0"/>
          </a:p>
        </p:txBody>
      </p:sp>
      <p:sp>
        <p:nvSpPr>
          <p:cNvPr id="4" name="Text 2"/>
          <p:cNvSpPr txBox="1"/>
          <p:nvPr/>
        </p:nvSpPr>
        <p:spPr>
          <a:xfrm>
            <a:off x="640080" y="4023360"/>
            <a:ext cx="6766560" cy="640080"/>
          </a:xfrm>
          <a:prstGeom prst="rect">
            <a:avLst/>
          </a:prstGeom>
          <a:noFill/>
          <a:ln/>
        </p:spPr>
        <p:txBody>
          <a:bodyPr wrap="square" lIns="0" tIns="0" rIns="0" bIns="0" rtlCol="0" anchor="t"/>
          <a:lstStyle/>
          <a:p>
            <a:pPr marL="0" indent="0">
              <a:buNone/>
            </a:pPr>
            <a:r>
              <a:rPr lang="en-US" sz="1500" dirty="0">
                <a:solidFill>
                  <a:srgbClr val="C9C3FF"/>
                </a:solidFill>
                <a:latin typeface="Calibri" pitchFamily="34" charset="0"/>
                <a:ea typeface="Calibri" pitchFamily="34" charset="-122"/>
                <a:cs typeface="Calibri" pitchFamily="34" charset="-120"/>
              </a:rPr>
              <a:t>Muhammed Asif Shahul Hameed  ·  Mahdi Fazeli  ·  Bennet Schalow  ·  Anil Duth</a:t>
            </a:r>
            <a:endParaRPr lang="en-US" sz="1500" dirty="0"/>
          </a:p>
        </p:txBody>
      </p:sp>
      <p:sp>
        <p:nvSpPr>
          <p:cNvPr id="5" name="Text 3"/>
          <p:cNvSpPr txBox="1"/>
          <p:nvPr/>
        </p:nvSpPr>
        <p:spPr>
          <a:xfrm>
            <a:off x="640080" y="5989320"/>
            <a:ext cx="6766560" cy="274320"/>
          </a:xfrm>
          <a:prstGeom prst="rect">
            <a:avLst/>
          </a:prstGeom>
          <a:noFill/>
          <a:ln/>
        </p:spPr>
        <p:txBody>
          <a:bodyPr wrap="square" lIns="0" tIns="0" rIns="0" bIns="0" rtlCol="0" anchor="t"/>
          <a:lstStyle/>
          <a:p>
            <a:pPr marL="0" indent="0">
              <a:buNone/>
            </a:pPr>
            <a:r>
              <a:rPr lang="en-US" sz="1200" dirty="0">
                <a:solidFill>
                  <a:srgbClr val="C9C3FF"/>
                </a:solidFill>
                <a:latin typeface="Calibri" pitchFamily="34" charset="0"/>
                <a:ea typeface="Calibri" pitchFamily="34" charset="-122"/>
                <a:cs typeface="Calibri" pitchFamily="34" charset="-120"/>
              </a:rPr>
              <a:t>ShiftPlanner  ·  Software-Projekt WS 2026/27  ·  Hochschule Flensburg</a:t>
            </a:r>
            <a:endParaRPr lang="en-US" sz="1200" dirty="0"/>
          </a:p>
        </p:txBody>
      </p:sp>
      <p:sp>
        <p:nvSpPr>
          <p:cNvPr id="6" name="Text 4"/>
          <p:cNvSpPr txBox="1"/>
          <p:nvPr/>
        </p:nvSpPr>
        <p:spPr>
          <a:xfrm>
            <a:off x="7726680"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Mo</a:t>
            </a:r>
            <a:endParaRPr lang="en-US" sz="1100" dirty="0"/>
          </a:p>
        </p:txBody>
      </p:sp>
      <p:sp>
        <p:nvSpPr>
          <p:cNvPr id="7" name="Text 5"/>
          <p:cNvSpPr txBox="1"/>
          <p:nvPr/>
        </p:nvSpPr>
        <p:spPr>
          <a:xfrm>
            <a:off x="8302752"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Di</a:t>
            </a:r>
            <a:endParaRPr lang="en-US" sz="1100" dirty="0"/>
          </a:p>
        </p:txBody>
      </p:sp>
      <p:sp>
        <p:nvSpPr>
          <p:cNvPr id="8" name="Text 6"/>
          <p:cNvSpPr txBox="1"/>
          <p:nvPr/>
        </p:nvSpPr>
        <p:spPr>
          <a:xfrm>
            <a:off x="8878824"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Mi</a:t>
            </a:r>
            <a:endParaRPr lang="en-US" sz="1100" dirty="0"/>
          </a:p>
        </p:txBody>
      </p:sp>
      <p:sp>
        <p:nvSpPr>
          <p:cNvPr id="9" name="Text 7"/>
          <p:cNvSpPr txBox="1"/>
          <p:nvPr/>
        </p:nvSpPr>
        <p:spPr>
          <a:xfrm>
            <a:off x="9454896"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Do</a:t>
            </a:r>
            <a:endParaRPr lang="en-US" sz="1100" dirty="0"/>
          </a:p>
        </p:txBody>
      </p:sp>
      <p:sp>
        <p:nvSpPr>
          <p:cNvPr id="10" name="Text 8"/>
          <p:cNvSpPr txBox="1"/>
          <p:nvPr/>
        </p:nvSpPr>
        <p:spPr>
          <a:xfrm>
            <a:off x="10030968"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Fr</a:t>
            </a:r>
            <a:endParaRPr lang="en-US" sz="1100" dirty="0"/>
          </a:p>
        </p:txBody>
      </p:sp>
      <p:sp>
        <p:nvSpPr>
          <p:cNvPr id="11" name="Text 9"/>
          <p:cNvSpPr txBox="1"/>
          <p:nvPr/>
        </p:nvSpPr>
        <p:spPr>
          <a:xfrm>
            <a:off x="10607040"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Sa</a:t>
            </a:r>
            <a:endParaRPr lang="en-US" sz="1100" dirty="0"/>
          </a:p>
        </p:txBody>
      </p:sp>
      <p:sp>
        <p:nvSpPr>
          <p:cNvPr id="12" name="Text 10"/>
          <p:cNvSpPr txBox="1"/>
          <p:nvPr/>
        </p:nvSpPr>
        <p:spPr>
          <a:xfrm>
            <a:off x="11183112" y="1572768"/>
            <a:ext cx="457200" cy="256032"/>
          </a:xfrm>
          <a:prstGeom prst="rect">
            <a:avLst/>
          </a:prstGeom>
          <a:noFill/>
          <a:ln/>
        </p:spPr>
        <p:txBody>
          <a:bodyPr wrap="square" lIns="0" tIns="0" rIns="0" bIns="0" rtlCol="0" anchor="t"/>
          <a:lstStyle/>
          <a:p>
            <a:pPr marL="0" indent="0" algn="ctr">
              <a:buNone/>
            </a:pPr>
            <a:r>
              <a:rPr lang="en-US" sz="1100" b="1" dirty="0">
                <a:solidFill>
                  <a:srgbClr val="C9C3FF"/>
                </a:solidFill>
                <a:latin typeface="Calibri" pitchFamily="34" charset="0"/>
                <a:ea typeface="Calibri" pitchFamily="34" charset="-122"/>
                <a:cs typeface="Calibri" pitchFamily="34" charset="-120"/>
              </a:rPr>
              <a:t>So</a:t>
            </a:r>
            <a:endParaRPr lang="en-US" sz="1100" dirty="0"/>
          </a:p>
        </p:txBody>
      </p:sp>
      <p:sp>
        <p:nvSpPr>
          <p:cNvPr id="13" name="Shape 11"/>
          <p:cNvSpPr/>
          <p:nvPr/>
        </p:nvSpPr>
        <p:spPr>
          <a:xfrm>
            <a:off x="7726680" y="1920240"/>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14" name="Shape 12"/>
          <p:cNvSpPr/>
          <p:nvPr/>
        </p:nvSpPr>
        <p:spPr>
          <a:xfrm>
            <a:off x="8302752" y="1920240"/>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15" name="Shape 13"/>
          <p:cNvSpPr/>
          <p:nvPr/>
        </p:nvSpPr>
        <p:spPr>
          <a:xfrm>
            <a:off x="8878824" y="1920240"/>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16" name="Shape 14"/>
          <p:cNvSpPr/>
          <p:nvPr/>
        </p:nvSpPr>
        <p:spPr>
          <a:xfrm>
            <a:off x="9454896" y="1920240"/>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17" name="Shape 15"/>
          <p:cNvSpPr/>
          <p:nvPr/>
        </p:nvSpPr>
        <p:spPr>
          <a:xfrm>
            <a:off x="10030968" y="1920240"/>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18" name="Shape 16"/>
          <p:cNvSpPr/>
          <p:nvPr/>
        </p:nvSpPr>
        <p:spPr>
          <a:xfrm>
            <a:off x="10607040" y="1920240"/>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19" name="Shape 17"/>
          <p:cNvSpPr/>
          <p:nvPr/>
        </p:nvSpPr>
        <p:spPr>
          <a:xfrm>
            <a:off x="11183112" y="1920240"/>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20" name="Shape 18"/>
          <p:cNvSpPr/>
          <p:nvPr/>
        </p:nvSpPr>
        <p:spPr>
          <a:xfrm>
            <a:off x="7726680" y="2496312"/>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21" name="Shape 19"/>
          <p:cNvSpPr/>
          <p:nvPr/>
        </p:nvSpPr>
        <p:spPr>
          <a:xfrm>
            <a:off x="8302752" y="2496312"/>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22" name="Shape 20"/>
          <p:cNvSpPr/>
          <p:nvPr/>
        </p:nvSpPr>
        <p:spPr>
          <a:xfrm>
            <a:off x="8878824" y="2496312"/>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23" name="Shape 21"/>
          <p:cNvSpPr/>
          <p:nvPr/>
        </p:nvSpPr>
        <p:spPr>
          <a:xfrm>
            <a:off x="9454896" y="2496312"/>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24" name="Shape 22"/>
          <p:cNvSpPr/>
          <p:nvPr/>
        </p:nvSpPr>
        <p:spPr>
          <a:xfrm>
            <a:off x="10030968" y="2496312"/>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25" name="Shape 23"/>
          <p:cNvSpPr/>
          <p:nvPr/>
        </p:nvSpPr>
        <p:spPr>
          <a:xfrm>
            <a:off x="10607040" y="2496312"/>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26" name="Shape 24"/>
          <p:cNvSpPr/>
          <p:nvPr/>
        </p:nvSpPr>
        <p:spPr>
          <a:xfrm>
            <a:off x="11183112" y="2496312"/>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27" name="Shape 25"/>
          <p:cNvSpPr/>
          <p:nvPr/>
        </p:nvSpPr>
        <p:spPr>
          <a:xfrm>
            <a:off x="7726680" y="3072384"/>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28" name="Shape 26"/>
          <p:cNvSpPr/>
          <p:nvPr/>
        </p:nvSpPr>
        <p:spPr>
          <a:xfrm>
            <a:off x="8302752" y="3072384"/>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29" name="Shape 27"/>
          <p:cNvSpPr/>
          <p:nvPr/>
        </p:nvSpPr>
        <p:spPr>
          <a:xfrm>
            <a:off x="8878824" y="3072384"/>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30" name="Shape 28"/>
          <p:cNvSpPr/>
          <p:nvPr/>
        </p:nvSpPr>
        <p:spPr>
          <a:xfrm>
            <a:off x="9454896" y="3072384"/>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31" name="Shape 29"/>
          <p:cNvSpPr/>
          <p:nvPr/>
        </p:nvSpPr>
        <p:spPr>
          <a:xfrm>
            <a:off x="10030968" y="3072384"/>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32" name="Shape 30"/>
          <p:cNvSpPr/>
          <p:nvPr/>
        </p:nvSpPr>
        <p:spPr>
          <a:xfrm>
            <a:off x="10607040" y="3072384"/>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33" name="Shape 31"/>
          <p:cNvSpPr/>
          <p:nvPr/>
        </p:nvSpPr>
        <p:spPr>
          <a:xfrm>
            <a:off x="11183112" y="3072384"/>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34" name="Shape 32"/>
          <p:cNvSpPr/>
          <p:nvPr/>
        </p:nvSpPr>
        <p:spPr>
          <a:xfrm>
            <a:off x="7726680" y="3648456"/>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35" name="Shape 33"/>
          <p:cNvSpPr/>
          <p:nvPr/>
        </p:nvSpPr>
        <p:spPr>
          <a:xfrm>
            <a:off x="8302752" y="3648456"/>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36" name="Shape 34"/>
          <p:cNvSpPr/>
          <p:nvPr/>
        </p:nvSpPr>
        <p:spPr>
          <a:xfrm>
            <a:off x="8878824" y="3648456"/>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37" name="Shape 35"/>
          <p:cNvSpPr/>
          <p:nvPr/>
        </p:nvSpPr>
        <p:spPr>
          <a:xfrm>
            <a:off x="9454896" y="3648456"/>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38" name="Shape 36"/>
          <p:cNvSpPr/>
          <p:nvPr/>
        </p:nvSpPr>
        <p:spPr>
          <a:xfrm>
            <a:off x="10030968" y="3648456"/>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39" name="Shape 37"/>
          <p:cNvSpPr/>
          <p:nvPr/>
        </p:nvSpPr>
        <p:spPr>
          <a:xfrm>
            <a:off x="10607040" y="3648456"/>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40" name="Shape 38"/>
          <p:cNvSpPr/>
          <p:nvPr/>
        </p:nvSpPr>
        <p:spPr>
          <a:xfrm>
            <a:off x="11183112" y="3648456"/>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41" name="Shape 39"/>
          <p:cNvSpPr/>
          <p:nvPr/>
        </p:nvSpPr>
        <p:spPr>
          <a:xfrm>
            <a:off x="7726680" y="4224528"/>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42" name="Shape 40"/>
          <p:cNvSpPr/>
          <p:nvPr/>
        </p:nvSpPr>
        <p:spPr>
          <a:xfrm>
            <a:off x="8302752" y="4224528"/>
            <a:ext cx="457200" cy="457200"/>
          </a:xfrm>
          <a:prstGeom prst="roundRect">
            <a:avLst>
              <a:gd name="adj" fmla="val 16000"/>
            </a:avLst>
          </a:prstGeom>
          <a:solidFill>
            <a:srgbClr val="6C4FF0"/>
          </a:solidFill>
          <a:ln w="12700">
            <a:solidFill>
              <a:srgbClr val="6C4FF0"/>
            </a:solidFill>
            <a:prstDash val="solid"/>
          </a:ln>
        </p:spPr>
        <p:txBody>
          <a:bodyPr/>
          <a:lstStyle/>
          <a:p>
            <a:endParaRPr lang="de-IN"/>
          </a:p>
        </p:txBody>
      </p:sp>
      <p:sp>
        <p:nvSpPr>
          <p:cNvPr id="43" name="Shape 41"/>
          <p:cNvSpPr/>
          <p:nvPr/>
        </p:nvSpPr>
        <p:spPr>
          <a:xfrm>
            <a:off x="8878824" y="4224528"/>
            <a:ext cx="457200" cy="457200"/>
          </a:xfrm>
          <a:prstGeom prst="roundRect">
            <a:avLst>
              <a:gd name="adj" fmla="val 16000"/>
            </a:avLst>
          </a:prstGeom>
          <a:solidFill>
            <a:srgbClr val="F2A92A"/>
          </a:solidFill>
          <a:ln w="12700">
            <a:solidFill>
              <a:srgbClr val="F2A92A"/>
            </a:solidFill>
            <a:prstDash val="solid"/>
          </a:ln>
        </p:spPr>
        <p:txBody>
          <a:bodyPr/>
          <a:lstStyle/>
          <a:p>
            <a:endParaRPr lang="de-IN"/>
          </a:p>
        </p:txBody>
      </p:sp>
      <p:sp>
        <p:nvSpPr>
          <p:cNvPr id="44" name="Shape 42"/>
          <p:cNvSpPr/>
          <p:nvPr/>
        </p:nvSpPr>
        <p:spPr>
          <a:xfrm>
            <a:off x="9454896" y="4224528"/>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
        <p:nvSpPr>
          <p:cNvPr id="45" name="Shape 43"/>
          <p:cNvSpPr/>
          <p:nvPr/>
        </p:nvSpPr>
        <p:spPr>
          <a:xfrm>
            <a:off x="10030968" y="4224528"/>
            <a:ext cx="457200" cy="457200"/>
          </a:xfrm>
          <a:prstGeom prst="roundRect">
            <a:avLst>
              <a:gd name="adj" fmla="val 16000"/>
            </a:avLst>
          </a:prstGeom>
          <a:solidFill>
            <a:srgbClr val="12A596"/>
          </a:solidFill>
          <a:ln w="12700">
            <a:solidFill>
              <a:srgbClr val="12A596"/>
            </a:solidFill>
            <a:prstDash val="solid"/>
          </a:ln>
        </p:spPr>
        <p:txBody>
          <a:bodyPr/>
          <a:lstStyle/>
          <a:p>
            <a:endParaRPr lang="de-IN"/>
          </a:p>
        </p:txBody>
      </p:sp>
      <p:sp>
        <p:nvSpPr>
          <p:cNvPr id="46" name="Shape 44"/>
          <p:cNvSpPr/>
          <p:nvPr/>
        </p:nvSpPr>
        <p:spPr>
          <a:xfrm>
            <a:off x="10607040" y="4224528"/>
            <a:ext cx="457200" cy="457200"/>
          </a:xfrm>
          <a:prstGeom prst="roundRect">
            <a:avLst>
              <a:gd name="adj" fmla="val 16000"/>
            </a:avLst>
          </a:prstGeom>
          <a:solidFill>
            <a:srgbClr val="E8524F"/>
          </a:solidFill>
          <a:ln w="12700">
            <a:solidFill>
              <a:srgbClr val="E8524F"/>
            </a:solidFill>
            <a:prstDash val="solid"/>
          </a:ln>
        </p:spPr>
        <p:txBody>
          <a:bodyPr/>
          <a:lstStyle/>
          <a:p>
            <a:endParaRPr lang="de-IN"/>
          </a:p>
        </p:txBody>
      </p:sp>
      <p:sp>
        <p:nvSpPr>
          <p:cNvPr id="47" name="Shape 45"/>
          <p:cNvSpPr/>
          <p:nvPr/>
        </p:nvSpPr>
        <p:spPr>
          <a:xfrm>
            <a:off x="11183112" y="4224528"/>
            <a:ext cx="457200" cy="457200"/>
          </a:xfrm>
          <a:prstGeom prst="roundRect">
            <a:avLst>
              <a:gd name="adj" fmla="val 16000"/>
            </a:avLst>
          </a:prstGeom>
          <a:solidFill>
            <a:srgbClr val="2E2866"/>
          </a:solidFill>
          <a:ln w="12700">
            <a:solidFill>
              <a:srgbClr val="2E2866"/>
            </a:solidFill>
            <a:prstDash val="solid"/>
          </a:ln>
        </p:spPr>
        <p:txBody>
          <a:bodyPr/>
          <a:lstStyle/>
          <a:p>
            <a:endParaRPr lang="de-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4277</Words>
  <Application>Microsoft Macintosh PowerPoint</Application>
  <PresentationFormat>Breitbild</PresentationFormat>
  <Paragraphs>526</Paragraphs>
  <Slides>22</Slides>
  <Notes>22</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22</vt:i4>
      </vt:variant>
    </vt:vector>
  </HeadingPairs>
  <TitlesOfParts>
    <vt:vector size="25"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Hochschule Flensburg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ShiftPlanner – Präsentation 1: Idee &amp; Team</dc:title>
  <dc:subject>PptxGenJS Presentation</dc:subject>
  <dc:creator>Muhammed Asif Shahul Hameed, Mahdi Fazeli, Bennet Schalow, Anil Duth</dc:creator>
  <cp:lastModifiedBy>Muhammed Asif  Shahul Hameed</cp:lastModifiedBy>
  <cp:revision>2</cp:revision>
  <dcterms:created xsi:type="dcterms:W3CDTF">2026-09-28T13:16:56Z</dcterms:created>
  <dcterms:modified xsi:type="dcterms:W3CDTF">2026-09-28T13:52:16Z</dcterms:modified>
</cp:coreProperties>
</file>